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Lst>
  <p:notesMasterIdLst>
    <p:notesMasterId r:id="rId9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d62b44a8-af6c-6313-d6a3-310017e8ef12}">
          <p14:sldIdLst>
            <p14:sldId id="256"/>
          </p14:sldIdLst>
        </p14:section>
        <p14:section name="Bloque 1 · Fundamentos moleculares y ómicos" id="{613d275b-65c3-2fea-dc99-cc4f732c3bfa}">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Lst>
        </p14:section>
        <p14:section name="Bloque 2 · Casos clínicos y diagnóstico nutrigenético" id="{7d0180e9-87b6-b2f9-2f78-bd3ec626b29a}">
          <p14:sldIdLst>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Lst>
        </p14:section>
        <p14:section name="Bloque 3 · Bioinformática, PCR in silico e interpretación de geles" id="{739a060c-4103-3b59-a2b0-e8cce0a3014e}">
          <p14:sldIdLst>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Lst>
        </p14:section>
        <p14:section name="Bloque 4 · Cálculo químico-enzimático, capacidad antioxidante y troubleshooting" id="{615d0a07-b706-d395-24ee-c07dd71c2a9a}">
          <p14:sldIdLst>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Lst>
        </p14:section>
        <p14:section name="Cierre" id="{48440958-a6a7-4992-e72f-e34ead68f32e}">
          <p14:sldIdLst>
            <p14:sldId id="34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notesMaster" Target="notesMasters/notesMaster1.xml"/><Relationship Id="rId97" Type="http://schemas.openxmlformats.org/officeDocument/2006/relationships/presProps" Target="presProps.xml"/><Relationship Id="rId98" Type="http://schemas.openxmlformats.org/officeDocument/2006/relationships/viewProps" Target="viewProps.xml"/><Relationship Id="rId99" Type="http://schemas.openxmlformats.org/officeDocument/2006/relationships/theme" Target="theme/theme1.xml"/><Relationship Id="rId10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Dinámica sugerida: muestra cada pregunta, da 1–2 minutos para que respondan y después pasa a la diapositiva de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metabolómica. La pregunta es sobre moléculas pequeñas circulantes a muy corto plazo; la metabolómica las mide directamente y es la capa más cercana al fenotipo y a la dieta.
Por qué no las demás:
• Genómica: el DNA del voluntario no cambia en 2 horas; describe el potencial, no la respuesta aguda.
• Transcriptómica: mide RNA mensajero, un paso intermedio; un cambio de transcritos no informa la concentración de metabolitos.
• Epigenómica: la metilación cambia en escalas más largas y tampoco cuantifica metabolitos.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regulación epigenética de la transcripción. La metilación de CpG en promotores reduce el acceso de la maquinaria transcripcional sin alterar la secuencia. El efecto aparece como menos mRNA y menos proteína.
Por qué no las demás:
• «Mutación adquirida»: la secuencia de LCT no cambia; la metilación es una marca química sobre la citosina.
• «Cambio postraduccional»: actuaría sobre la proteína ya formada; aquí lo que baja es el mRNA.
• «Cambio en el código genético»: el código es universal; la lectura del mRNA no es el paso afectado.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puede tener efecto, aunque casi siempre es neutro. «Sinónimo» describe solo el efecto sobre el aminoácido. El mRNA sí cambia, y eso puede afectar procesamiento o traducción.
Por qué no las demás:
• «No hay efecto posible»: confunde la secuencia proteica con todo lo que hace el mRNA.
• «Es un nonsense»: nonsense significa crear un codón de paro; CTA codifica leucina.
• «Cambia el marco de lectura»: una sustitución de una base no corre el marco; eso lo hacen los indels que no son múltiplos 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nonsense con pérdida de función. TAG es codón de paro. Un paro en el codón 120 de 450 elimina casi toda la proteína y suele activar el decaimiento del mRNA mediado por nonsense (NMD).
Por qué no las demás:
• «Mismo efecto»: el codón es el mismo, pero el cambio resultante es distinto (missense vs. nonsense).
• «His es más grave»: un missense puede ser grave o neutro según el sitio; no hay base para suponerlo peor que perder la proteína.
• «TAG codifica glutamina»: TAG es uno de los tres codones de paro.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la de 1 nt es frameshift; la de 3 nt es in-frame. El ribosoma lee de 3 en 3; quitar un número de bases que no es múltiplo de 3 desplaza la lectura.
Por qué no las demás:
• «Ambas corren el marco»: 3 nt es un codón completo.
• «Al revés»: invierte la regla del múltiplo de 3.
• «Solo en intrones»: los indels pueden ocurrir en cualquier región; en exones tienen el mayor efecto.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CNV con efecto de dosis. Más copias del gen → más transcripción total → más enzima. Es un ejemplo clásico de variación estructural relacionada con la dieta.
Por qué no las demás:
• «SNP missense»: un SNP cambia una base; aquí lo que varía es cuántas copias del gen hay.
• «Indel frameshift»: un frameshift anularía la proteína, no la aumentaría.
• «Mutación somática por comer almidón»: la dieta no crea copias génicas en el individuo; la diferencia es heredada y poblacional.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variabilidad interindividual. El promedio oculta subgrupos con respuestas muy distintas; la nutrigenética busca qué variantes explican parte de esa heterogeneidad.
Por qué no las demás:
• «Error de medición»: puede contribuir, pero una dispersión sistemática en subgrupos es justamente lo que define respondedores.
• «El promedio describe a todos»: es la falacia que este concepto corrige.
• «No absorben colesterol»: es una sobreinterpretación; la respuesta depende de absorción, síntesis endógena y depuración de LDL.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tres SNPs missense en un mismo haplotipo. Pro-Ala-Val en las posiciones 49, 262 y 296 (PAV) da un receptor sensible; Ala-Val-Ile (AVI) da un receptor con muy baja sensibilidad a tioureas como PTC y PROP.
Por qué no las demás:
• «Dos genes»: es un mismo gen con alelos distintos.
• «Deleción/inserción»: son sustituciones de una base.
• «AVI catador»: es al revés; AVI es el haplotipo no catador.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quimiosensores que liberan hormonas intestinales. La señal no es una percepción consciente: activa vías endocrinas y vagales hacia el sistema nervioso central.
Por qué no las demás:
• «Saborear de forma consciente»: la percepción consciente del sabor ocurre en la lengua y la corteza gustativa.
• «Degradan los compuestos»: los receptores detectan, no metabolizan.
• «Solo roedores»: hay evidencia de T2R extraorales en humanos (intestino, vía aérea).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gran efecto codificante frente a variante regulatoria común. En PKU la pérdida de función de la fenilalanina hidroxilasa es casi determinante; en lactasa, la variante cambia cuándo y cuánto se expresa una enzima normal.
Por qué no las demás:
• «Ambas poligénicas»: PKU es el modelo de enfermedad monogénica.
• «Al revés»: invierte el tipo de variante de cada caso.
• «La dieta no influye»: en ambos casos la dieta es central (restricción de Phe en PKU; consumo de lactosa en hipolactasia).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potenciador regulatorio a distancia. Un intrón de un gen vecino puede contener elementos que regulan a otro gen; por eso el «gen asignado» en una base de datos no siempre es el gen efector.
Por qué no las demás:
• «Cambia un aminoácido de MCM6»: los intrones no se traducen.
• «Cambia un aminoácido de la lactasa»: la variante no está en LCT y la enzima es la misma; cambia su cantidad.
• «Elimina MCM6»: es un SNP, no una deleción del 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son tres niveles distintos: enzima, absorción y síntomas. Una persona puede tener hipolactasia y malabsorción sin síntomas (sin intolerancia), según la dosis de lactosa y su microbiota.
Por qué no las demás:
• «Sinónimos»: confundirlos lleva a diagnósticos erróneos.
• «Intolerancia = causa genética»: la genética explica la hipolactasia; la intolerancia es clínica.
• «Alergia a la proteína»: la alergia a proteínas de leche es inmunológica y distinta de la hipolactasia.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missense termolábil con interacción gen–folato. El efecto del genotipo depende del estado de folato (y de riboflavina, precursora del FAD que usa MTHFR).
Por qué no las demás:
• «Nonsense»: no crea codón de paro.
• «Sinónima»: cambia alanina por valina.
• «Aumenta la actividad»: la reduce.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asociación real pero de efecto pequeño. Es la variante común de mayor efecto descrita para IMC, pero explica una fracción mínima de la varianza y su efecto se modifica con la actividad física.
Por qué no las demás:
• «Obesidad con certeza»: es un factor de riesgo probabilístico.
• «Nonsense»: está en un intrón y actúa por mecanismos regulatorios.
• «La mayor parte de la variación»: el IMC es poligénico y muy influido por el ambiente.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acumulación de acetaldehído por pérdida de función dominante negativa. Basta una copia de ALDH2*2 para reducir mucho la actividad, porque las subunidades mutantes contaminan el tetrámero.
Por qué no las demás:
• «Se acumula etanol»: el paso afectado es acetaldehído → acetato, después de ADH.
• «Alergia»: no es un mecanismo inmunológico.
• «Más ALDH2»: es al revés; la actividad baja.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intervención conductual y culinaria informada por el genotipo. El genotipo explica una mayor sensibilidad, no una imposibilidad; la aceptación de alimentos se modifica con exposición y preparación.
Por qué no las demás:
• «No hay nada que hacer»: el genotipo es un factor, no un destino.
• «Suplemento de PROP»: no existe evidencia de desensibilización así, y PROP es un compuesto de prueba.
• «Alergia»: rechazo por sabor no es una reacción inmunológica.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variación normal de un receptor olfatorio. La percepción del sabor de las hierbas depende mucho del olfato; el cilantro contiene aldehídos con notas jabonosas que algunas personas perciben con más intensidad.
Por qué no las demás:
• «Enfermedad»: es variación común, no patología.
• «Forzarlo»: no hay beneficio nutricional que lo justifique.
• «Contiene detergente»: son aldehídos naturales de la planta.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distinguir producción de percepción. Es una buena lección de diseño: una sola observación («no huelo nada») tiene dos explicaciones posibles, y un experimento simple las separa.
Por qué no las demás:
• «No produce»: posible, pero no es la única explicación; podría producirlos y no percibirlos.
• «Mismo fenotipo por ser hermanos»: comparten en promedio la mitad de las variantes.
• «Insuficiencia renal»: es un fenómeno común y benigno.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moderar la dosis según el metabolismo. CYP1A2 hace la mayor parte del metabolismo de la cafeína; la variante condiciona cuánto tiempo está expuesto el organismo a la misma dosis.
Por qué no las demás:
• «Igual para todos»: ignora la variabilidad farmacocinética documentada.
• «Aumentar el café»: el beneficio descrito con café se observa sobre todo en metabolizadores rápidos.
• «Suspender de inmediato, genotipo patogénico»: es una variante común, no una enfermedad; la recomendación es de moderación.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el rubor es la alarma, no el problema. Quitar la señal (por adaptación o fármacos) no elimina la exposición al acetaldehído en la mucosa.
Por qué no las demás:
• «La tolerancia elimina el riesgo»: el acetaldehído sigue acumulándose.
• «La protege»: el efecto aversivo puede reducir el consumo, pero si bebe, su riesgo es mayor.
• «Antihistamínicos»: enmascaran la señal y facilitan beber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interacción APOE × alcohol sobre LDL. El mismo hábito puede asociarse con efectos opuestos según el genotipo; por eso la recomendación individual considera ambos.
Por qué no las demás:
• «Baja el LDL en todos»: es justamente lo que la interacción contradice.
• «Solo al alcohol»: beben lo mismo; la diferencia sugiere el genotipo (y otros factores).
• «Estatinas sin estilo de vida»: el genotipo no sustituye la evaluación clínica ni elimina la intervención dietaria.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son correctas: FTO aumenta el riesgo de forma modesta; la actividad física lo atenúa, y los metaanálisis no muestran peor respuesta a la pérdida de peso en portadores del alelo A.
Por qué no las demás: no hay evidencia sólida de que una dieta «para FTO» sea superior a una dieta saludable estándar; y ser TT no elimina el riesgo, porque el IMC es poligénico y ambiental.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son correctas: Clasificar respondedores exige separar la respuesta real del ruido de medición; APOE es uno de los moduladores conocidos.
Por qué no las demás: los familiares comparten solo parte de las variantes y del ambiente; y tanto la hiper como la hiporrespuesta tienen componentes genéticos.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modelo. a) Genotipo C/C y G/G de no persistencia → hipolactasia del adulto (probable); la prueba de H₂ positiva demuestra malabsorción; los síntomas durante la prueba confirman intolerancia. b) Los alelos −13910T y −22018A, en un potenciador del intrón 13 de MCM6, mantienen la transcripción de LCT en el adulto; con C/C y G/G la expresión de lactasa declina tras el destete, y en el epitelio se acumula metilación del promotor de LCT que refuerza el silenciamiento. La enzima es normal; cambia su cantidad. c) El queso madurado tiene muy poca lactosa (queda en el suero y se fermenta) y el yogur tiene bacterias con β-galactosidasa que la hidrolizan parcialmente, además de vaciamiento gástrico más lento. d) No eliminar todos los lácteos: fraccionar la lactosa (dosis pequeñas con comidas), usar productos deslactosados, yogur y quesos madurados, o lactasa exógena; vigilar el aporte de calcio y vitamina D. e) El genotipo indica la predisposición, no los síntomas; hay personas C/C sin intolerancia con dosis habituales, y otras variantes de persistencia en poblaciones no europeas no se detectan con −13910; además los síntomas podrían tener otras causas (por eso se descartó celiaquía).
Rúbrica (6 pts): 1.5 terminología correcta de los tres niveles; 1.5 mecanismo regulatorio y epigenético; 1 explicación de la tolerancia a fermentados; 1 manejo con vigilancia de calcio/vitamina D; 1 limitación del genotipo.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modelo. a) CYP1A2 A/C: portador del alelo C, metabolismo de cafeína más lento que A/A; con presión limítrofe conviene moderar el café. APOE ε3/ε4: mayor LDL y mayor respuesta del LDL a grasa y colesterol dietarios; además, en ε4 el alcohol se asocia con LDL más alto. ALDH2*1/*1: oxida el acetaldehído con normalidad; no tiene rubor que lo «avise». FTO A/T: un alelo de riesgo, efecto modesto y atenuable con actividad física. MTHFR C/C: sin la variante termolábil; no requiere medidas específicas. b) 1) Reducir el alcohol: actúa sobre LDL (interacción con ε4), presión, peso y riesgo de cáncer. 2) Actividad física regular y patrón dietario con menos grasa saturada: baja LDL (relevante en ε4), atenúa el efecto de FTO y ayuda a la presión. 3) Bajar a 1–2 tazas de café: menor exposición a cafeína dada su metabolización más lenta y su presión limítrofe. c) Sin la variante, el acetaldehído no se acumula de forma aguda, pero el etanol sigue siendo tóxico (hígado, presión, cáncer, LDL en ε4) y la falta de rubor puede facilitar beber más. d) Las variantes explican una fracción pequeña del riesgo y casi todas provienen de asociaciones (GWAS), no de pruebas de causalidad individual; la evidencia de que dietas guiadas por genotipo sean superiores a una dieta saludable estándar es limitada; y los reportes suelen no considerar la ascendencia de la persona.
Rúbrica (6 pts): 2 interpretación correcta de los cinco genotipos; 2 priorización con mecanismo; 1 argumento sobre ALDH2 normal; 1 dos limitaciones pertinentes.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GCC (Ala) → GTC (Val), cambio en la segunda base del codón: missense. Es la variante C677T: alanina 222 por valina, que vuelve termolábil a la enzima.
Por qué no las demás:
• «Primera posición, Ala→Ser»: la primera base (G) no cambió; Ser sería TCC o AGC.
• «Sinónimo»: GTC codifica valina, no alanina.
• «Nonsense»: GTC no es codón de paro (TAA, TAG, TGA).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Clave: c.6T&gt;C: GCT→GCC, ambos Ala (sinónima). c.9G&gt;A: TGG→TGA, paro (nonsense). c.14A&gt;T: GAA→GTA, Glu→Val (missense). c.17delT: se pierde 1 nt de CTG y se corre el marco desde el codón 6. c.10_12delCAG: se pierde el codón 4 completo (Gln) sin correr el marco.
Distractores: Ala→Pro requeriría CCT; Trp tiene un solo codón (TGG), así que no hay cambio sinónimo posible; Glu→Asp requeriría GAT o GAC; una CNV es un cambio en el número de copias de un segmento grande, no la pérdida de 3 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Clave: 1 = +/+ (solo 731); 2 = +/− (731 y 416); 3 = −/− (solo 416); 4 = sin banda en una muestra: falla de extracción o de PCR, no se asigna genotipo; 5 = −/− con dímeros de cebador (artefacto de &lt; 100 pb que no corresponde a ningún alelo); 6 = control sin DNA limpio. El distractor no tiene sentido: en un locus hay a lo sumo un sitio de inserción por cromosoma, y el gel solo muestra dos tamaños posibles.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Alelos + = 2 × 12 + 10 = 34 de 60 alelos → p = 34/60 = 0.57. Con Hardy–Weinberg se esperarían 2pq × 30 ≈ 14.7 heterocigotos y se observaron 10: hay un déficit que con n = 30 puede ser azar, pero que también podría indicar heterocigotos mal leídos (amplificación preferencial del alelo corto).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Clave: 94–95 °C (desnaturalización) → alineamiento unos grados bajo la Tm de los cebadores → 72 °C, temperatura óptima de la Taq, que sintetiza 5′→3′. Si el alineamiento es demasiado bajo aparecen productos inespecíficos y dímeros; si es demasiado alto, el cebador no se une y no hay producto.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Clave: las sales de guanidina deshidratan el DNA y rompen la capa de agua de la sílice, y el etanol favorece la unión; el lavado etanólico quita sales y proteínas sin despegar el DNA; el dry spin elimina el etanol, que inhibe la polimerasa y evita que el DNA se rehidrate; un buffer de baja fuerza iónica a pH ligeramente básico rehidrata el DNA y lo libera.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arrastre de guanidina. Una relación 260/280 cercana a 1.8 indica poca proteína; la relación 260/230 muy baja señala sales caotrópicas u otros compuestos que absorben a 230 nm y que inhiben la polimerasa.
Por qué no las demás:
• «Proteínas»: bajarían la relación 260/280 (por debajo de ~1.7). Fenol-cloroformo, además, añade el riesgo de arrastrar fenol (absorbe ~270 nm).
• «RNA»: subiría la relación 260/280 hacia ~2.0 y no explica el 260/230 bajo.
• «Demasiado puro»: no existe ese problema; los valores indican contaminación.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riesgo de amplificación inespecífica. UCSC exige coincidencia casi perfecta y puede no reportar sitios con desapareamientos; Primer-BLAST evalúa la especificidad contra todo el genoma permitiendo algunos desapareamientos.
Por qué no las demás:
• «Primer-BLAST se equivoca»: las herramientas son complementarias; UCSC no está diseñada para buscar todos los sitios parecidos.
• «Es el alelo variante»: un SNP no se ubica en otro cromosoma; ambos alelos se amplifican en el mismo locus.
• «Solo con mRNA»: Primer-BLAST permite elegir el genoma de referencia como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gen asignado ≠ gen efector, y asociación ≠ causalidad. El umbral de significancia genómica es p &lt; 5 × 10⁻⁸; un p muy pequeño indica alta certeza estadística (por tamaños de muestra enormes), no un efecto grande ni un mecanismo.
Por qué no las demás:
• «Gen asignado = gen del fenotipo»: es el error que la variante de lactasa ilustra mejor.
• «p pequeño = efecto grande»: el p depende también del tamaño de muestra; el efecto se lee en el OR o beta.
• «Solo missense»: la mayoría de las variantes de GWAS son no codificantes.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muestra corregida = 0.512 − 0.037 = 0.475. % = (0.950 − 0.475)/0.950 × 100 = 50.0 %. Sin restar el blanco saldría 46.1 %: las antocianinas absorben cerca de 517 nm y harían parecer al extracto menos activo.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corregidos: 10 → 24.0; 20 → 39.0; 40 → 58.0; 80 → 77.0. El 50 % está entre 20 y 40 µg/mL. IC50 = 20 + (50 − 39.0)/(58.0 − 39.0) × 20 = 31.6 µg/mL. Sin restar el blanco se obtendría ≈ 35.4 µg/mL: el error sobreestima la IC50 y subestima la potencia.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 = (0.597 − 0.008)/0.0031 = 190 µM en la dilución. 2) × 10 = 1,900 µM = 1.90 µmol/mL en el extracto. 3) 1.90 × 10 mL = 19 µmol en 0.5 g → 38 µmol TE/g. En FRAP la absorbancia sube con más poder reductor.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U/mL = 0.0436/43.6 × 1000 × (3.0/0.05) = 0.001 × 1000 × 60 = 60 U/mL. Actividad específica = 60/3.0 = 20 U/mg.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15 µL la inhibición es (0.090 − 0.054)/0.090 = 40 %, pero las unidades salen del volumen que da 50 %: 1 U en 0.025 mL = 40 U/mL; 40/4.0 = 10 U/mg. No se escala el 40 % proporcionalmente porque la relación no es lineal.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interferencia de pigmentos. Es el mismo problema de las antocianinas: el color propio del extracto se lee como si fuera DPPH• sin reaccionar.
Por qué no las demás:
• «Genera DPPH•»: el radical solo viene del reactivo; un extracto no lo crea.
• «DPPH degradado»: bajaría la absorbancia del control, no subiría la de la muestra.
• «IC50 negativa»: una concentración no puede ser negativa; el resultado es un artefacto.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degradación fotoquímica del DPPH. El control es el denominador del cálculo; si cambia durante la sesión, todas las inhibiciones calculadas con un control viejo quedan mal.
Por qué no las demás:
• «No se usa»: es el término Acontrol de la fórmula.
• «Usar el de las 9:00»: precisamente introduce el sesgo.
• «Metanol contaminado»: es mucho menos probable que la luz, con el frasco destapado junto a la ventana.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fuera del intervalo lineal del espectrofotómetro. Por encima de ~1 de absorbancia la lectura pierde linealidad; además el plástico común absorbe a 240 nm.
Por qué no las demás:
• «Más sensible»: a esas absorbancias la relación con la concentración ya no es lineal.
• «La catalasa ya actúa»: aún no se agregó muestra.
• «Más H₂O₂»: subiría todavía más la absorbancia.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 menor IC50 = mayor potencia en el ensayo. La IC50 es una concentración: cuanto menos extracto se necesita, más activo es.
Por qué no las demás:
• «B porque es mayor»: es el error más frecuente; invierte la lógica.
• «C porque no se pudo medir»: no alcanzar 50 % indica menor actividad en ese intervalo.
• «Mejor para el organismo»: DPPH es un ensayo químico in vitro; no considera absorción ni metabolismo.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clase. Da tiempo para responder (o votar a mano alzada) antes de pasar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son correctas: SOD alta con catalasa baja es un desbalance: cambia una especie reactiva (O₂•⁻) por otra (H₂O₂) que no se elimina; las TBARS confirman daño lipídico.
Por qué no las demás: una enzima elevada puede indicar más estrés, no mejor salud; y una TAC alta explicada por urato no es evidencia de efecto antioxidante.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0515600" cy="1645920"/>
          </a:xfrm>
          <a:prstGeom prst="rect">
            <a:avLst/>
          </a:prstGeom>
          <a:noFill/>
          <a:ln/>
        </p:spPr>
        <p:txBody>
          <a:bodyPr wrap="square" rtlCol="0"/>
          <a:lstStyle>
            <a:lvl1pPr indent="0" marL="0">
              <a:buNone/>
              <a:defRPr lang="en-US" sz="4400" b="1" dirty="0">
                <a:solidFill>
                  <a:schemeClr val="bg1"/>
                </a:solidFill>
                <a:latin typeface="Cambria" pitchFamily="34" charset="0"/>
                <a:ea typeface="Cambria" pitchFamily="34" charset="-122"/>
                <a:cs typeface="Cambria" pitchFamily="34" charset="-120"/>
              </a:defRPr>
            </a:lvl1pPr>
          </a:lstStyle>
          <a:p>
            <a:pPr indent="0" marL="0">
              <a:buNone/>
            </a:pPr>
            <a:endParaRPr lang="en-US" sz="4400" dirty="0"/>
          </a:p>
        </p:txBody>
      </p:sp>
      <p:sp>
        <p:nvSpPr>
          <p:cNvPr id="3" name="Text 0"/>
          <p:cNvSpPr/>
          <p:nvPr>
            <p:ph idx="101" type="body" hasCustomPrompt="1"/>
          </p:nvPr>
        </p:nvSpPr>
        <p:spPr>
          <a:xfrm>
            <a:off x="548640" y="3840480"/>
            <a:ext cx="10515600" cy="12801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SO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7680960" cy="146304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548640" y="3108960"/>
            <a:ext cx="7315200" cy="27432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REGUNTA">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Preexamen · Del Genoma Crudo a la Clínica</a:t>
            </a:r>
            <a:endParaRPr lang="en-US" sz="1000" dirty="0"/>
          </a:p>
        </p:txBody>
      </p:sp>
      <p:sp>
        <p:nvSpPr>
          <p:cNvPr id="3" name="Text 1"/>
          <p:cNvSpPr/>
          <p:nvPr>
            <p:ph idx="101" type="title" hasCustomPrompt="1"/>
          </p:nvPr>
        </p:nvSpPr>
        <p:spPr>
          <a:xfrm>
            <a:off x="548640" y="502920"/>
            <a:ext cx="9692640" cy="68580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RESPUESTA">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Preexamen · Del Genoma Crudo a la Clínica</a:t>
            </a:r>
            <a:endParaRPr lang="en-US" sz="1000" dirty="0"/>
          </a:p>
        </p:txBody>
      </p:sp>
      <p:sp>
        <p:nvSpPr>
          <p:cNvPr id="3" name="Text 1"/>
          <p:cNvSpPr/>
          <p:nvPr>
            <p:ph idx="101" type="title" hasCustomPrompt="1"/>
          </p:nvPr>
        </p:nvSpPr>
        <p:spPr>
          <a:xfrm>
            <a:off x="548640" y="502920"/>
            <a:ext cx="9692640" cy="68580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5.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5.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5.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5.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5.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5.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5.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5.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5.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5.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5.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5.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5.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5.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5.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5.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5.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5.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5.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5.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5.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slideLayout" Target="../slideLayouts/slideLayout5.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5.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5.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5.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5.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5.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3.png"/><Relationship Id="rId4" Type="http://schemas.openxmlformats.org/officeDocument/2006/relationships/slideLayout" Target="../slideLayouts/slideLayout5.xml"/><Relationship Id="rId5"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slideLayout" Target="../slideLayouts/slideLayout5.xml"/><Relationship Id="rId5"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slideLayout" Target="../slideLayouts/slideLayout5.xml"/><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slideLayout" Target="../slideLayouts/slideLayout5.xm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5.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5.xm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slideLayout" Target="../slideLayouts/slideLayout5.xm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png"/><Relationship Id="rId3" Type="http://schemas.openxmlformats.org/officeDocument/2006/relationships/slideLayout" Target="../slideLayouts/slideLayout5.xml"/><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image" Target="../media/image-85-2.png"/><Relationship Id="rId3" Type="http://schemas.openxmlformats.org/officeDocument/2006/relationships/image" Target="../media/image-85-3.png"/><Relationship Id="rId4" Type="http://schemas.openxmlformats.org/officeDocument/2006/relationships/slideLayout" Target="../slideLayouts/slideLayout5.xml"/><Relationship Id="rId5"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image" Target="../media/image-87-3.png"/><Relationship Id="rId4" Type="http://schemas.openxmlformats.org/officeDocument/2006/relationships/slideLayout" Target="../slideLayouts/slideLayout5.xml"/><Relationship Id="rId5"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image" Target="../media/image-89-2.png"/><Relationship Id="rId3" Type="http://schemas.openxmlformats.org/officeDocument/2006/relationships/image" Target="../media/image-89-3.png"/><Relationship Id="rId4" Type="http://schemas.openxmlformats.org/officeDocument/2006/relationships/slideLayout" Target="../slideLayouts/slideLayout5.xml"/><Relationship Id="rId5"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image" Target="../media/image-91-2.png"/><Relationship Id="rId3" Type="http://schemas.openxmlformats.org/officeDocument/2006/relationships/image" Target="../media/image-91-3.png"/><Relationship Id="rId4" Type="http://schemas.openxmlformats.org/officeDocument/2006/relationships/slideLayout" Target="../slideLayouts/slideLayout5.xml"/><Relationship Id="rId5"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image" Target="../media/image-93-2.png"/><Relationship Id="rId3" Type="http://schemas.openxmlformats.org/officeDocument/2006/relationships/slideLayout" Target="../slideLayouts/slideLayout5.xm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0515600" cy="1645920"/>
          </a:xfrm>
          <a:prstGeom prst="rect">
            <a:avLst/>
          </a:prstGeom>
          <a:noFill/>
          <a:ln/>
        </p:spPr>
        <p:txBody>
          <a:bodyPr wrap="square" rtlCol="0" anchor="b"/>
          <a:lstStyle/>
          <a:p>
            <a:pPr indent="0" marL="0">
              <a:buNone/>
            </a:pPr>
            <a:r>
              <a:rPr lang="en-US" sz="4400" b="1" dirty="0">
                <a:solidFill>
                  <a:schemeClr val="bg1"/>
                </a:solidFill>
                <a:latin typeface="Cambria" pitchFamily="34" charset="0"/>
                <a:ea typeface="Cambria" pitchFamily="34" charset="-122"/>
                <a:cs typeface="Cambria" pitchFamily="34" charset="-120"/>
              </a:rPr>
              <a:t>Revisión del preexamen</a:t>
            </a:r>
            <a:endParaRPr lang="en-US" sz="4400" dirty="0"/>
          </a:p>
          <a:p>
            <a:pPr indent="0" marL="0">
              <a:buNone/>
            </a:pPr>
            <a:r>
              <a:rPr lang="en-US" sz="4400" b="1" dirty="0">
                <a:solidFill>
                  <a:schemeClr val="bg1"/>
                </a:solidFill>
                <a:latin typeface="Cambria" pitchFamily="34" charset="0"/>
                <a:ea typeface="Cambria" pitchFamily="34" charset="-122"/>
                <a:cs typeface="Cambria" pitchFamily="34" charset="-120"/>
              </a:rPr>
              <a:t>Del Genoma Crudo a la Clínica</a:t>
            </a:r>
            <a:endParaRPr lang="en-US" sz="4400" dirty="0"/>
          </a:p>
        </p:txBody>
      </p:sp>
      <p:sp>
        <p:nvSpPr>
          <p:cNvPr id="3" name="Text 0"/>
          <p:cNvSpPr/>
          <p:nvPr>
            <p:ph idx="101" type="body" hasCustomPrompt="1"/>
          </p:nvPr>
        </p:nvSpPr>
        <p:spPr>
          <a:xfrm>
            <a:off x="548640" y="3840480"/>
            <a:ext cx="10515600" cy="1280160"/>
          </a:xfrm>
          <a:prstGeom prst="rect">
            <a:avLst/>
          </a:prstGeom>
          <a:noFill/>
          <a:ln/>
        </p:spPr>
        <p:txBody>
          <a:bodyPr wrap="square" rtlCol="0" anchor="t"/>
          <a:lstStyle/>
          <a:p>
            <a:pPr indent="0" marL="0">
              <a:buNone/>
            </a:pPr>
            <a:r>
              <a:rPr lang="en-US" sz="2000" dirty="0">
                <a:solidFill>
                  <a:schemeClr val="bg2"/>
                </a:solidFill>
              </a:rPr>
              <a:t>Respuestas explicadas · 44 reactivos · 100 puntos</a:t>
            </a:r>
            <a:endParaRPr lang="en-US" sz="2000" dirty="0"/>
          </a:p>
          <a:p>
            <a:pPr indent="0" marL="0">
              <a:buNone/>
            </a:pPr>
            <a:r>
              <a:rPr lang="en-US" sz="2000" dirty="0">
                <a:solidFill>
                  <a:schemeClr val="bg2"/>
                </a:solidFill>
              </a:rPr>
              <a:t>Nutrición Molecular</a:t>
            </a:r>
            <a:endParaRPr lang="en-US" sz="2000" dirty="0"/>
          </a:p>
        </p:txBody>
      </p:sp>
      <p:sp>
        <p:nvSpPr>
          <p:cNvPr id="4" name="circulo portada"/>
          <p:cNvSpPr/>
          <p:nvPr/>
        </p:nvSpPr>
        <p:spPr>
          <a:xfrm>
            <a:off x="9326880" y="731520"/>
            <a:ext cx="2194560" cy="2194560"/>
          </a:xfrm>
          <a:prstGeom prst="ellipse">
            <a:avLst/>
          </a:prstGeom>
          <a:solidFill>
            <a:schemeClr val="accent1"/>
          </a:solidFill>
          <a:ln w="12700">
            <a:solidFill>
              <a:schemeClr val="accent1"/>
            </a:solidFill>
            <a:prstDash val="solid"/>
          </a:ln>
        </p:spPr>
      </p:sp>
      <p:pic>
        <p:nvPicPr>
          <p:cNvPr id="5" name="Image 0" descr="DNA">    </p:cNvPr>
          <p:cNvPicPr>
            <a:picLocks noChangeAspect="1"/>
          </p:cNvPicPr>
          <p:nvPr/>
        </p:nvPicPr>
        <p:blipFill>
          <a:blip r:embed="rId1"/>
          <a:stretch>
            <a:fillRect/>
          </a:stretch>
        </p:blipFill>
        <p:spPr>
          <a:xfrm>
            <a:off x="9921240" y="1325880"/>
            <a:ext cx="1005840" cy="1005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7680960" cy="1463040"/>
          </a:xfrm>
          <a:prstGeom prst="rect">
            <a:avLst/>
          </a:prstGeom>
          <a:noFill/>
          <a:ln/>
        </p:spPr>
        <p:txBody>
          <a:bodyPr wrap="square" rtlCol="0" anchor="b"/>
          <a:lstStyle/>
          <a:p>
            <a:pPr indent="0" marL="0">
              <a:buNone/>
            </a:pPr>
            <a:r>
              <a:rPr lang="en-US" sz="4000" b="1" dirty="0">
                <a:solidFill>
                  <a:schemeClr val="bg1"/>
                </a:solidFill>
                <a:latin typeface="Cambria" pitchFamily="34" charset="0"/>
                <a:ea typeface="Cambria" pitchFamily="34" charset="-122"/>
                <a:cs typeface="Cambria" pitchFamily="34" charset="-120"/>
              </a:rPr>
              <a:t>Bloque 1</a:t>
            </a:r>
            <a:endParaRPr lang="en-US" sz="4000" dirty="0"/>
          </a:p>
          <a:p>
            <a:pPr indent="0" marL="0">
              <a:buNone/>
            </a:pPr>
            <a:r>
              <a:rPr lang="en-US" sz="4000" b="1" dirty="0">
                <a:solidFill>
                  <a:schemeClr val="bg1"/>
                </a:solidFill>
                <a:latin typeface="Cambria" pitchFamily="34" charset="0"/>
                <a:ea typeface="Cambria" pitchFamily="34" charset="-122"/>
                <a:cs typeface="Cambria" pitchFamily="34" charset="-120"/>
              </a:rPr>
              <a:t>Fundamentos moleculares y ómicos</a:t>
            </a:r>
            <a:endParaRPr lang="en-US" sz="4000" dirty="0"/>
          </a:p>
        </p:txBody>
      </p:sp>
      <p:sp>
        <p:nvSpPr>
          <p:cNvPr id="3" name="Text 0"/>
          <p:cNvSpPr/>
          <p:nvPr>
            <p:ph idx="101" type="body" hasCustomPrompt="1"/>
          </p:nvPr>
        </p:nvSpPr>
        <p:spPr>
          <a:xfrm>
            <a:off x="548640" y="3108960"/>
            <a:ext cx="7315200" cy="2743200"/>
          </a:xfrm>
          <a:prstGeom prst="rect">
            <a:avLst/>
          </a:prstGeom>
          <a:noFill/>
          <a:ln/>
        </p:spPr>
        <p:txBody>
          <a:bodyPr wrap="square" rtlCol="0" anchor="t"/>
          <a:lstStyle/>
          <a:p>
            <a:pPr indent="0" marL="0">
              <a:buNone/>
            </a:pPr>
            <a:r>
              <a:rPr lang="en-US" sz="1800" dirty="0">
                <a:solidFill>
                  <a:schemeClr val="bg2"/>
                </a:solidFill>
              </a:rPr>
              <a:t>Ómicas y dogma central · SNP, indels y CNV · Respuesta interindividual · TAS2R38 · PKU frente a lactasa · MTHFR · FTO · ALDH2</a:t>
            </a:r>
            <a:endParaRPr lang="en-US" sz="1800" dirty="0"/>
          </a:p>
        </p:txBody>
      </p:sp>
      <p:sp>
        <p:nvSpPr>
          <p:cNvPr id="4" name="circulo bloque"/>
          <p:cNvSpPr/>
          <p:nvPr/>
        </p:nvSpPr>
        <p:spPr>
          <a:xfrm>
            <a:off x="8732520" y="1600200"/>
            <a:ext cx="2651760" cy="2651760"/>
          </a:xfrm>
          <a:prstGeom prst="ellipse">
            <a:avLst/>
          </a:prstGeom>
          <a:solidFill>
            <a:schemeClr val="accent1"/>
          </a:solidFill>
          <a:ln w="12700">
            <a:solidFill>
              <a:schemeClr val="accent1"/>
            </a:solidFill>
            <a:prstDash val="solid"/>
          </a:ln>
        </p:spPr>
      </p:sp>
      <p:pic>
        <p:nvPicPr>
          <p:cNvPr id="5" name="Image 0" descr="Fundamentos moleculares y ómicos">    </p:cNvPr>
          <p:cNvPicPr>
            <a:picLocks noChangeAspect="1"/>
          </p:cNvPicPr>
          <p:nvPr/>
        </p:nvPicPr>
        <p:blipFill>
          <a:blip r:embed="rId1"/>
          <a:stretch>
            <a:fillRect/>
          </a:stretch>
        </p:blipFill>
        <p:spPr>
          <a:xfrm>
            <a:off x="9464040" y="2331720"/>
            <a:ext cx="1188720" cy="1188720"/>
          </a:xfrm>
          <a:prstGeom prst="rect">
            <a:avLst/>
          </a:prstGeom>
        </p:spPr>
      </p:pic>
      <p:sp>
        <p:nvSpPr>
          <p:cNvPr id="6" name="peso"/>
          <p:cNvSpPr txBox="1"/>
          <p:nvPr/>
        </p:nvSpPr>
        <p:spPr>
          <a:xfrm>
            <a:off x="8458200" y="4434840"/>
            <a:ext cx="3200400" cy="1097280"/>
          </a:xfrm>
          <a:prstGeom prst="rect">
            <a:avLst/>
          </a:prstGeom>
          <a:noFill/>
          <a:ln/>
        </p:spPr>
        <p:txBody>
          <a:bodyPr wrap="square" lIns="0" tIns="0" rIns="0" bIns="0" rtlCol="0" anchor="t"/>
          <a:lstStyle/>
          <a:p>
            <a:pPr algn="ctr" indent="0" marL="0">
              <a:buNone/>
            </a:pPr>
            <a:r>
              <a:rPr lang="en-US" sz="4000" b="1" dirty="0">
                <a:solidFill>
                  <a:schemeClr val="bg1"/>
                </a:solidFill>
              </a:rPr>
              <a:t>30 %</a:t>
            </a:r>
            <a:endParaRPr lang="en-US" sz="4000" dirty="0"/>
          </a:p>
          <a:p>
            <a:pPr algn="ctr" indent="0" marL="0">
              <a:buNone/>
            </a:pPr>
            <a:r>
              <a:rPr lang="en-US" sz="1600" dirty="0">
                <a:solidFill>
                  <a:schemeClr val="bg1"/>
                </a:solidFill>
              </a:rPr>
              <a:t>15 reactivos</a:t>
            </a:r>
            <a:endParaRPr lang="en-US" sz="4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B1-1 · ¿Qué capa ómica responde la pregunta?</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1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978408"/>
          </a:xfrm>
          <a:prstGeom prst="rect">
            <a:avLst/>
          </a:prstGeom>
          <a:noFill/>
          <a:ln/>
        </p:spPr>
        <p:txBody>
          <a:bodyPr wrap="square" lIns="254" tIns="254" rIns="254" bIns="254" rtlCol="0" anchor="t"/>
          <a:lstStyle/>
          <a:p>
            <a:pPr indent="0" marL="0">
              <a:buNone/>
            </a:pPr>
            <a:r>
              <a:rPr lang="en-US" sz="2000" dirty="0">
                <a:solidFill>
                  <a:schemeClr val="tx1"/>
                </a:solidFill>
              </a:rPr>
              <a:t>Un equipo quiere saber si un yogur fermentado cambia, a las 2 horas de consumirlo, las concentraciones plasmáticas de ácidos grasos de cadena corta, aminoácidos y ácidos biliares. ¿Qué enfoque responde de forma más directa esa pregunta?</a:t>
            </a:r>
            <a:endParaRPr lang="en-US" sz="2000" dirty="0"/>
          </a:p>
        </p:txBody>
      </p:sp>
      <p:sp>
        <p:nvSpPr>
          <p:cNvPr id="6" name="circulo"/>
          <p:cNvSpPr/>
          <p:nvPr/>
        </p:nvSpPr>
        <p:spPr>
          <a:xfrm>
            <a:off x="548640" y="25146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5146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4963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Genómica del voluntario (secuenciación de su DNA).</a:t>
            </a:r>
            <a:endParaRPr lang="en-US" sz="1900" dirty="0"/>
          </a:p>
        </p:txBody>
      </p:sp>
      <p:sp>
        <p:nvSpPr>
          <p:cNvPr id="9" name="circulo"/>
          <p:cNvSpPr/>
          <p:nvPr/>
        </p:nvSpPr>
        <p:spPr>
          <a:xfrm>
            <a:off x="548640" y="30266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30266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3008376"/>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Metabolómica plasmática (LC-MS o RMN).</a:t>
            </a:r>
            <a:endParaRPr lang="en-US" sz="1900" dirty="0"/>
          </a:p>
        </p:txBody>
      </p:sp>
      <p:sp>
        <p:nvSpPr>
          <p:cNvPr id="12" name="circulo"/>
          <p:cNvSpPr/>
          <p:nvPr/>
        </p:nvSpPr>
        <p:spPr>
          <a:xfrm>
            <a:off x="548640" y="3538728"/>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53872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520440"/>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Transcriptómica de leucocitos (RNA-seq).</a:t>
            </a:r>
            <a:endParaRPr lang="en-US" sz="1900" dirty="0"/>
          </a:p>
        </p:txBody>
      </p:sp>
      <p:sp>
        <p:nvSpPr>
          <p:cNvPr id="15" name="circulo"/>
          <p:cNvSpPr/>
          <p:nvPr/>
        </p:nvSpPr>
        <p:spPr>
          <a:xfrm>
            <a:off x="548640" y="4050792"/>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40507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4032504"/>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Epigenómica de leucocitos (metilación de CpG).</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B1-1 · ¿Qué capa ómica responde la pregunta?</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1 · Respuesta</a:t>
            </a:r>
            <a:endParaRPr lang="en-US" sz="1100" dirty="0"/>
          </a:p>
        </p:txBody>
      </p:sp>
      <p:sp>
        <p:nvSpPr>
          <p:cNvPr id="4" name="caja respuesta"/>
          <p:cNvSpPr/>
          <p:nvPr/>
        </p:nvSpPr>
        <p:spPr>
          <a:xfrm>
            <a:off x="548640" y="1371600"/>
            <a:ext cx="11094415" cy="685800"/>
          </a:xfrm>
          <a:prstGeom prst="roundRect">
            <a:avLst>
              <a:gd name="adj" fmla="val 16000"/>
            </a:avLst>
          </a:prstGeom>
          <a:solidFill>
            <a:schemeClr val="bg1"/>
          </a:solidFill>
          <a:ln w="19050">
            <a:solidFill>
              <a:schemeClr val="accent1"/>
            </a:solidFill>
            <a:prstDash val="solid"/>
          </a:ln>
        </p:spPr>
      </p:sp>
      <p:sp>
        <p:nvSpPr>
          <p:cNvPr id="5" name="circulo check"/>
          <p:cNvSpPr/>
          <p:nvPr/>
        </p:nvSpPr>
        <p:spPr>
          <a:xfrm>
            <a:off x="749808" y="148590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595628"/>
            <a:ext cx="237744" cy="237744"/>
          </a:xfrm>
          <a:prstGeom prst="rect">
            <a:avLst/>
          </a:prstGeom>
        </p:spPr>
      </p:pic>
      <p:sp>
        <p:nvSpPr>
          <p:cNvPr id="7" name="respuesta"/>
          <p:cNvSpPr txBox="1"/>
          <p:nvPr/>
        </p:nvSpPr>
        <p:spPr>
          <a:xfrm>
            <a:off x="1371600" y="1444752"/>
            <a:ext cx="10180015" cy="539496"/>
          </a:xfrm>
          <a:prstGeom prst="rect">
            <a:avLst/>
          </a:prstGeom>
          <a:noFill/>
          <a:ln/>
        </p:spPr>
        <p:txBody>
          <a:bodyPr wrap="square" lIns="254" tIns="254" rIns="254" bIns="254" rtlCol="0" anchor="ctr"/>
          <a:lstStyle/>
          <a:p>
            <a:pPr indent="0" marL="0">
              <a:buNone/>
            </a:pPr>
            <a:r>
              <a:rPr lang="en-US" sz="1600" b="1" dirty="0">
                <a:solidFill>
                  <a:schemeClr val="tx1"/>
                </a:solidFill>
              </a:rPr>
              <a:t>B)  </a:t>
            </a:r>
            <a:pPr indent="0" marL="0">
              <a:buNone/>
            </a:pPr>
            <a:r>
              <a:rPr lang="en-US" sz="1600" dirty="0">
                <a:solidFill>
                  <a:schemeClr val="tx1"/>
                </a:solidFill>
              </a:rPr>
              <a:t>Metabolómica plasmática (LC-MS o RMN).</a:t>
            </a:r>
            <a:endParaRPr lang="en-US" sz="1600" dirty="0"/>
          </a:p>
        </p:txBody>
      </p:sp>
      <p:sp>
        <p:nvSpPr>
          <p:cNvPr id="8" name="circulo icono"/>
          <p:cNvSpPr/>
          <p:nvPr/>
        </p:nvSpPr>
        <p:spPr>
          <a:xfrm>
            <a:off x="548640" y="228600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368296"/>
            <a:ext cx="164592" cy="164592"/>
          </a:xfrm>
          <a:prstGeom prst="rect">
            <a:avLst/>
          </a:prstGeom>
        </p:spPr>
      </p:pic>
      <p:sp>
        <p:nvSpPr>
          <p:cNvPr id="10" name="subtitulo"/>
          <p:cNvSpPr txBox="1"/>
          <p:nvPr/>
        </p:nvSpPr>
        <p:spPr>
          <a:xfrm>
            <a:off x="987552" y="22860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2743200"/>
            <a:ext cx="5364328" cy="1222248"/>
          </a:xfrm>
          <a:prstGeom prst="rect">
            <a:avLst/>
          </a:prstGeom>
          <a:noFill/>
          <a:ln/>
        </p:spPr>
        <p:txBody>
          <a:bodyPr wrap="square" lIns="254" tIns="254" rIns="254" bIns="254" rtlCol="0" anchor="t"/>
          <a:lstStyle/>
          <a:p>
            <a:pPr indent="0" marL="0">
              <a:buNone/>
            </a:pPr>
            <a:r>
              <a:rPr lang="en-US" sz="1900" b="1" dirty="0">
                <a:solidFill>
                  <a:schemeClr val="tx1"/>
                </a:solidFill>
              </a:rPr>
              <a:t>Correcta: metabolómica.</a:t>
            </a:r>
            <a:pPr indent="0" marL="0">
              <a:buNone/>
            </a:pPr>
            <a:r>
              <a:rPr lang="en-US" sz="1900" dirty="0">
                <a:solidFill>
                  <a:schemeClr val="tx1"/>
                </a:solidFill>
              </a:rPr>
              <a:t> La pregunta es sobre moléculas pequeñas circulantes a muy corto plazo; la metabolómica las mide directamente y es la capa más cercana al fenotipo y a la dieta.</a:t>
            </a:r>
            <a:endParaRPr lang="en-US" sz="1900" dirty="0"/>
          </a:p>
        </p:txBody>
      </p:sp>
      <p:sp>
        <p:nvSpPr>
          <p:cNvPr id="12" name="circulo icono"/>
          <p:cNvSpPr/>
          <p:nvPr/>
        </p:nvSpPr>
        <p:spPr>
          <a:xfrm>
            <a:off x="6278728" y="228600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368296"/>
            <a:ext cx="164592" cy="164592"/>
          </a:xfrm>
          <a:prstGeom prst="rect">
            <a:avLst/>
          </a:prstGeom>
        </p:spPr>
      </p:pic>
      <p:sp>
        <p:nvSpPr>
          <p:cNvPr id="14" name="subtitulo"/>
          <p:cNvSpPr txBox="1"/>
          <p:nvPr/>
        </p:nvSpPr>
        <p:spPr>
          <a:xfrm>
            <a:off x="6717640" y="22860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287680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2743200"/>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Genómica: el DNA del voluntario no cambia en 2 horas; describe el potencial, no la respuesta aguda.</a:t>
            </a:r>
            <a:endParaRPr lang="en-US" sz="1900" dirty="0"/>
          </a:p>
        </p:txBody>
      </p:sp>
      <p:sp>
        <p:nvSpPr>
          <p:cNvPr id="17" name="vineta"/>
          <p:cNvSpPr/>
          <p:nvPr/>
        </p:nvSpPr>
        <p:spPr>
          <a:xfrm>
            <a:off x="6333592" y="386435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730752"/>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Transcriptómica: mide RNA mensajero, un paso intermedio; un cambio de transcritos no informa la concentración de metabolitos.</a:t>
            </a:r>
            <a:endParaRPr lang="en-US" sz="1900" dirty="0"/>
          </a:p>
        </p:txBody>
      </p:sp>
      <p:sp>
        <p:nvSpPr>
          <p:cNvPr id="19" name="vineta"/>
          <p:cNvSpPr/>
          <p:nvPr/>
        </p:nvSpPr>
        <p:spPr>
          <a:xfrm>
            <a:off x="6333592" y="485190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718304"/>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Epigenómica: la metilación cambia en escalas más largas y tampoco cuantifica metabolitos.</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B1-2 · Dogma central y regulación</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1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978408"/>
          </a:xfrm>
          <a:prstGeom prst="rect">
            <a:avLst/>
          </a:prstGeom>
          <a:noFill/>
          <a:ln/>
        </p:spPr>
        <p:txBody>
          <a:bodyPr wrap="square" lIns="254" tIns="254" rIns="254" bIns="254" rtlCol="0" anchor="t"/>
          <a:lstStyle/>
          <a:p>
            <a:pPr indent="0" marL="0">
              <a:buNone/>
            </a:pPr>
            <a:r>
              <a:rPr lang="en-US" sz="2000" dirty="0">
                <a:solidFill>
                  <a:schemeClr val="tx1"/>
                </a:solidFill>
              </a:rPr>
              <a:t>En adultos con genotipo de no persistencia de lactasa, el promotor de </a:t>
            </a:r>
            <a:pPr indent="0" marL="0">
              <a:buNone/>
            </a:pPr>
            <a:r>
              <a:rPr lang="en-US" sz="2000" i="1" dirty="0">
                <a:solidFill>
                  <a:schemeClr val="tx1"/>
                </a:solidFill>
              </a:rPr>
              <a:t>LCT</a:t>
            </a:r>
            <a:pPr indent="0" marL="0">
              <a:buNone/>
            </a:pPr>
            <a:r>
              <a:rPr lang="en-US" sz="2000" dirty="0">
                <a:solidFill>
                  <a:schemeClr val="tx1"/>
                </a:solidFill>
              </a:rPr>
              <a:t> en el epitelio intestinal se hipermetila con la edad y baja el mRNA de lactasa. ¿Qué afirmación describe mejor ese fenómeno dentro del dogma central?</a:t>
            </a:r>
            <a:endParaRPr lang="en-US" sz="2000" dirty="0"/>
          </a:p>
        </p:txBody>
      </p:sp>
      <p:sp>
        <p:nvSpPr>
          <p:cNvPr id="6" name="circulo"/>
          <p:cNvSpPr/>
          <p:nvPr/>
        </p:nvSpPr>
        <p:spPr>
          <a:xfrm>
            <a:off x="548640" y="25146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5146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4963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Es un cambio postraduccional de la lactasa que la inactiva.</a:t>
            </a:r>
            <a:endParaRPr lang="en-US" sz="1900" dirty="0"/>
          </a:p>
        </p:txBody>
      </p:sp>
      <p:sp>
        <p:nvSpPr>
          <p:cNvPr id="9" name="circulo"/>
          <p:cNvSpPr/>
          <p:nvPr/>
        </p:nvSpPr>
        <p:spPr>
          <a:xfrm>
            <a:off x="548640" y="30266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30266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3008376"/>
            <a:ext cx="10545775" cy="643128"/>
          </a:xfrm>
          <a:prstGeom prst="rect">
            <a:avLst/>
          </a:prstGeom>
          <a:noFill/>
          <a:ln/>
        </p:spPr>
        <p:txBody>
          <a:bodyPr wrap="square" lIns="254" tIns="254" rIns="254" bIns="254" rtlCol="0" anchor="ctr"/>
          <a:lstStyle/>
          <a:p>
            <a:pPr indent="0" marL="0">
              <a:buNone/>
            </a:pPr>
            <a:r>
              <a:rPr lang="en-US" sz="1900" dirty="0">
                <a:solidFill>
                  <a:schemeClr val="tx1"/>
                </a:solidFill>
              </a:rPr>
              <a:t>Es una regulación epigenética: la secuencia no cambia, pero la metilación del promotor reduce la transcripción (DNA → RNA); se detectaría con epigenómica y transcriptómica.</a:t>
            </a:r>
            <a:endParaRPr lang="en-US" sz="1900" dirty="0"/>
          </a:p>
        </p:txBody>
      </p:sp>
      <p:sp>
        <p:nvSpPr>
          <p:cNvPr id="12" name="circulo"/>
          <p:cNvSpPr/>
          <p:nvPr/>
        </p:nvSpPr>
        <p:spPr>
          <a:xfrm>
            <a:off x="548640" y="3761232"/>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76123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742944"/>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Es un cambio en el código genético que hace que el ribosoma no lea el mRNA de lactasa.</a:t>
            </a:r>
            <a:endParaRPr lang="en-US" sz="1900" dirty="0"/>
          </a:p>
        </p:txBody>
      </p:sp>
      <p:sp>
        <p:nvSpPr>
          <p:cNvPr id="15" name="circulo"/>
          <p:cNvSpPr/>
          <p:nvPr/>
        </p:nvSpPr>
        <p:spPr>
          <a:xfrm>
            <a:off x="548640" y="4273296"/>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427329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4255008"/>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Es una mutación adquirida del gen </a:t>
            </a:r>
            <a:pPr indent="0" marL="0">
              <a:buNone/>
            </a:pPr>
            <a:r>
              <a:rPr lang="en-US" sz="1900" i="1" dirty="0">
                <a:solidFill>
                  <a:schemeClr val="tx1"/>
                </a:solidFill>
              </a:rPr>
              <a:t>LCT</a:t>
            </a:r>
            <a:pPr indent="0" marL="0">
              <a:buNone/>
            </a:pPr>
            <a:r>
              <a:rPr lang="en-US" sz="1900" dirty="0">
                <a:solidFill>
                  <a:schemeClr val="tx1"/>
                </a:solidFill>
              </a:rPr>
              <a:t> que cambia la proteína.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B1-2 · Dogma central y regulación</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1 · Respuesta</a:t>
            </a:r>
            <a:endParaRPr lang="en-US" sz="1100" dirty="0"/>
          </a:p>
        </p:txBody>
      </p:sp>
      <p:sp>
        <p:nvSpPr>
          <p:cNvPr id="4" name="caja respuesta"/>
          <p:cNvSpPr/>
          <p:nvPr/>
        </p:nvSpPr>
        <p:spPr>
          <a:xfrm>
            <a:off x="548640" y="1371600"/>
            <a:ext cx="11094415" cy="762000"/>
          </a:xfrm>
          <a:prstGeom prst="roundRect">
            <a:avLst>
              <a:gd name="adj" fmla="val 14400"/>
            </a:avLst>
          </a:prstGeom>
          <a:solidFill>
            <a:schemeClr val="bg1"/>
          </a:solidFill>
          <a:ln w="19050">
            <a:solidFill>
              <a:schemeClr val="accent1"/>
            </a:solidFill>
            <a:prstDash val="solid"/>
          </a:ln>
        </p:spPr>
      </p:sp>
      <p:sp>
        <p:nvSpPr>
          <p:cNvPr id="5" name="circulo check"/>
          <p:cNvSpPr/>
          <p:nvPr/>
        </p:nvSpPr>
        <p:spPr>
          <a:xfrm>
            <a:off x="749808" y="152400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33728"/>
            <a:ext cx="237744" cy="237744"/>
          </a:xfrm>
          <a:prstGeom prst="rect">
            <a:avLst/>
          </a:prstGeom>
        </p:spPr>
      </p:pic>
      <p:sp>
        <p:nvSpPr>
          <p:cNvPr id="7" name="respuesta"/>
          <p:cNvSpPr txBox="1"/>
          <p:nvPr/>
        </p:nvSpPr>
        <p:spPr>
          <a:xfrm>
            <a:off x="1371600" y="1444752"/>
            <a:ext cx="10180015" cy="615696"/>
          </a:xfrm>
          <a:prstGeom prst="rect">
            <a:avLst/>
          </a:prstGeom>
          <a:noFill/>
          <a:ln/>
        </p:spPr>
        <p:txBody>
          <a:bodyPr wrap="square" lIns="254" tIns="254" rIns="254" bIns="254" rtlCol="0" anchor="ctr"/>
          <a:lstStyle/>
          <a:p>
            <a:pPr indent="0" marL="0">
              <a:buNone/>
            </a:pPr>
            <a:r>
              <a:rPr lang="en-US" sz="1600" b="1" dirty="0">
                <a:solidFill>
                  <a:schemeClr val="tx1"/>
                </a:solidFill>
              </a:rPr>
              <a:t>B)  </a:t>
            </a:r>
            <a:pPr indent="0" marL="0">
              <a:buNone/>
            </a:pPr>
            <a:r>
              <a:rPr lang="en-US" sz="1600" dirty="0">
                <a:solidFill>
                  <a:schemeClr val="tx1"/>
                </a:solidFill>
              </a:rPr>
              <a:t>Es una regulación epigenética: la secuencia no cambia, pero la metilación del promotor reduce la transcripción (DNA → RNA); se detectaría con epigenómica y transcriptómica.</a:t>
            </a:r>
            <a:endParaRPr lang="en-US" sz="1600" dirty="0"/>
          </a:p>
        </p:txBody>
      </p:sp>
      <p:sp>
        <p:nvSpPr>
          <p:cNvPr id="8" name="circulo icono"/>
          <p:cNvSpPr/>
          <p:nvPr/>
        </p:nvSpPr>
        <p:spPr>
          <a:xfrm>
            <a:off x="548640" y="236220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444496"/>
            <a:ext cx="164592" cy="164592"/>
          </a:xfrm>
          <a:prstGeom prst="rect">
            <a:avLst/>
          </a:prstGeom>
        </p:spPr>
      </p:pic>
      <p:sp>
        <p:nvSpPr>
          <p:cNvPr id="10" name="subtitulo"/>
          <p:cNvSpPr txBox="1"/>
          <p:nvPr/>
        </p:nvSpPr>
        <p:spPr>
          <a:xfrm>
            <a:off x="987552"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2819400"/>
            <a:ext cx="5364328" cy="1511808"/>
          </a:xfrm>
          <a:prstGeom prst="rect">
            <a:avLst/>
          </a:prstGeom>
          <a:noFill/>
          <a:ln/>
        </p:spPr>
        <p:txBody>
          <a:bodyPr wrap="square" lIns="254" tIns="254" rIns="254" bIns="254" rtlCol="0" anchor="t"/>
          <a:lstStyle/>
          <a:p>
            <a:pPr indent="0" marL="0">
              <a:buNone/>
            </a:pPr>
            <a:r>
              <a:rPr lang="en-US" sz="1900" b="1" dirty="0">
                <a:solidFill>
                  <a:schemeClr val="tx1"/>
                </a:solidFill>
              </a:rPr>
              <a:t>Correcta: regulación epigenética de la transcripción.</a:t>
            </a:r>
            <a:pPr indent="0" marL="0">
              <a:buNone/>
            </a:pPr>
            <a:r>
              <a:rPr lang="en-US" sz="1900" dirty="0">
                <a:solidFill>
                  <a:schemeClr val="tx1"/>
                </a:solidFill>
              </a:rPr>
              <a:t> La metilación de CpG en promotores reduce el acceso de la maquinaria transcripcional sin alterar la secuencia. El efecto aparece como menos mRNA y menos proteína.</a:t>
            </a:r>
            <a:endParaRPr lang="en-US" sz="1900" dirty="0"/>
          </a:p>
        </p:txBody>
      </p:sp>
      <p:sp>
        <p:nvSpPr>
          <p:cNvPr id="12" name="circulo icono"/>
          <p:cNvSpPr/>
          <p:nvPr/>
        </p:nvSpPr>
        <p:spPr>
          <a:xfrm>
            <a:off x="6278728" y="236220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444496"/>
            <a:ext cx="164592" cy="164592"/>
          </a:xfrm>
          <a:prstGeom prst="rect">
            <a:avLst/>
          </a:prstGeom>
        </p:spPr>
      </p:pic>
      <p:sp>
        <p:nvSpPr>
          <p:cNvPr id="14" name="subtitulo"/>
          <p:cNvSpPr txBox="1"/>
          <p:nvPr/>
        </p:nvSpPr>
        <p:spPr>
          <a:xfrm>
            <a:off x="6717640"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295300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2819400"/>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«Mutación adquirida»: la secuencia de LCT no cambia; la metilación es una marca química sobre la citosina.</a:t>
            </a:r>
            <a:endParaRPr lang="en-US" sz="1900" dirty="0"/>
          </a:p>
        </p:txBody>
      </p:sp>
      <p:sp>
        <p:nvSpPr>
          <p:cNvPr id="17" name="vineta"/>
          <p:cNvSpPr/>
          <p:nvPr/>
        </p:nvSpPr>
        <p:spPr>
          <a:xfrm>
            <a:off x="6333592" y="394055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806952"/>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«Cambio postraduccional»: actuaría sobre la proteína ya formada; aquí lo que baja es el mRNA.</a:t>
            </a:r>
            <a:endParaRPr lang="en-US" sz="1900" dirty="0"/>
          </a:p>
        </p:txBody>
      </p:sp>
      <p:sp>
        <p:nvSpPr>
          <p:cNvPr id="19" name="vineta"/>
          <p:cNvSpPr/>
          <p:nvPr/>
        </p:nvSpPr>
        <p:spPr>
          <a:xfrm>
            <a:off x="6333592" y="492810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794504"/>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«Cambio en el código genético»: el código es universal; la lectura del mRNA no es el paso afectado.</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B1-3 · Un SNP sinónimo</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1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673608"/>
          </a:xfrm>
          <a:prstGeom prst="rect">
            <a:avLst/>
          </a:prstGeom>
          <a:noFill/>
          <a:ln/>
        </p:spPr>
        <p:txBody>
          <a:bodyPr wrap="square" lIns="254" tIns="254" rIns="254" bIns="254" rtlCol="0" anchor="t"/>
          <a:lstStyle/>
          <a:p>
            <a:pPr indent="0" marL="0">
              <a:buNone/>
            </a:pPr>
            <a:r>
              <a:rPr lang="en-US" sz="2000" dirty="0">
                <a:solidFill>
                  <a:schemeClr val="tx1"/>
                </a:solidFill>
              </a:rPr>
              <a:t>Un SNP cambia el codón CTG por CTA; ambos codifican leucina. Un alumno afirma que, por ser sinónimo, «no puede tener ningún efecto biológico». ¿Cuál es la mejor respuesta?</a:t>
            </a:r>
            <a:endParaRPr lang="en-US" sz="2000" dirty="0"/>
          </a:p>
        </p:txBody>
      </p:sp>
      <p:sp>
        <p:nvSpPr>
          <p:cNvPr id="6" name="circulo"/>
          <p:cNvSpPr/>
          <p:nvPr/>
        </p:nvSpPr>
        <p:spPr>
          <a:xfrm>
            <a:off x="548640" y="22098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2098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1915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Tiene razón: si el aminoácido no cambia, la proteína es idéntica y no hay efecto posible.</a:t>
            </a:r>
            <a:endParaRPr lang="en-US" sz="1900" dirty="0"/>
          </a:p>
        </p:txBody>
      </p:sp>
      <p:sp>
        <p:nvSpPr>
          <p:cNvPr id="9" name="circulo"/>
          <p:cNvSpPr/>
          <p:nvPr/>
        </p:nvSpPr>
        <p:spPr>
          <a:xfrm>
            <a:off x="548640" y="27218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27218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2703576"/>
            <a:ext cx="10545775" cy="643128"/>
          </a:xfrm>
          <a:prstGeom prst="rect">
            <a:avLst/>
          </a:prstGeom>
          <a:noFill/>
          <a:ln/>
        </p:spPr>
        <p:txBody>
          <a:bodyPr wrap="square" lIns="254" tIns="254" rIns="254" bIns="254" rtlCol="0" anchor="ctr"/>
          <a:lstStyle/>
          <a:p>
            <a:pPr indent="0" marL="0">
              <a:buNone/>
            </a:pPr>
            <a:r>
              <a:rPr lang="en-US" sz="1900" dirty="0">
                <a:solidFill>
                  <a:schemeClr val="tx1"/>
                </a:solidFill>
              </a:rPr>
              <a:t>No necesariamente: un cambio sinónimo puede alterar sitios de splicing, la estabilidad del mRNA o la velocidad de traducción por uso de codones, aunque la mayoría son neutros.</a:t>
            </a:r>
            <a:endParaRPr lang="en-US" sz="1900" dirty="0"/>
          </a:p>
        </p:txBody>
      </p:sp>
      <p:sp>
        <p:nvSpPr>
          <p:cNvPr id="12" name="circulo"/>
          <p:cNvSpPr/>
          <p:nvPr/>
        </p:nvSpPr>
        <p:spPr>
          <a:xfrm>
            <a:off x="548640" y="3456432"/>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45643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438144"/>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Es incorrecto porque todo SNP sinónimo es en realidad un nonsense.</a:t>
            </a:r>
            <a:endParaRPr lang="en-US" sz="1900" dirty="0"/>
          </a:p>
        </p:txBody>
      </p:sp>
      <p:sp>
        <p:nvSpPr>
          <p:cNvPr id="15" name="circulo"/>
          <p:cNvSpPr/>
          <p:nvPr/>
        </p:nvSpPr>
        <p:spPr>
          <a:xfrm>
            <a:off x="548640" y="3968496"/>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396849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3950208"/>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Un SNP sinónimo siempre cambia la proteína porque modifica el marco de lectura.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B1-3 · Un SNP sinónimo</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1 · Respuesta</a:t>
            </a:r>
            <a:endParaRPr lang="en-US" sz="1100" dirty="0"/>
          </a:p>
        </p:txBody>
      </p:sp>
      <p:sp>
        <p:nvSpPr>
          <p:cNvPr id="4" name="caja respuesta"/>
          <p:cNvSpPr/>
          <p:nvPr/>
        </p:nvSpPr>
        <p:spPr>
          <a:xfrm>
            <a:off x="548640" y="1371600"/>
            <a:ext cx="11094415" cy="762000"/>
          </a:xfrm>
          <a:prstGeom prst="roundRect">
            <a:avLst>
              <a:gd name="adj" fmla="val 14400"/>
            </a:avLst>
          </a:prstGeom>
          <a:solidFill>
            <a:schemeClr val="bg1"/>
          </a:solidFill>
          <a:ln w="19050">
            <a:solidFill>
              <a:schemeClr val="accent1"/>
            </a:solidFill>
            <a:prstDash val="solid"/>
          </a:ln>
        </p:spPr>
      </p:sp>
      <p:sp>
        <p:nvSpPr>
          <p:cNvPr id="5" name="circulo check"/>
          <p:cNvSpPr/>
          <p:nvPr/>
        </p:nvSpPr>
        <p:spPr>
          <a:xfrm>
            <a:off x="749808" y="152400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33728"/>
            <a:ext cx="237744" cy="237744"/>
          </a:xfrm>
          <a:prstGeom prst="rect">
            <a:avLst/>
          </a:prstGeom>
        </p:spPr>
      </p:pic>
      <p:sp>
        <p:nvSpPr>
          <p:cNvPr id="7" name="respuesta"/>
          <p:cNvSpPr txBox="1"/>
          <p:nvPr/>
        </p:nvSpPr>
        <p:spPr>
          <a:xfrm>
            <a:off x="1371600" y="1444752"/>
            <a:ext cx="10180015" cy="615696"/>
          </a:xfrm>
          <a:prstGeom prst="rect">
            <a:avLst/>
          </a:prstGeom>
          <a:noFill/>
          <a:ln/>
        </p:spPr>
        <p:txBody>
          <a:bodyPr wrap="square" lIns="254" tIns="254" rIns="254" bIns="254" rtlCol="0" anchor="ctr"/>
          <a:lstStyle/>
          <a:p>
            <a:pPr indent="0" marL="0">
              <a:buNone/>
            </a:pPr>
            <a:r>
              <a:rPr lang="en-US" sz="1600" b="1" dirty="0">
                <a:solidFill>
                  <a:schemeClr val="tx1"/>
                </a:solidFill>
              </a:rPr>
              <a:t>B)  </a:t>
            </a:r>
            <a:pPr indent="0" marL="0">
              <a:buNone/>
            </a:pPr>
            <a:r>
              <a:rPr lang="en-US" sz="1600" dirty="0">
                <a:solidFill>
                  <a:schemeClr val="tx1"/>
                </a:solidFill>
              </a:rPr>
              <a:t>No necesariamente: un cambio sinónimo puede alterar sitios de splicing, la estabilidad del mRNA o la velocidad de traducción por uso de codones, aunque la mayoría son neutros.</a:t>
            </a:r>
            <a:endParaRPr lang="en-US" sz="1600" dirty="0"/>
          </a:p>
        </p:txBody>
      </p:sp>
      <p:sp>
        <p:nvSpPr>
          <p:cNvPr id="8" name="circulo icono"/>
          <p:cNvSpPr/>
          <p:nvPr/>
        </p:nvSpPr>
        <p:spPr>
          <a:xfrm>
            <a:off x="548640" y="236220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444496"/>
            <a:ext cx="164592" cy="164592"/>
          </a:xfrm>
          <a:prstGeom prst="rect">
            <a:avLst/>
          </a:prstGeom>
        </p:spPr>
      </p:pic>
      <p:sp>
        <p:nvSpPr>
          <p:cNvPr id="10" name="subtitulo"/>
          <p:cNvSpPr txBox="1"/>
          <p:nvPr/>
        </p:nvSpPr>
        <p:spPr>
          <a:xfrm>
            <a:off x="987552"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2819400"/>
            <a:ext cx="5364328" cy="1222248"/>
          </a:xfrm>
          <a:prstGeom prst="rect">
            <a:avLst/>
          </a:prstGeom>
          <a:noFill/>
          <a:ln/>
        </p:spPr>
        <p:txBody>
          <a:bodyPr wrap="square" lIns="254" tIns="254" rIns="254" bIns="254" rtlCol="0" anchor="t"/>
          <a:lstStyle/>
          <a:p>
            <a:pPr indent="0" marL="0">
              <a:buNone/>
            </a:pPr>
            <a:r>
              <a:rPr lang="en-US" sz="1900" b="1" dirty="0">
                <a:solidFill>
                  <a:schemeClr val="tx1"/>
                </a:solidFill>
              </a:rPr>
              <a:t>Correcta: puede tener efecto, aunque casi siempre es neutro.</a:t>
            </a:r>
            <a:pPr indent="0" marL="0">
              <a:buNone/>
            </a:pPr>
            <a:r>
              <a:rPr lang="en-US" sz="1900" dirty="0">
                <a:solidFill>
                  <a:schemeClr val="tx1"/>
                </a:solidFill>
              </a:rPr>
              <a:t> «Sinónimo» describe solo el efecto sobre el aminoácido. El mRNA sí cambia, y eso puede afectar procesamiento o traducción.</a:t>
            </a:r>
            <a:endParaRPr lang="en-US" sz="1900" dirty="0"/>
          </a:p>
        </p:txBody>
      </p:sp>
      <p:sp>
        <p:nvSpPr>
          <p:cNvPr id="12" name="circulo icono"/>
          <p:cNvSpPr/>
          <p:nvPr/>
        </p:nvSpPr>
        <p:spPr>
          <a:xfrm>
            <a:off x="6278728" y="236220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444496"/>
            <a:ext cx="164592" cy="164592"/>
          </a:xfrm>
          <a:prstGeom prst="rect">
            <a:avLst/>
          </a:prstGeom>
        </p:spPr>
      </p:pic>
      <p:sp>
        <p:nvSpPr>
          <p:cNvPr id="14" name="subtitulo"/>
          <p:cNvSpPr txBox="1"/>
          <p:nvPr/>
        </p:nvSpPr>
        <p:spPr>
          <a:xfrm>
            <a:off x="6717640"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295300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2819400"/>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«No hay efecto posible»: confunde la secuencia proteica con todo lo que hace el mRNA.</a:t>
            </a:r>
            <a:endParaRPr lang="en-US" sz="1900" dirty="0"/>
          </a:p>
        </p:txBody>
      </p:sp>
      <p:sp>
        <p:nvSpPr>
          <p:cNvPr id="17" name="vineta"/>
          <p:cNvSpPr/>
          <p:nvPr/>
        </p:nvSpPr>
        <p:spPr>
          <a:xfrm>
            <a:off x="6333592" y="365099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517392"/>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«Es un nonsense»: nonsense significa crear un codón de paro; CTA codifica leucina.</a:t>
            </a:r>
            <a:endParaRPr lang="en-US" sz="1900" dirty="0"/>
          </a:p>
        </p:txBody>
      </p:sp>
      <p:sp>
        <p:nvSpPr>
          <p:cNvPr id="19" name="vineta"/>
          <p:cNvSpPr/>
          <p:nvPr/>
        </p:nvSpPr>
        <p:spPr>
          <a:xfrm>
            <a:off x="6333592" y="434898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215384"/>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«Cambia el marco de lectura»: una sustitución de una base no corre el marco; eso lo hacen los indels que no son múltiplos de 3.</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B1-4 · Nonsense frente a missense</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1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673608"/>
          </a:xfrm>
          <a:prstGeom prst="rect">
            <a:avLst/>
          </a:prstGeom>
          <a:noFill/>
          <a:ln/>
        </p:spPr>
        <p:txBody>
          <a:bodyPr wrap="square" lIns="254" tIns="254" rIns="254" bIns="254" rtlCol="0" anchor="t"/>
          <a:lstStyle/>
          <a:p>
            <a:pPr indent="0" marL="0">
              <a:buNone/>
            </a:pPr>
            <a:r>
              <a:rPr lang="en-US" sz="2000" dirty="0">
                <a:solidFill>
                  <a:schemeClr val="tx1"/>
                </a:solidFill>
              </a:rPr>
              <a:t>Dos pacientes tienen variantes en el codón 120 de una enzima de 450 aminoácidos: el paciente 1 tiene CAG→CAT (Gln→His) y el paciente 2 tiene CAG→TAG. ¿Qué predicción es más razonable?</a:t>
            </a:r>
            <a:endParaRPr lang="en-US" sz="2000" dirty="0"/>
          </a:p>
        </p:txBody>
      </p:sp>
      <p:sp>
        <p:nvSpPr>
          <p:cNvPr id="6" name="circulo"/>
          <p:cNvSpPr/>
          <p:nvPr/>
        </p:nvSpPr>
        <p:spPr>
          <a:xfrm>
            <a:off x="548640" y="22098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2098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1915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La del paciente 2 es sinónima, porque TAG también codifica glutamina.</a:t>
            </a:r>
            <a:endParaRPr lang="en-US" sz="1900" dirty="0"/>
          </a:p>
        </p:txBody>
      </p:sp>
      <p:sp>
        <p:nvSpPr>
          <p:cNvPr id="9" name="circulo"/>
          <p:cNvSpPr/>
          <p:nvPr/>
        </p:nvSpPr>
        <p:spPr>
          <a:xfrm>
            <a:off x="548640" y="27218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27218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2703576"/>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Ambas variantes tienen el mismo efecto porque afectan el mismo codón.</a:t>
            </a:r>
            <a:endParaRPr lang="en-US" sz="1900" dirty="0"/>
          </a:p>
        </p:txBody>
      </p:sp>
      <p:sp>
        <p:nvSpPr>
          <p:cNvPr id="12" name="circulo"/>
          <p:cNvSpPr/>
          <p:nvPr/>
        </p:nvSpPr>
        <p:spPr>
          <a:xfrm>
            <a:off x="548640" y="3233928"/>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23392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215640"/>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La del paciente 1 es más grave porque His tiene carga.</a:t>
            </a:r>
            <a:endParaRPr lang="en-US" sz="1900" dirty="0"/>
          </a:p>
        </p:txBody>
      </p:sp>
      <p:sp>
        <p:nvSpPr>
          <p:cNvPr id="15" name="circulo"/>
          <p:cNvSpPr/>
          <p:nvPr/>
        </p:nvSpPr>
        <p:spPr>
          <a:xfrm>
            <a:off x="548640" y="3745992"/>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37459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3727704"/>
            <a:ext cx="10545775" cy="643128"/>
          </a:xfrm>
          <a:prstGeom prst="rect">
            <a:avLst/>
          </a:prstGeom>
          <a:noFill/>
          <a:ln/>
        </p:spPr>
        <p:txBody>
          <a:bodyPr wrap="square" lIns="254" tIns="254" rIns="254" bIns="254" rtlCol="0" anchor="ctr"/>
          <a:lstStyle/>
          <a:p>
            <a:pPr indent="0" marL="0">
              <a:buNone/>
            </a:pPr>
            <a:r>
              <a:rPr lang="en-US" sz="1900" dirty="0">
                <a:solidFill>
                  <a:schemeClr val="tx1"/>
                </a:solidFill>
              </a:rPr>
              <a:t>La del paciente 2 introduce un codón de paro prematuro; lo esperable es una proteína truncada o un mRNA degradado por NMD, con pérdida de función más grave que el cambio Gln→His.</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B1-4 · Nonsense frente a missense</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1 · Respuesta</a:t>
            </a:r>
            <a:endParaRPr lang="en-US" sz="1100" dirty="0"/>
          </a:p>
        </p:txBody>
      </p:sp>
      <p:sp>
        <p:nvSpPr>
          <p:cNvPr id="4" name="caja respuesta"/>
          <p:cNvSpPr/>
          <p:nvPr/>
        </p:nvSpPr>
        <p:spPr>
          <a:xfrm>
            <a:off x="548640" y="1371600"/>
            <a:ext cx="11094415" cy="762000"/>
          </a:xfrm>
          <a:prstGeom prst="roundRect">
            <a:avLst>
              <a:gd name="adj" fmla="val 14400"/>
            </a:avLst>
          </a:prstGeom>
          <a:solidFill>
            <a:schemeClr val="bg1"/>
          </a:solidFill>
          <a:ln w="19050">
            <a:solidFill>
              <a:schemeClr val="accent1"/>
            </a:solidFill>
            <a:prstDash val="solid"/>
          </a:ln>
        </p:spPr>
      </p:sp>
      <p:sp>
        <p:nvSpPr>
          <p:cNvPr id="5" name="circulo check"/>
          <p:cNvSpPr/>
          <p:nvPr/>
        </p:nvSpPr>
        <p:spPr>
          <a:xfrm>
            <a:off x="749808" y="152400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33728"/>
            <a:ext cx="237744" cy="237744"/>
          </a:xfrm>
          <a:prstGeom prst="rect">
            <a:avLst/>
          </a:prstGeom>
        </p:spPr>
      </p:pic>
      <p:sp>
        <p:nvSpPr>
          <p:cNvPr id="7" name="respuesta"/>
          <p:cNvSpPr txBox="1"/>
          <p:nvPr/>
        </p:nvSpPr>
        <p:spPr>
          <a:xfrm>
            <a:off x="1371600" y="1444752"/>
            <a:ext cx="10180015" cy="615696"/>
          </a:xfrm>
          <a:prstGeom prst="rect">
            <a:avLst/>
          </a:prstGeom>
          <a:noFill/>
          <a:ln/>
        </p:spPr>
        <p:txBody>
          <a:bodyPr wrap="square" lIns="254" tIns="254" rIns="254" bIns="254" rtlCol="0" anchor="ctr"/>
          <a:lstStyle/>
          <a:p>
            <a:pPr indent="0" marL="0">
              <a:buNone/>
            </a:pPr>
            <a:r>
              <a:rPr lang="en-US" sz="1600" b="1" dirty="0">
                <a:solidFill>
                  <a:schemeClr val="tx1"/>
                </a:solidFill>
              </a:rPr>
              <a:t>D)  </a:t>
            </a:r>
            <a:pPr indent="0" marL="0">
              <a:buNone/>
            </a:pPr>
            <a:r>
              <a:rPr lang="en-US" sz="1600" dirty="0">
                <a:solidFill>
                  <a:schemeClr val="tx1"/>
                </a:solidFill>
              </a:rPr>
              <a:t>La del paciente 2 introduce un codón de paro prematuro; lo esperable es una proteína truncada o un mRNA degradado por NMD, con pérdida de función más grave que el cambio Gln→His.</a:t>
            </a:r>
            <a:endParaRPr lang="en-US" sz="1600" dirty="0"/>
          </a:p>
        </p:txBody>
      </p:sp>
      <p:sp>
        <p:nvSpPr>
          <p:cNvPr id="8" name="circulo icono"/>
          <p:cNvSpPr/>
          <p:nvPr/>
        </p:nvSpPr>
        <p:spPr>
          <a:xfrm>
            <a:off x="548640" y="236220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444496"/>
            <a:ext cx="164592" cy="164592"/>
          </a:xfrm>
          <a:prstGeom prst="rect">
            <a:avLst/>
          </a:prstGeom>
        </p:spPr>
      </p:pic>
      <p:sp>
        <p:nvSpPr>
          <p:cNvPr id="10" name="subtitulo"/>
          <p:cNvSpPr txBox="1"/>
          <p:nvPr/>
        </p:nvSpPr>
        <p:spPr>
          <a:xfrm>
            <a:off x="987552"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2819400"/>
            <a:ext cx="5364328" cy="1511808"/>
          </a:xfrm>
          <a:prstGeom prst="rect">
            <a:avLst/>
          </a:prstGeom>
          <a:noFill/>
          <a:ln/>
        </p:spPr>
        <p:txBody>
          <a:bodyPr wrap="square" lIns="254" tIns="254" rIns="254" bIns="254" rtlCol="0" anchor="t"/>
          <a:lstStyle/>
          <a:p>
            <a:pPr indent="0" marL="0">
              <a:buNone/>
            </a:pPr>
            <a:r>
              <a:rPr lang="en-US" sz="1900" b="1" dirty="0">
                <a:solidFill>
                  <a:schemeClr val="tx1"/>
                </a:solidFill>
              </a:rPr>
              <a:t>Correcta: nonsense con pérdida de función.</a:t>
            </a:r>
            <a:pPr indent="0" marL="0">
              <a:buNone/>
            </a:pPr>
            <a:r>
              <a:rPr lang="en-US" sz="1900" dirty="0">
                <a:solidFill>
                  <a:schemeClr val="tx1"/>
                </a:solidFill>
              </a:rPr>
              <a:t> TAG es codón de paro. Un paro en el codón 120 de 450 elimina casi toda la proteína y suele activar el decaimiento del mRNA mediado por nonsense (NMD).</a:t>
            </a:r>
            <a:endParaRPr lang="en-US" sz="1900" dirty="0"/>
          </a:p>
        </p:txBody>
      </p:sp>
      <p:sp>
        <p:nvSpPr>
          <p:cNvPr id="12" name="circulo icono"/>
          <p:cNvSpPr/>
          <p:nvPr/>
        </p:nvSpPr>
        <p:spPr>
          <a:xfrm>
            <a:off x="6278728" y="236220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444496"/>
            <a:ext cx="164592" cy="164592"/>
          </a:xfrm>
          <a:prstGeom prst="rect">
            <a:avLst/>
          </a:prstGeom>
        </p:spPr>
      </p:pic>
      <p:sp>
        <p:nvSpPr>
          <p:cNvPr id="14" name="subtitulo"/>
          <p:cNvSpPr txBox="1"/>
          <p:nvPr/>
        </p:nvSpPr>
        <p:spPr>
          <a:xfrm>
            <a:off x="6717640"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295300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2819400"/>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«Mismo efecto»: el codón es el mismo, pero el cambio resultante es distinto (missense vs. nonsense).</a:t>
            </a:r>
            <a:endParaRPr lang="en-US" sz="1900" dirty="0"/>
          </a:p>
        </p:txBody>
      </p:sp>
      <p:sp>
        <p:nvSpPr>
          <p:cNvPr id="17" name="vineta"/>
          <p:cNvSpPr/>
          <p:nvPr/>
        </p:nvSpPr>
        <p:spPr>
          <a:xfrm>
            <a:off x="6333592" y="394055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806952"/>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«His es más grave»: un missense puede ser grave o neutro según el sitio; no hay base para suponerlo peor que perder la proteína.</a:t>
            </a:r>
            <a:endParaRPr lang="en-US" sz="1900" dirty="0"/>
          </a:p>
        </p:txBody>
      </p:sp>
      <p:sp>
        <p:nvSpPr>
          <p:cNvPr id="19" name="vineta"/>
          <p:cNvSpPr/>
          <p:nvPr/>
        </p:nvSpPr>
        <p:spPr>
          <a:xfrm>
            <a:off x="6333592" y="492810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794504"/>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«TAG codifica glutamina»: TAG es uno de los tres codones de paro.</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B1-5 · Indels y marco de lectura</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1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673608"/>
          </a:xfrm>
          <a:prstGeom prst="rect">
            <a:avLst/>
          </a:prstGeom>
          <a:noFill/>
          <a:ln/>
        </p:spPr>
        <p:txBody>
          <a:bodyPr wrap="square" lIns="254" tIns="254" rIns="254" bIns="254" rtlCol="0" anchor="t"/>
          <a:lstStyle/>
          <a:p>
            <a:pPr indent="0" marL="0">
              <a:buNone/>
            </a:pPr>
            <a:r>
              <a:rPr lang="en-US" sz="2000" dirty="0">
                <a:solidFill>
                  <a:schemeClr val="tx1"/>
                </a:solidFill>
              </a:rPr>
              <a:t>En un exón se encuentran dos deleciones distintas: una de 1 nucleótido y otra de 3 nucleótidos. ¿Qué consecuencia es más probable para cada una?</a:t>
            </a:r>
            <a:endParaRPr lang="en-US" sz="2000" dirty="0"/>
          </a:p>
        </p:txBody>
      </p:sp>
      <p:sp>
        <p:nvSpPr>
          <p:cNvPr id="6" name="circulo"/>
          <p:cNvSpPr/>
          <p:nvPr/>
        </p:nvSpPr>
        <p:spPr>
          <a:xfrm>
            <a:off x="548640" y="22098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2098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1915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Ambas corren el marco de lectura.</a:t>
            </a:r>
            <a:endParaRPr lang="en-US" sz="1900" dirty="0"/>
          </a:p>
        </p:txBody>
      </p:sp>
      <p:sp>
        <p:nvSpPr>
          <p:cNvPr id="9" name="circulo"/>
          <p:cNvSpPr/>
          <p:nvPr/>
        </p:nvSpPr>
        <p:spPr>
          <a:xfrm>
            <a:off x="548640" y="27218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27218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2703576"/>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La de 3 nt corre el marco y la de 1 nt no.</a:t>
            </a:r>
            <a:endParaRPr lang="en-US" sz="1900" dirty="0"/>
          </a:p>
        </p:txBody>
      </p:sp>
      <p:sp>
        <p:nvSpPr>
          <p:cNvPr id="12" name="circulo"/>
          <p:cNvSpPr/>
          <p:nvPr/>
        </p:nvSpPr>
        <p:spPr>
          <a:xfrm>
            <a:off x="548640" y="3233928"/>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23392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215640"/>
            <a:ext cx="10545775" cy="643128"/>
          </a:xfrm>
          <a:prstGeom prst="rect">
            <a:avLst/>
          </a:prstGeom>
          <a:noFill/>
          <a:ln/>
        </p:spPr>
        <p:txBody>
          <a:bodyPr wrap="square" lIns="254" tIns="254" rIns="254" bIns="254" rtlCol="0" anchor="ctr"/>
          <a:lstStyle/>
          <a:p>
            <a:pPr indent="0" marL="0">
              <a:buNone/>
            </a:pPr>
            <a:r>
              <a:rPr lang="en-US" sz="1900" dirty="0">
                <a:solidFill>
                  <a:schemeClr val="tx1"/>
                </a:solidFill>
              </a:rPr>
              <a:t>La de 1 nt corre el marco (cambia todos los aminoácidos siguientes y suele crear un paro prematuro); la de 3 nt elimina un aminoácido sin correr el marco.</a:t>
            </a:r>
            <a:endParaRPr lang="en-US" sz="1900" dirty="0"/>
          </a:p>
        </p:txBody>
      </p:sp>
      <p:sp>
        <p:nvSpPr>
          <p:cNvPr id="15" name="circulo"/>
          <p:cNvSpPr/>
          <p:nvPr/>
        </p:nvSpPr>
        <p:spPr>
          <a:xfrm>
            <a:off x="548640" y="3968496"/>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396849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3950208"/>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Ninguna afecta la proteína porque los indels solo ocurren en intrones.</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B1-5 · Indels y marco de lectura</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1 · Respuesta</a:t>
            </a:r>
            <a:endParaRPr lang="en-US" sz="1100" dirty="0"/>
          </a:p>
        </p:txBody>
      </p:sp>
      <p:sp>
        <p:nvSpPr>
          <p:cNvPr id="4" name="caja respuesta"/>
          <p:cNvSpPr/>
          <p:nvPr/>
        </p:nvSpPr>
        <p:spPr>
          <a:xfrm>
            <a:off x="548640" y="1371600"/>
            <a:ext cx="11094415" cy="762000"/>
          </a:xfrm>
          <a:prstGeom prst="roundRect">
            <a:avLst>
              <a:gd name="adj" fmla="val 14400"/>
            </a:avLst>
          </a:prstGeom>
          <a:solidFill>
            <a:schemeClr val="bg1"/>
          </a:solidFill>
          <a:ln w="19050">
            <a:solidFill>
              <a:schemeClr val="accent1"/>
            </a:solidFill>
            <a:prstDash val="solid"/>
          </a:ln>
        </p:spPr>
      </p:sp>
      <p:sp>
        <p:nvSpPr>
          <p:cNvPr id="5" name="circulo check"/>
          <p:cNvSpPr/>
          <p:nvPr/>
        </p:nvSpPr>
        <p:spPr>
          <a:xfrm>
            <a:off x="749808" y="152400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33728"/>
            <a:ext cx="237744" cy="237744"/>
          </a:xfrm>
          <a:prstGeom prst="rect">
            <a:avLst/>
          </a:prstGeom>
        </p:spPr>
      </p:pic>
      <p:sp>
        <p:nvSpPr>
          <p:cNvPr id="7" name="respuesta"/>
          <p:cNvSpPr txBox="1"/>
          <p:nvPr/>
        </p:nvSpPr>
        <p:spPr>
          <a:xfrm>
            <a:off x="1371600" y="1444752"/>
            <a:ext cx="10180015" cy="615696"/>
          </a:xfrm>
          <a:prstGeom prst="rect">
            <a:avLst/>
          </a:prstGeom>
          <a:noFill/>
          <a:ln/>
        </p:spPr>
        <p:txBody>
          <a:bodyPr wrap="square" lIns="254" tIns="254" rIns="254" bIns="254" rtlCol="0" anchor="ctr"/>
          <a:lstStyle/>
          <a:p>
            <a:pPr indent="0" marL="0">
              <a:buNone/>
            </a:pPr>
            <a:r>
              <a:rPr lang="en-US" sz="1600" b="1" dirty="0">
                <a:solidFill>
                  <a:schemeClr val="tx1"/>
                </a:solidFill>
              </a:rPr>
              <a:t>C)  </a:t>
            </a:r>
            <a:pPr indent="0" marL="0">
              <a:buNone/>
            </a:pPr>
            <a:r>
              <a:rPr lang="en-US" sz="1600" dirty="0">
                <a:solidFill>
                  <a:schemeClr val="tx1"/>
                </a:solidFill>
              </a:rPr>
              <a:t>La de 1 nt corre el marco (cambia todos los aminoácidos siguientes y suele crear un paro prematuro); la de 3 nt elimina un aminoácido sin correr el marco.</a:t>
            </a:r>
            <a:endParaRPr lang="en-US" sz="1600" dirty="0"/>
          </a:p>
        </p:txBody>
      </p:sp>
      <p:sp>
        <p:nvSpPr>
          <p:cNvPr id="8" name="circulo icono"/>
          <p:cNvSpPr/>
          <p:nvPr/>
        </p:nvSpPr>
        <p:spPr>
          <a:xfrm>
            <a:off x="548640" y="236220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444496"/>
            <a:ext cx="164592" cy="164592"/>
          </a:xfrm>
          <a:prstGeom prst="rect">
            <a:avLst/>
          </a:prstGeom>
        </p:spPr>
      </p:pic>
      <p:sp>
        <p:nvSpPr>
          <p:cNvPr id="10" name="subtitulo"/>
          <p:cNvSpPr txBox="1"/>
          <p:nvPr/>
        </p:nvSpPr>
        <p:spPr>
          <a:xfrm>
            <a:off x="987552"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2819400"/>
            <a:ext cx="5364328" cy="1222248"/>
          </a:xfrm>
          <a:prstGeom prst="rect">
            <a:avLst/>
          </a:prstGeom>
          <a:noFill/>
          <a:ln/>
        </p:spPr>
        <p:txBody>
          <a:bodyPr wrap="square" lIns="254" tIns="254" rIns="254" bIns="254" rtlCol="0" anchor="t"/>
          <a:lstStyle/>
          <a:p>
            <a:pPr indent="0" marL="0">
              <a:buNone/>
            </a:pPr>
            <a:r>
              <a:rPr lang="en-US" sz="1900" b="1" dirty="0">
                <a:solidFill>
                  <a:schemeClr val="tx1"/>
                </a:solidFill>
              </a:rPr>
              <a:t>Correcta: la de 1 nt es frameshift; la de 3 nt es in-frame.</a:t>
            </a:r>
            <a:pPr indent="0" marL="0">
              <a:buNone/>
            </a:pPr>
            <a:r>
              <a:rPr lang="en-US" sz="1900" dirty="0">
                <a:solidFill>
                  <a:schemeClr val="tx1"/>
                </a:solidFill>
              </a:rPr>
              <a:t> El ribosoma lee de 3 en 3; quitar un número de bases que no es múltiplo de 3 desplaza la lectura.</a:t>
            </a:r>
            <a:endParaRPr lang="en-US" sz="1900" dirty="0"/>
          </a:p>
        </p:txBody>
      </p:sp>
      <p:sp>
        <p:nvSpPr>
          <p:cNvPr id="12" name="circulo icono"/>
          <p:cNvSpPr/>
          <p:nvPr/>
        </p:nvSpPr>
        <p:spPr>
          <a:xfrm>
            <a:off x="6278728" y="236220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444496"/>
            <a:ext cx="164592" cy="164592"/>
          </a:xfrm>
          <a:prstGeom prst="rect">
            <a:avLst/>
          </a:prstGeom>
        </p:spPr>
      </p:pic>
      <p:sp>
        <p:nvSpPr>
          <p:cNvPr id="14" name="subtitulo"/>
          <p:cNvSpPr txBox="1"/>
          <p:nvPr/>
        </p:nvSpPr>
        <p:spPr>
          <a:xfrm>
            <a:off x="6717640"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295300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2819400"/>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«Ambas corren el marco»: 3 nt es un codón completo.</a:t>
            </a:r>
            <a:endParaRPr lang="en-US" sz="1900" dirty="0"/>
          </a:p>
        </p:txBody>
      </p:sp>
      <p:sp>
        <p:nvSpPr>
          <p:cNvPr id="17" name="vineta"/>
          <p:cNvSpPr/>
          <p:nvPr/>
        </p:nvSpPr>
        <p:spPr>
          <a:xfrm>
            <a:off x="6333592" y="365099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517392"/>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«Al revés»: invierte la regla del múltiplo de 3.</a:t>
            </a:r>
            <a:endParaRPr lang="en-US" sz="1900" dirty="0"/>
          </a:p>
        </p:txBody>
      </p:sp>
      <p:sp>
        <p:nvSpPr>
          <p:cNvPr id="19" name="vineta"/>
          <p:cNvSpPr/>
          <p:nvPr/>
        </p:nvSpPr>
        <p:spPr>
          <a:xfrm>
            <a:off x="6333592" y="434898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215384"/>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«Solo en intrones»: los indels pueden ocurrir en cualquier región; en exones tienen el mayor efecto.</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B1-6 · Variación en número de copias (CNV)</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1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978408"/>
          </a:xfrm>
          <a:prstGeom prst="rect">
            <a:avLst/>
          </a:prstGeom>
          <a:noFill/>
          <a:ln/>
        </p:spPr>
        <p:txBody>
          <a:bodyPr wrap="square" lIns="254" tIns="254" rIns="254" bIns="254" rtlCol="0" anchor="t"/>
          <a:lstStyle/>
          <a:p>
            <a:pPr indent="0" marL="0">
              <a:buNone/>
            </a:pPr>
            <a:r>
              <a:rPr lang="en-US" sz="2000" dirty="0">
                <a:solidFill>
                  <a:schemeClr val="tx1"/>
                </a:solidFill>
              </a:rPr>
              <a:t>Las poblaciones con dietas tradicionalmente altas en almidón tienden a tener más copias del gen de amilasa salival </a:t>
            </a:r>
            <a:pPr indent="0" marL="0">
              <a:buNone/>
            </a:pPr>
            <a:r>
              <a:rPr lang="en-US" sz="2000" i="1" dirty="0">
                <a:solidFill>
                  <a:schemeClr val="tx1"/>
                </a:solidFill>
              </a:rPr>
              <a:t>AMY1</a:t>
            </a:r>
            <a:pPr indent="0" marL="0">
              <a:buNone/>
            </a:pPr>
            <a:r>
              <a:rPr lang="en-US" sz="2000" dirty="0">
                <a:solidFill>
                  <a:schemeClr val="tx1"/>
                </a:solidFill>
              </a:rPr>
              <a:t>, y el número de copias se asocia con la cantidad de amilasa en saliva. ¿Qué tipo de variante es y qué ilustra?</a:t>
            </a:r>
            <a:endParaRPr lang="en-US" sz="2000" dirty="0"/>
          </a:p>
        </p:txBody>
      </p:sp>
      <p:sp>
        <p:nvSpPr>
          <p:cNvPr id="6" name="circulo"/>
          <p:cNvSpPr/>
          <p:nvPr/>
        </p:nvSpPr>
        <p:spPr>
          <a:xfrm>
            <a:off x="548640" y="25146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5146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4963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Un SNP missense que mejora la enzima.</a:t>
            </a:r>
            <a:endParaRPr lang="en-US" sz="1900" dirty="0"/>
          </a:p>
        </p:txBody>
      </p:sp>
      <p:sp>
        <p:nvSpPr>
          <p:cNvPr id="9" name="circulo"/>
          <p:cNvSpPr/>
          <p:nvPr/>
        </p:nvSpPr>
        <p:spPr>
          <a:xfrm>
            <a:off x="548640" y="30266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30266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3008376"/>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Un indel que corre el marco de lectura de AMY1.</a:t>
            </a:r>
            <a:endParaRPr lang="en-US" sz="1900" dirty="0"/>
          </a:p>
        </p:txBody>
      </p:sp>
      <p:sp>
        <p:nvSpPr>
          <p:cNvPr id="12" name="circulo"/>
          <p:cNvSpPr/>
          <p:nvPr/>
        </p:nvSpPr>
        <p:spPr>
          <a:xfrm>
            <a:off x="548640" y="3538728"/>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53872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520440"/>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Una mutación somática adquirida por comer almidón.</a:t>
            </a:r>
            <a:endParaRPr lang="en-US" sz="1900" dirty="0"/>
          </a:p>
        </p:txBody>
      </p:sp>
      <p:sp>
        <p:nvSpPr>
          <p:cNvPr id="15" name="circulo"/>
          <p:cNvSpPr/>
          <p:nvPr/>
        </p:nvSpPr>
        <p:spPr>
          <a:xfrm>
            <a:off x="548640" y="4050792"/>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40507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4032504"/>
            <a:ext cx="10545775" cy="643128"/>
          </a:xfrm>
          <a:prstGeom prst="rect">
            <a:avLst/>
          </a:prstGeom>
          <a:noFill/>
          <a:ln/>
        </p:spPr>
        <p:txBody>
          <a:bodyPr wrap="square" lIns="254" tIns="254" rIns="254" bIns="254" rtlCol="0" anchor="ctr"/>
          <a:lstStyle/>
          <a:p>
            <a:pPr indent="0" marL="0">
              <a:buNone/>
            </a:pPr>
            <a:r>
              <a:rPr lang="en-US" sz="1900" dirty="0">
                <a:solidFill>
                  <a:schemeClr val="tx1"/>
                </a:solidFill>
              </a:rPr>
              <a:t>Una CNV: el número de copias del gen cambia la dosis de proteína, un ejemplo de variación genética asociada a la dieta.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B1-6 · Variación en número de copias (CNV)</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1 · Respuesta</a:t>
            </a:r>
            <a:endParaRPr lang="en-US" sz="1100" dirty="0"/>
          </a:p>
        </p:txBody>
      </p:sp>
      <p:sp>
        <p:nvSpPr>
          <p:cNvPr id="4" name="caja respuesta"/>
          <p:cNvSpPr/>
          <p:nvPr/>
        </p:nvSpPr>
        <p:spPr>
          <a:xfrm>
            <a:off x="548640" y="1371600"/>
            <a:ext cx="11094415" cy="762000"/>
          </a:xfrm>
          <a:prstGeom prst="roundRect">
            <a:avLst>
              <a:gd name="adj" fmla="val 14400"/>
            </a:avLst>
          </a:prstGeom>
          <a:solidFill>
            <a:schemeClr val="bg1"/>
          </a:solidFill>
          <a:ln w="19050">
            <a:solidFill>
              <a:schemeClr val="accent1"/>
            </a:solidFill>
            <a:prstDash val="solid"/>
          </a:ln>
        </p:spPr>
      </p:sp>
      <p:sp>
        <p:nvSpPr>
          <p:cNvPr id="5" name="circulo check"/>
          <p:cNvSpPr/>
          <p:nvPr/>
        </p:nvSpPr>
        <p:spPr>
          <a:xfrm>
            <a:off x="749808" y="152400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33728"/>
            <a:ext cx="237744" cy="237744"/>
          </a:xfrm>
          <a:prstGeom prst="rect">
            <a:avLst/>
          </a:prstGeom>
        </p:spPr>
      </p:pic>
      <p:sp>
        <p:nvSpPr>
          <p:cNvPr id="7" name="respuesta"/>
          <p:cNvSpPr txBox="1"/>
          <p:nvPr/>
        </p:nvSpPr>
        <p:spPr>
          <a:xfrm>
            <a:off x="1371600" y="1444752"/>
            <a:ext cx="10180015" cy="615696"/>
          </a:xfrm>
          <a:prstGeom prst="rect">
            <a:avLst/>
          </a:prstGeom>
          <a:noFill/>
          <a:ln/>
        </p:spPr>
        <p:txBody>
          <a:bodyPr wrap="square" lIns="254" tIns="254" rIns="254" bIns="254" rtlCol="0" anchor="ctr"/>
          <a:lstStyle/>
          <a:p>
            <a:pPr indent="0" marL="0">
              <a:buNone/>
            </a:pPr>
            <a:r>
              <a:rPr lang="en-US" sz="1600" b="1" dirty="0">
                <a:solidFill>
                  <a:schemeClr val="tx1"/>
                </a:solidFill>
              </a:rPr>
              <a:t>D)  </a:t>
            </a:r>
            <a:pPr indent="0" marL="0">
              <a:buNone/>
            </a:pPr>
            <a:r>
              <a:rPr lang="en-US" sz="1600" dirty="0">
                <a:solidFill>
                  <a:schemeClr val="tx1"/>
                </a:solidFill>
              </a:rPr>
              <a:t>Una CNV: el número de copias del gen cambia la dosis de proteína, un ejemplo de variación genética asociada a la dieta.</a:t>
            </a:r>
            <a:endParaRPr lang="en-US" sz="1600" dirty="0"/>
          </a:p>
        </p:txBody>
      </p:sp>
      <p:sp>
        <p:nvSpPr>
          <p:cNvPr id="8" name="circulo icono"/>
          <p:cNvSpPr/>
          <p:nvPr/>
        </p:nvSpPr>
        <p:spPr>
          <a:xfrm>
            <a:off x="548640" y="236220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444496"/>
            <a:ext cx="164592" cy="164592"/>
          </a:xfrm>
          <a:prstGeom prst="rect">
            <a:avLst/>
          </a:prstGeom>
        </p:spPr>
      </p:pic>
      <p:sp>
        <p:nvSpPr>
          <p:cNvPr id="10" name="subtitulo"/>
          <p:cNvSpPr txBox="1"/>
          <p:nvPr/>
        </p:nvSpPr>
        <p:spPr>
          <a:xfrm>
            <a:off x="987552"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2819400"/>
            <a:ext cx="5364328" cy="1222248"/>
          </a:xfrm>
          <a:prstGeom prst="rect">
            <a:avLst/>
          </a:prstGeom>
          <a:noFill/>
          <a:ln/>
        </p:spPr>
        <p:txBody>
          <a:bodyPr wrap="square" lIns="254" tIns="254" rIns="254" bIns="254" rtlCol="0" anchor="t"/>
          <a:lstStyle/>
          <a:p>
            <a:pPr indent="0" marL="0">
              <a:buNone/>
            </a:pPr>
            <a:r>
              <a:rPr lang="en-US" sz="1900" b="1" dirty="0">
                <a:solidFill>
                  <a:schemeClr val="tx1"/>
                </a:solidFill>
              </a:rPr>
              <a:t>Correcta: CNV con efecto de dosis.</a:t>
            </a:r>
            <a:pPr indent="0" marL="0">
              <a:buNone/>
            </a:pPr>
            <a:r>
              <a:rPr lang="en-US" sz="1900" dirty="0">
                <a:solidFill>
                  <a:schemeClr val="tx1"/>
                </a:solidFill>
              </a:rPr>
              <a:t> Más copias del gen → más transcripción total → más enzima. Es un ejemplo clásico de variación estructural relacionada con la dieta.</a:t>
            </a:r>
            <a:endParaRPr lang="en-US" sz="1900" dirty="0"/>
          </a:p>
        </p:txBody>
      </p:sp>
      <p:sp>
        <p:nvSpPr>
          <p:cNvPr id="12" name="circulo icono"/>
          <p:cNvSpPr/>
          <p:nvPr/>
        </p:nvSpPr>
        <p:spPr>
          <a:xfrm>
            <a:off x="6278728" y="236220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444496"/>
            <a:ext cx="164592" cy="164592"/>
          </a:xfrm>
          <a:prstGeom prst="rect">
            <a:avLst/>
          </a:prstGeom>
        </p:spPr>
      </p:pic>
      <p:sp>
        <p:nvSpPr>
          <p:cNvPr id="14" name="subtitulo"/>
          <p:cNvSpPr txBox="1"/>
          <p:nvPr/>
        </p:nvSpPr>
        <p:spPr>
          <a:xfrm>
            <a:off x="6717640"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295300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2819400"/>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«SNP missense»: un SNP cambia una base; aquí lo que varía es cuántas copias del gen hay.</a:t>
            </a:r>
            <a:endParaRPr lang="en-US" sz="1900" dirty="0"/>
          </a:p>
        </p:txBody>
      </p:sp>
      <p:sp>
        <p:nvSpPr>
          <p:cNvPr id="17" name="vineta"/>
          <p:cNvSpPr/>
          <p:nvPr/>
        </p:nvSpPr>
        <p:spPr>
          <a:xfrm>
            <a:off x="6333592" y="365099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517392"/>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«Indel frameshift»: un frameshift anularía la proteína, no la aumentaría.</a:t>
            </a:r>
            <a:endParaRPr lang="en-US" sz="1900" dirty="0"/>
          </a:p>
        </p:txBody>
      </p:sp>
      <p:sp>
        <p:nvSpPr>
          <p:cNvPr id="19" name="vineta"/>
          <p:cNvSpPr/>
          <p:nvPr/>
        </p:nvSpPr>
        <p:spPr>
          <a:xfrm>
            <a:off x="6333592" y="434898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215384"/>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«Mutación somática por comer almidón»: la dieta no crea copias génicas en el individuo; la diferencia es heredada y poblacional.</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B1-7 · Hiporrespondedores e hiperrespondedores</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1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978408"/>
          </a:xfrm>
          <a:prstGeom prst="rect">
            <a:avLst/>
          </a:prstGeom>
          <a:noFill/>
          <a:ln/>
        </p:spPr>
        <p:txBody>
          <a:bodyPr wrap="square" lIns="254" tIns="254" rIns="254" bIns="254" rtlCol="0" anchor="t"/>
          <a:lstStyle/>
          <a:p>
            <a:pPr indent="0" marL="0">
              <a:buNone/>
            </a:pPr>
            <a:r>
              <a:rPr lang="en-US" sz="2000" dirty="0">
                <a:solidFill>
                  <a:schemeClr val="tx1"/>
                </a:solidFill>
              </a:rPr>
              <a:t>En un ensayo, 30 adultos agregan 300 mg/día de colesterol dietario durante 4 semanas. El LDL cambia en promedio +6 mg/dL, pero un tercio sube más de 20 mg/dL y otro tercio no cambia. ¿Qué concepto describe mejor estos resultados?</a:t>
            </a:r>
            <a:endParaRPr lang="en-US" sz="2000" dirty="0"/>
          </a:p>
        </p:txBody>
      </p:sp>
      <p:sp>
        <p:nvSpPr>
          <p:cNvPr id="6" name="circulo"/>
          <p:cNvSpPr/>
          <p:nvPr/>
        </p:nvSpPr>
        <p:spPr>
          <a:xfrm>
            <a:off x="548640" y="25146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5146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4963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Los hiporrespondedores no absorben colesterol.</a:t>
            </a:r>
            <a:endParaRPr lang="en-US" sz="1900" dirty="0"/>
          </a:p>
        </p:txBody>
      </p:sp>
      <p:sp>
        <p:nvSpPr>
          <p:cNvPr id="9" name="circulo"/>
          <p:cNvSpPr/>
          <p:nvPr/>
        </p:nvSpPr>
        <p:spPr>
          <a:xfrm>
            <a:off x="548640" y="30266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30266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3008376"/>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Error de medición: todos deberían responder igual.</a:t>
            </a:r>
            <a:endParaRPr lang="en-US" sz="1900" dirty="0"/>
          </a:p>
        </p:txBody>
      </p:sp>
      <p:sp>
        <p:nvSpPr>
          <p:cNvPr id="12" name="circulo"/>
          <p:cNvSpPr/>
          <p:nvPr/>
        </p:nvSpPr>
        <p:spPr>
          <a:xfrm>
            <a:off x="548640" y="3538728"/>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53872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520440"/>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El promedio de +6 mg/dL describe bien a todos los participantes.</a:t>
            </a:r>
            <a:endParaRPr lang="en-US" sz="1900" dirty="0"/>
          </a:p>
        </p:txBody>
      </p:sp>
      <p:sp>
        <p:nvSpPr>
          <p:cNvPr id="15" name="circulo"/>
          <p:cNvSpPr/>
          <p:nvPr/>
        </p:nvSpPr>
        <p:spPr>
          <a:xfrm>
            <a:off x="548640" y="4050792"/>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40507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4032504"/>
            <a:ext cx="10545775" cy="643128"/>
          </a:xfrm>
          <a:prstGeom prst="rect">
            <a:avLst/>
          </a:prstGeom>
          <a:noFill/>
          <a:ln/>
        </p:spPr>
        <p:txBody>
          <a:bodyPr wrap="square" lIns="254" tIns="254" rIns="254" bIns="254" rtlCol="0" anchor="ctr"/>
          <a:lstStyle/>
          <a:p>
            <a:pPr indent="0" marL="0">
              <a:buNone/>
            </a:pPr>
            <a:r>
              <a:rPr lang="en-US" sz="1900" dirty="0">
                <a:solidFill>
                  <a:schemeClr val="tx1"/>
                </a:solidFill>
              </a:rPr>
              <a:t>Respuesta interindividual a la dieta: hay hiperrespondedores e hiporrespondedores, en parte por variación genética (p. ej., APOE) y en parte por otros factores.</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B1-7 · Hiporrespondedores e hiperrespondedores</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1 · Respuesta</a:t>
            </a:r>
            <a:endParaRPr lang="en-US" sz="1100" dirty="0"/>
          </a:p>
        </p:txBody>
      </p:sp>
      <p:sp>
        <p:nvSpPr>
          <p:cNvPr id="4" name="caja respuesta"/>
          <p:cNvSpPr/>
          <p:nvPr/>
        </p:nvSpPr>
        <p:spPr>
          <a:xfrm>
            <a:off x="548640" y="1371600"/>
            <a:ext cx="11094415" cy="762000"/>
          </a:xfrm>
          <a:prstGeom prst="roundRect">
            <a:avLst>
              <a:gd name="adj" fmla="val 14400"/>
            </a:avLst>
          </a:prstGeom>
          <a:solidFill>
            <a:schemeClr val="bg1"/>
          </a:solidFill>
          <a:ln w="19050">
            <a:solidFill>
              <a:schemeClr val="accent1"/>
            </a:solidFill>
            <a:prstDash val="solid"/>
          </a:ln>
        </p:spPr>
      </p:sp>
      <p:sp>
        <p:nvSpPr>
          <p:cNvPr id="5" name="circulo check"/>
          <p:cNvSpPr/>
          <p:nvPr/>
        </p:nvSpPr>
        <p:spPr>
          <a:xfrm>
            <a:off x="749808" y="152400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33728"/>
            <a:ext cx="237744" cy="237744"/>
          </a:xfrm>
          <a:prstGeom prst="rect">
            <a:avLst/>
          </a:prstGeom>
        </p:spPr>
      </p:pic>
      <p:sp>
        <p:nvSpPr>
          <p:cNvPr id="7" name="respuesta"/>
          <p:cNvSpPr txBox="1"/>
          <p:nvPr/>
        </p:nvSpPr>
        <p:spPr>
          <a:xfrm>
            <a:off x="1371600" y="1444752"/>
            <a:ext cx="10180015" cy="615696"/>
          </a:xfrm>
          <a:prstGeom prst="rect">
            <a:avLst/>
          </a:prstGeom>
          <a:noFill/>
          <a:ln/>
        </p:spPr>
        <p:txBody>
          <a:bodyPr wrap="square" lIns="254" tIns="254" rIns="254" bIns="254" rtlCol="0" anchor="ctr"/>
          <a:lstStyle/>
          <a:p>
            <a:pPr indent="0" marL="0">
              <a:buNone/>
            </a:pPr>
            <a:r>
              <a:rPr lang="en-US" sz="1600" b="1" dirty="0">
                <a:solidFill>
                  <a:schemeClr val="tx1"/>
                </a:solidFill>
              </a:rPr>
              <a:t>D)  </a:t>
            </a:r>
            <a:pPr indent="0" marL="0">
              <a:buNone/>
            </a:pPr>
            <a:r>
              <a:rPr lang="en-US" sz="1600" dirty="0">
                <a:solidFill>
                  <a:schemeClr val="tx1"/>
                </a:solidFill>
              </a:rPr>
              <a:t>Respuesta interindividual a la dieta: hay hiperrespondedores e hiporrespondedores, en parte por variación genética (p. ej., APOE) y en parte por otros factores.</a:t>
            </a:r>
            <a:endParaRPr lang="en-US" sz="1600" dirty="0"/>
          </a:p>
        </p:txBody>
      </p:sp>
      <p:sp>
        <p:nvSpPr>
          <p:cNvPr id="8" name="circulo icono"/>
          <p:cNvSpPr/>
          <p:nvPr/>
        </p:nvSpPr>
        <p:spPr>
          <a:xfrm>
            <a:off x="548640" y="236220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444496"/>
            <a:ext cx="164592" cy="164592"/>
          </a:xfrm>
          <a:prstGeom prst="rect">
            <a:avLst/>
          </a:prstGeom>
        </p:spPr>
      </p:pic>
      <p:sp>
        <p:nvSpPr>
          <p:cNvPr id="10" name="subtitulo"/>
          <p:cNvSpPr txBox="1"/>
          <p:nvPr/>
        </p:nvSpPr>
        <p:spPr>
          <a:xfrm>
            <a:off x="987552"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2819400"/>
            <a:ext cx="5364328" cy="1222248"/>
          </a:xfrm>
          <a:prstGeom prst="rect">
            <a:avLst/>
          </a:prstGeom>
          <a:noFill/>
          <a:ln/>
        </p:spPr>
        <p:txBody>
          <a:bodyPr wrap="square" lIns="254" tIns="254" rIns="254" bIns="254" rtlCol="0" anchor="t"/>
          <a:lstStyle/>
          <a:p>
            <a:pPr indent="0" marL="0">
              <a:buNone/>
            </a:pPr>
            <a:r>
              <a:rPr lang="en-US" sz="1900" b="1" dirty="0">
                <a:solidFill>
                  <a:schemeClr val="tx1"/>
                </a:solidFill>
              </a:rPr>
              <a:t>Correcta: variabilidad interindividual.</a:t>
            </a:r>
            <a:pPr indent="0" marL="0">
              <a:buNone/>
            </a:pPr>
            <a:r>
              <a:rPr lang="en-US" sz="1900" dirty="0">
                <a:solidFill>
                  <a:schemeClr val="tx1"/>
                </a:solidFill>
              </a:rPr>
              <a:t> El promedio oculta subgrupos con respuestas muy distintas; la nutrigenética busca qué variantes explican parte de esa heterogeneidad.</a:t>
            </a:r>
            <a:endParaRPr lang="en-US" sz="1900" dirty="0"/>
          </a:p>
        </p:txBody>
      </p:sp>
      <p:sp>
        <p:nvSpPr>
          <p:cNvPr id="12" name="circulo icono"/>
          <p:cNvSpPr/>
          <p:nvPr/>
        </p:nvSpPr>
        <p:spPr>
          <a:xfrm>
            <a:off x="6278728" y="236220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444496"/>
            <a:ext cx="164592" cy="164592"/>
          </a:xfrm>
          <a:prstGeom prst="rect">
            <a:avLst/>
          </a:prstGeom>
        </p:spPr>
      </p:pic>
      <p:sp>
        <p:nvSpPr>
          <p:cNvPr id="14" name="subtitulo"/>
          <p:cNvSpPr txBox="1"/>
          <p:nvPr/>
        </p:nvSpPr>
        <p:spPr>
          <a:xfrm>
            <a:off x="6717640"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295300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2819400"/>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«Error de medición»: puede contribuir, pero una dispersión sistemática en subgrupos es justamente lo que define respondedores.</a:t>
            </a:r>
            <a:endParaRPr lang="en-US" sz="1900" dirty="0"/>
          </a:p>
        </p:txBody>
      </p:sp>
      <p:sp>
        <p:nvSpPr>
          <p:cNvPr id="17" name="vineta"/>
          <p:cNvSpPr/>
          <p:nvPr/>
        </p:nvSpPr>
        <p:spPr>
          <a:xfrm>
            <a:off x="6333592" y="394055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806952"/>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«El promedio describe a todos»: es la falacia que este concepto corrige.</a:t>
            </a:r>
            <a:endParaRPr lang="en-US" sz="1900" dirty="0"/>
          </a:p>
        </p:txBody>
      </p:sp>
      <p:sp>
        <p:nvSpPr>
          <p:cNvPr id="19" name="vineta"/>
          <p:cNvSpPr/>
          <p:nvPr/>
        </p:nvSpPr>
        <p:spPr>
          <a:xfrm>
            <a:off x="6333592" y="463854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504944"/>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«No absorben colesterol»: es una sobreinterpretación; la respuesta depende de absorción, síntesis endógena y depuración de LDL.</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B1-8 · Haplotipos de TAS2R38</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1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368808"/>
          </a:xfrm>
          <a:prstGeom prst="rect">
            <a:avLst/>
          </a:prstGeom>
          <a:noFill/>
          <a:ln/>
        </p:spPr>
        <p:txBody>
          <a:bodyPr wrap="square" lIns="254" tIns="254" rIns="254" bIns="254" rtlCol="0" anchor="t"/>
          <a:lstStyle/>
          <a:p>
            <a:pPr indent="0" marL="0">
              <a:buNone/>
            </a:pPr>
            <a:r>
              <a:rPr lang="en-US" sz="2000" dirty="0">
                <a:solidFill>
                  <a:schemeClr val="tx1"/>
                </a:solidFill>
              </a:rPr>
              <a:t>¿Qué describe correctamente los haplotipos PAV y AVI de </a:t>
            </a:r>
            <a:pPr indent="0" marL="0">
              <a:buNone/>
            </a:pPr>
            <a:r>
              <a:rPr lang="en-US" sz="2000" i="1" dirty="0">
                <a:solidFill>
                  <a:schemeClr val="tx1"/>
                </a:solidFill>
              </a:rPr>
              <a:t>TAS2R38</a:t>
            </a:r>
            <a:pPr indent="0" marL="0">
              <a:buNone/>
            </a:pPr>
            <a:r>
              <a:rPr lang="en-US" sz="2000" dirty="0">
                <a:solidFill>
                  <a:schemeClr val="tx1"/>
                </a:solidFill>
              </a:rPr>
              <a:t>?</a:t>
            </a:r>
            <a:endParaRPr lang="en-US" sz="2000" dirty="0"/>
          </a:p>
        </p:txBody>
      </p:sp>
      <p:sp>
        <p:nvSpPr>
          <p:cNvPr id="6" name="circulo"/>
          <p:cNvSpPr/>
          <p:nvPr/>
        </p:nvSpPr>
        <p:spPr>
          <a:xfrm>
            <a:off x="548640" y="19050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19050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1886712"/>
            <a:ext cx="10545775" cy="932688"/>
          </a:xfrm>
          <a:prstGeom prst="rect">
            <a:avLst/>
          </a:prstGeom>
          <a:noFill/>
          <a:ln/>
        </p:spPr>
        <p:txBody>
          <a:bodyPr wrap="square" lIns="254" tIns="254" rIns="254" bIns="254" rtlCol="0" anchor="ctr"/>
          <a:lstStyle/>
          <a:p>
            <a:pPr indent="0" marL="0">
              <a:buNone/>
            </a:pPr>
            <a:r>
              <a:rPr lang="en-US" sz="1900" dirty="0">
                <a:solidFill>
                  <a:schemeClr val="tx1"/>
                </a:solidFill>
              </a:rPr>
              <a:t>Son combinaciones de tres SNPs missense (posiciones 49, 262 y 296 de la proteína); PAV forma un receptor funcional (catador de PTC/PROP, «supertaster» en el curso) y AVI uno poco funcional (no catador).</a:t>
            </a:r>
            <a:endParaRPr lang="en-US" sz="1900" dirty="0"/>
          </a:p>
        </p:txBody>
      </p:sp>
      <p:sp>
        <p:nvSpPr>
          <p:cNvPr id="9" name="circulo"/>
          <p:cNvSpPr/>
          <p:nvPr/>
        </p:nvSpPr>
        <p:spPr>
          <a:xfrm>
            <a:off x="548640" y="2929128"/>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292912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2910840"/>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Son dos genes distintos del cromosoma 7.</a:t>
            </a:r>
            <a:endParaRPr lang="en-US" sz="1900" dirty="0"/>
          </a:p>
        </p:txBody>
      </p:sp>
      <p:sp>
        <p:nvSpPr>
          <p:cNvPr id="12" name="circulo"/>
          <p:cNvSpPr/>
          <p:nvPr/>
        </p:nvSpPr>
        <p:spPr>
          <a:xfrm>
            <a:off x="548640" y="3441192"/>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4411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422904"/>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PAV es una deleción y AVI una inserción Alu.</a:t>
            </a:r>
            <a:endParaRPr lang="en-US" sz="1900" dirty="0"/>
          </a:p>
        </p:txBody>
      </p:sp>
      <p:sp>
        <p:nvSpPr>
          <p:cNvPr id="15" name="circulo"/>
          <p:cNvSpPr/>
          <p:nvPr/>
        </p:nvSpPr>
        <p:spPr>
          <a:xfrm>
            <a:off x="548640" y="3953256"/>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395325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3934968"/>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AVI es el haplotipo catador porque tiene valina.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B1-8 · Haplotipos de TAS2R38</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1 · Respuesta</a:t>
            </a:r>
            <a:endParaRPr lang="en-US" sz="1100" dirty="0"/>
          </a:p>
        </p:txBody>
      </p:sp>
      <p:sp>
        <p:nvSpPr>
          <p:cNvPr id="4" name="caja respuesta"/>
          <p:cNvSpPr/>
          <p:nvPr/>
        </p:nvSpPr>
        <p:spPr>
          <a:xfrm>
            <a:off x="548640" y="1371600"/>
            <a:ext cx="11094415" cy="762000"/>
          </a:xfrm>
          <a:prstGeom prst="roundRect">
            <a:avLst>
              <a:gd name="adj" fmla="val 14400"/>
            </a:avLst>
          </a:prstGeom>
          <a:solidFill>
            <a:schemeClr val="bg1"/>
          </a:solidFill>
          <a:ln w="19050">
            <a:solidFill>
              <a:schemeClr val="accent1"/>
            </a:solidFill>
            <a:prstDash val="solid"/>
          </a:ln>
        </p:spPr>
      </p:sp>
      <p:sp>
        <p:nvSpPr>
          <p:cNvPr id="5" name="circulo check"/>
          <p:cNvSpPr/>
          <p:nvPr/>
        </p:nvSpPr>
        <p:spPr>
          <a:xfrm>
            <a:off x="749808" y="152400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33728"/>
            <a:ext cx="237744" cy="237744"/>
          </a:xfrm>
          <a:prstGeom prst="rect">
            <a:avLst/>
          </a:prstGeom>
        </p:spPr>
      </p:pic>
      <p:sp>
        <p:nvSpPr>
          <p:cNvPr id="7" name="respuesta"/>
          <p:cNvSpPr txBox="1"/>
          <p:nvPr/>
        </p:nvSpPr>
        <p:spPr>
          <a:xfrm>
            <a:off x="1371600" y="1444752"/>
            <a:ext cx="10180015" cy="615696"/>
          </a:xfrm>
          <a:prstGeom prst="rect">
            <a:avLst/>
          </a:prstGeom>
          <a:noFill/>
          <a:ln/>
        </p:spPr>
        <p:txBody>
          <a:bodyPr wrap="square" lIns="254" tIns="254" rIns="254" bIns="254" rtlCol="0" anchor="ctr"/>
          <a:lstStyle/>
          <a:p>
            <a:pPr indent="0" marL="0">
              <a:buNone/>
            </a:pPr>
            <a:r>
              <a:rPr lang="en-US" sz="1600" b="1" dirty="0">
                <a:solidFill>
                  <a:schemeClr val="tx1"/>
                </a:solidFill>
              </a:rPr>
              <a:t>A)  </a:t>
            </a:r>
            <a:pPr indent="0" marL="0">
              <a:buNone/>
            </a:pPr>
            <a:r>
              <a:rPr lang="en-US" sz="1600" dirty="0">
                <a:solidFill>
                  <a:schemeClr val="tx1"/>
                </a:solidFill>
              </a:rPr>
              <a:t>Son combinaciones de tres SNPs missense (posiciones 49, 262 y 296 de la proteína); PAV forma un receptor funcional (catador de PTC/PROP, «supertaster» en el curso) y AVI uno poco funcional (no catador).</a:t>
            </a:r>
            <a:endParaRPr lang="en-US" sz="1600" dirty="0"/>
          </a:p>
        </p:txBody>
      </p:sp>
      <p:sp>
        <p:nvSpPr>
          <p:cNvPr id="8" name="circulo icono"/>
          <p:cNvSpPr/>
          <p:nvPr/>
        </p:nvSpPr>
        <p:spPr>
          <a:xfrm>
            <a:off x="548640" y="236220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444496"/>
            <a:ext cx="164592" cy="164592"/>
          </a:xfrm>
          <a:prstGeom prst="rect">
            <a:avLst/>
          </a:prstGeom>
        </p:spPr>
      </p:pic>
      <p:sp>
        <p:nvSpPr>
          <p:cNvPr id="10" name="subtitulo"/>
          <p:cNvSpPr txBox="1"/>
          <p:nvPr/>
        </p:nvSpPr>
        <p:spPr>
          <a:xfrm>
            <a:off x="987552"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2819400"/>
            <a:ext cx="5364328" cy="1511808"/>
          </a:xfrm>
          <a:prstGeom prst="rect">
            <a:avLst/>
          </a:prstGeom>
          <a:noFill/>
          <a:ln/>
        </p:spPr>
        <p:txBody>
          <a:bodyPr wrap="square" lIns="254" tIns="254" rIns="254" bIns="254" rtlCol="0" anchor="t"/>
          <a:lstStyle/>
          <a:p>
            <a:pPr indent="0" marL="0">
              <a:buNone/>
            </a:pPr>
            <a:r>
              <a:rPr lang="en-US" sz="1900" b="1" dirty="0">
                <a:solidFill>
                  <a:schemeClr val="tx1"/>
                </a:solidFill>
              </a:rPr>
              <a:t>Correcta: tres SNPs missense en un mismo haplotipo.</a:t>
            </a:r>
            <a:pPr indent="0" marL="0">
              <a:buNone/>
            </a:pPr>
            <a:r>
              <a:rPr lang="en-US" sz="1900" dirty="0">
                <a:solidFill>
                  <a:schemeClr val="tx1"/>
                </a:solidFill>
              </a:rPr>
              <a:t> Pro-Ala-Val en las posiciones 49, 262 y 296 (PAV) da un receptor sensible; Ala-Val-Ile (AVI) da un receptor con muy baja sensibilidad a tioureas como PTC y PROP.</a:t>
            </a:r>
            <a:endParaRPr lang="en-US" sz="1900" dirty="0"/>
          </a:p>
        </p:txBody>
      </p:sp>
      <p:sp>
        <p:nvSpPr>
          <p:cNvPr id="12" name="circulo icono"/>
          <p:cNvSpPr/>
          <p:nvPr/>
        </p:nvSpPr>
        <p:spPr>
          <a:xfrm>
            <a:off x="6278728" y="236220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444496"/>
            <a:ext cx="164592" cy="164592"/>
          </a:xfrm>
          <a:prstGeom prst="rect">
            <a:avLst/>
          </a:prstGeom>
        </p:spPr>
      </p:pic>
      <p:sp>
        <p:nvSpPr>
          <p:cNvPr id="14" name="subtitulo"/>
          <p:cNvSpPr txBox="1"/>
          <p:nvPr/>
        </p:nvSpPr>
        <p:spPr>
          <a:xfrm>
            <a:off x="6717640"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295300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2819400"/>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«Dos genes»: es un mismo gen con alelos distintos.</a:t>
            </a:r>
            <a:endParaRPr lang="en-US" sz="1900" dirty="0"/>
          </a:p>
        </p:txBody>
      </p:sp>
      <p:sp>
        <p:nvSpPr>
          <p:cNvPr id="17" name="vineta"/>
          <p:cNvSpPr/>
          <p:nvPr/>
        </p:nvSpPr>
        <p:spPr>
          <a:xfrm>
            <a:off x="6333592" y="365099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517392"/>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«Deleción/inserción»: son sustituciones de una base.</a:t>
            </a:r>
            <a:endParaRPr lang="en-US" sz="1900" dirty="0"/>
          </a:p>
        </p:txBody>
      </p:sp>
      <p:sp>
        <p:nvSpPr>
          <p:cNvPr id="19" name="vineta"/>
          <p:cNvSpPr/>
          <p:nvPr/>
        </p:nvSpPr>
        <p:spPr>
          <a:xfrm>
            <a:off x="6333592" y="434898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215384"/>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«AVI catador»: es al revés; AVI es el haplotipo no catador.</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B1-9 · Receptores T2R fuera de la boca</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1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673608"/>
          </a:xfrm>
          <a:prstGeom prst="rect">
            <a:avLst/>
          </a:prstGeom>
          <a:noFill/>
          <a:ln/>
        </p:spPr>
        <p:txBody>
          <a:bodyPr wrap="square" lIns="254" tIns="254" rIns="254" bIns="254" rtlCol="0" anchor="t"/>
          <a:lstStyle/>
          <a:p>
            <a:pPr indent="0" marL="0">
              <a:buNone/>
            </a:pPr>
            <a:r>
              <a:rPr lang="en-US" sz="2000" dirty="0">
                <a:solidFill>
                  <a:schemeClr val="tx1"/>
                </a:solidFill>
              </a:rPr>
              <a:t>Los receptores de sabor amargo T2R también se expresan en células enteroendocrinas del intestino. ¿Qué papel fisiológico es el más aceptado?</a:t>
            </a:r>
            <a:endParaRPr lang="en-US" sz="2000" dirty="0"/>
          </a:p>
        </p:txBody>
      </p:sp>
      <p:sp>
        <p:nvSpPr>
          <p:cNvPr id="6" name="circulo"/>
          <p:cNvSpPr/>
          <p:nvPr/>
        </p:nvSpPr>
        <p:spPr>
          <a:xfrm>
            <a:off x="548640" y="22098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2098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191512"/>
            <a:ext cx="10545775" cy="643128"/>
          </a:xfrm>
          <a:prstGeom prst="rect">
            <a:avLst/>
          </a:prstGeom>
          <a:noFill/>
          <a:ln/>
        </p:spPr>
        <p:txBody>
          <a:bodyPr wrap="square" lIns="254" tIns="254" rIns="254" bIns="254" rtlCol="0" anchor="ctr"/>
          <a:lstStyle/>
          <a:p>
            <a:pPr indent="0" marL="0">
              <a:buNone/>
            </a:pPr>
            <a:r>
              <a:rPr lang="en-US" sz="1900" dirty="0">
                <a:solidFill>
                  <a:schemeClr val="tx1"/>
                </a:solidFill>
              </a:rPr>
              <a:t>Detectan compuestos amargos en la luz intestinal y estimulan la liberación de hormonas como GLP-1 o CCK, que informan al cerebro (eje intestino-cerebro) sobre saciedad y motilidad.</a:t>
            </a:r>
            <a:endParaRPr lang="en-US" sz="1900" dirty="0"/>
          </a:p>
        </p:txBody>
      </p:sp>
      <p:sp>
        <p:nvSpPr>
          <p:cNvPr id="9" name="circulo"/>
          <p:cNvSpPr/>
          <p:nvPr/>
        </p:nvSpPr>
        <p:spPr>
          <a:xfrm>
            <a:off x="548640" y="2944368"/>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294436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2926080"/>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Solo existen en roedores; en humanos no hay T2R extraorales.</a:t>
            </a:r>
            <a:endParaRPr lang="en-US" sz="1900" dirty="0"/>
          </a:p>
        </p:txBody>
      </p:sp>
      <p:sp>
        <p:nvSpPr>
          <p:cNvPr id="12" name="circulo"/>
          <p:cNvSpPr/>
          <p:nvPr/>
        </p:nvSpPr>
        <p:spPr>
          <a:xfrm>
            <a:off x="548640" y="3456432"/>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45643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438144"/>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Permiten «saborear» el alimento en el intestino de forma consciente.</a:t>
            </a:r>
            <a:endParaRPr lang="en-US" sz="1900" dirty="0"/>
          </a:p>
        </p:txBody>
      </p:sp>
      <p:sp>
        <p:nvSpPr>
          <p:cNvPr id="15" name="circulo"/>
          <p:cNvSpPr/>
          <p:nvPr/>
        </p:nvSpPr>
        <p:spPr>
          <a:xfrm>
            <a:off x="548640" y="3968496"/>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396849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3950208"/>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Degradan los compuestos amargos antes de su absorción.</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B1-9 · Receptores T2R fuera de la boca</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1 · Respuesta</a:t>
            </a:r>
            <a:endParaRPr lang="en-US" sz="1100" dirty="0"/>
          </a:p>
        </p:txBody>
      </p:sp>
      <p:sp>
        <p:nvSpPr>
          <p:cNvPr id="4" name="caja respuesta"/>
          <p:cNvSpPr/>
          <p:nvPr/>
        </p:nvSpPr>
        <p:spPr>
          <a:xfrm>
            <a:off x="548640" y="1371600"/>
            <a:ext cx="11094415" cy="762000"/>
          </a:xfrm>
          <a:prstGeom prst="roundRect">
            <a:avLst>
              <a:gd name="adj" fmla="val 14400"/>
            </a:avLst>
          </a:prstGeom>
          <a:solidFill>
            <a:schemeClr val="bg1"/>
          </a:solidFill>
          <a:ln w="19050">
            <a:solidFill>
              <a:schemeClr val="accent1"/>
            </a:solidFill>
            <a:prstDash val="solid"/>
          </a:ln>
        </p:spPr>
      </p:sp>
      <p:sp>
        <p:nvSpPr>
          <p:cNvPr id="5" name="circulo check"/>
          <p:cNvSpPr/>
          <p:nvPr/>
        </p:nvSpPr>
        <p:spPr>
          <a:xfrm>
            <a:off x="749808" y="152400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33728"/>
            <a:ext cx="237744" cy="237744"/>
          </a:xfrm>
          <a:prstGeom prst="rect">
            <a:avLst/>
          </a:prstGeom>
        </p:spPr>
      </p:pic>
      <p:sp>
        <p:nvSpPr>
          <p:cNvPr id="7" name="respuesta"/>
          <p:cNvSpPr txBox="1"/>
          <p:nvPr/>
        </p:nvSpPr>
        <p:spPr>
          <a:xfrm>
            <a:off x="1371600" y="1444752"/>
            <a:ext cx="10180015" cy="615696"/>
          </a:xfrm>
          <a:prstGeom prst="rect">
            <a:avLst/>
          </a:prstGeom>
          <a:noFill/>
          <a:ln/>
        </p:spPr>
        <p:txBody>
          <a:bodyPr wrap="square" lIns="254" tIns="254" rIns="254" bIns="254" rtlCol="0" anchor="ctr"/>
          <a:lstStyle/>
          <a:p>
            <a:pPr indent="0" marL="0">
              <a:buNone/>
            </a:pPr>
            <a:r>
              <a:rPr lang="en-US" sz="1600" b="1" dirty="0">
                <a:solidFill>
                  <a:schemeClr val="tx1"/>
                </a:solidFill>
              </a:rPr>
              <a:t>A)  </a:t>
            </a:r>
            <a:pPr indent="0" marL="0">
              <a:buNone/>
            </a:pPr>
            <a:r>
              <a:rPr lang="en-US" sz="1600" dirty="0">
                <a:solidFill>
                  <a:schemeClr val="tx1"/>
                </a:solidFill>
              </a:rPr>
              <a:t>Detectan compuestos amargos en la luz intestinal y estimulan la liberación de hormonas como GLP-1 o CCK, que informan al cerebro (eje intestino-cerebro) sobre saciedad y motilidad.</a:t>
            </a:r>
            <a:endParaRPr lang="en-US" sz="1600" dirty="0"/>
          </a:p>
        </p:txBody>
      </p:sp>
      <p:sp>
        <p:nvSpPr>
          <p:cNvPr id="8" name="circulo icono"/>
          <p:cNvSpPr/>
          <p:nvPr/>
        </p:nvSpPr>
        <p:spPr>
          <a:xfrm>
            <a:off x="548640" y="236220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444496"/>
            <a:ext cx="164592" cy="164592"/>
          </a:xfrm>
          <a:prstGeom prst="rect">
            <a:avLst/>
          </a:prstGeom>
        </p:spPr>
      </p:pic>
      <p:sp>
        <p:nvSpPr>
          <p:cNvPr id="10" name="subtitulo"/>
          <p:cNvSpPr txBox="1"/>
          <p:nvPr/>
        </p:nvSpPr>
        <p:spPr>
          <a:xfrm>
            <a:off x="987552"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2819400"/>
            <a:ext cx="5364328" cy="1222248"/>
          </a:xfrm>
          <a:prstGeom prst="rect">
            <a:avLst/>
          </a:prstGeom>
          <a:noFill/>
          <a:ln/>
        </p:spPr>
        <p:txBody>
          <a:bodyPr wrap="square" lIns="254" tIns="254" rIns="254" bIns="254" rtlCol="0" anchor="t"/>
          <a:lstStyle/>
          <a:p>
            <a:pPr indent="0" marL="0">
              <a:buNone/>
            </a:pPr>
            <a:r>
              <a:rPr lang="en-US" sz="1900" b="1" dirty="0">
                <a:solidFill>
                  <a:schemeClr val="tx1"/>
                </a:solidFill>
              </a:rPr>
              <a:t>Correcta: quimiosensores que liberan hormonas intestinales.</a:t>
            </a:r>
            <a:pPr indent="0" marL="0">
              <a:buNone/>
            </a:pPr>
            <a:r>
              <a:rPr lang="en-US" sz="1900" dirty="0">
                <a:solidFill>
                  <a:schemeClr val="tx1"/>
                </a:solidFill>
              </a:rPr>
              <a:t> La señal no es una percepción consciente: activa vías endocrinas y vagales hacia el sistema nervioso central.</a:t>
            </a:r>
            <a:endParaRPr lang="en-US" sz="1900" dirty="0"/>
          </a:p>
        </p:txBody>
      </p:sp>
      <p:sp>
        <p:nvSpPr>
          <p:cNvPr id="12" name="circulo icono"/>
          <p:cNvSpPr/>
          <p:nvPr/>
        </p:nvSpPr>
        <p:spPr>
          <a:xfrm>
            <a:off x="6278728" y="236220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444496"/>
            <a:ext cx="164592" cy="164592"/>
          </a:xfrm>
          <a:prstGeom prst="rect">
            <a:avLst/>
          </a:prstGeom>
        </p:spPr>
      </p:pic>
      <p:sp>
        <p:nvSpPr>
          <p:cNvPr id="14" name="subtitulo"/>
          <p:cNvSpPr txBox="1"/>
          <p:nvPr/>
        </p:nvSpPr>
        <p:spPr>
          <a:xfrm>
            <a:off x="6717640"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295300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2819400"/>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«Saborear de forma consciente»: la percepción consciente del sabor ocurre en la lengua y la corteza gustativa.</a:t>
            </a:r>
            <a:endParaRPr lang="en-US" sz="1900" dirty="0"/>
          </a:p>
        </p:txBody>
      </p:sp>
      <p:sp>
        <p:nvSpPr>
          <p:cNvPr id="17" name="vineta"/>
          <p:cNvSpPr/>
          <p:nvPr/>
        </p:nvSpPr>
        <p:spPr>
          <a:xfrm>
            <a:off x="6333592" y="394055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806952"/>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«Degradan los compuestos»: los receptores detectan, no metabolizan.</a:t>
            </a:r>
            <a:endParaRPr lang="en-US" sz="1900" dirty="0"/>
          </a:p>
        </p:txBody>
      </p:sp>
      <p:sp>
        <p:nvSpPr>
          <p:cNvPr id="19" name="vineta"/>
          <p:cNvSpPr/>
          <p:nvPr/>
        </p:nvSpPr>
        <p:spPr>
          <a:xfrm>
            <a:off x="6333592" y="463854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504944"/>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«Solo roedores»: hay evidencia de T2R extraorales en humanos (intestino, vía aérea).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B1-10 · Monogénico frente a regulatorio común</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1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368808"/>
          </a:xfrm>
          <a:prstGeom prst="rect">
            <a:avLst/>
          </a:prstGeom>
          <a:noFill/>
          <a:ln/>
        </p:spPr>
        <p:txBody>
          <a:bodyPr wrap="square" lIns="254" tIns="254" rIns="254" bIns="254" rtlCol="0" anchor="t"/>
          <a:lstStyle/>
          <a:p>
            <a:pPr indent="0" marL="0">
              <a:buNone/>
            </a:pPr>
            <a:r>
              <a:rPr lang="en-US" sz="2000" dirty="0">
                <a:solidFill>
                  <a:schemeClr val="tx1"/>
                </a:solidFill>
              </a:rPr>
              <a:t>¿Qué comparación entre fenilcetonuria (</a:t>
            </a:r>
            <a:pPr indent="0" marL="0">
              <a:buNone/>
            </a:pPr>
            <a:r>
              <a:rPr lang="en-US" sz="2000" i="1" dirty="0">
                <a:solidFill>
                  <a:schemeClr val="tx1"/>
                </a:solidFill>
              </a:rPr>
              <a:t>PAH</a:t>
            </a:r>
            <a:pPr indent="0" marL="0">
              <a:buNone/>
            </a:pPr>
            <a:r>
              <a:rPr lang="en-US" sz="2000" dirty="0">
                <a:solidFill>
                  <a:schemeClr val="tx1"/>
                </a:solidFill>
              </a:rPr>
              <a:t>) y persistencia de lactasa (</a:t>
            </a:r>
            <a:pPr indent="0" marL="0">
              <a:buNone/>
            </a:pPr>
            <a:r>
              <a:rPr lang="en-US" sz="2000" i="1" dirty="0">
                <a:solidFill>
                  <a:schemeClr val="tx1"/>
                </a:solidFill>
              </a:rPr>
              <a:t>MCM6</a:t>
            </a:r>
            <a:pPr indent="0" marL="0">
              <a:buNone/>
            </a:pPr>
            <a:r>
              <a:rPr lang="en-US" sz="2000" dirty="0">
                <a:solidFill>
                  <a:schemeClr val="tx1"/>
                </a:solidFill>
              </a:rPr>
              <a:t>/</a:t>
            </a:r>
            <a:pPr indent="0" marL="0">
              <a:buNone/>
            </a:pPr>
            <a:r>
              <a:rPr lang="en-US" sz="2000" i="1" dirty="0">
                <a:solidFill>
                  <a:schemeClr val="tx1"/>
                </a:solidFill>
              </a:rPr>
              <a:t>LCT</a:t>
            </a:r>
            <a:pPr indent="0" marL="0">
              <a:buNone/>
            </a:pPr>
            <a:r>
              <a:rPr lang="en-US" sz="2000" dirty="0">
                <a:solidFill>
                  <a:schemeClr val="tx1"/>
                </a:solidFill>
              </a:rPr>
              <a:t>) es correcta?</a:t>
            </a:r>
            <a:endParaRPr lang="en-US" sz="2000" dirty="0"/>
          </a:p>
        </p:txBody>
      </p:sp>
      <p:sp>
        <p:nvSpPr>
          <p:cNvPr id="6" name="circulo"/>
          <p:cNvSpPr/>
          <p:nvPr/>
        </p:nvSpPr>
        <p:spPr>
          <a:xfrm>
            <a:off x="548640" y="19050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19050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18867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En ambas la dieta no influye en el fenotipo.</a:t>
            </a:r>
            <a:endParaRPr lang="en-US" sz="1900" dirty="0"/>
          </a:p>
        </p:txBody>
      </p:sp>
      <p:sp>
        <p:nvSpPr>
          <p:cNvPr id="9" name="circulo"/>
          <p:cNvSpPr/>
          <p:nvPr/>
        </p:nvSpPr>
        <p:spPr>
          <a:xfrm>
            <a:off x="548640" y="24170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24170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2398776"/>
            <a:ext cx="10545775" cy="643128"/>
          </a:xfrm>
          <a:prstGeom prst="rect">
            <a:avLst/>
          </a:prstGeom>
          <a:noFill/>
          <a:ln/>
        </p:spPr>
        <p:txBody>
          <a:bodyPr wrap="square" lIns="254" tIns="254" rIns="254" bIns="254" rtlCol="0" anchor="ctr"/>
          <a:lstStyle/>
          <a:p>
            <a:pPr indent="0" marL="0">
              <a:buNone/>
            </a:pPr>
            <a:r>
              <a:rPr lang="en-US" sz="1900" dirty="0">
                <a:solidFill>
                  <a:schemeClr val="tx1"/>
                </a:solidFill>
              </a:rPr>
              <a:t>PKU se debe a una variante del potenciador de PAH y la persistencia de lactasa a una nonsense de LCT.</a:t>
            </a:r>
            <a:endParaRPr lang="en-US" sz="1900" dirty="0"/>
          </a:p>
        </p:txBody>
      </p:sp>
      <p:sp>
        <p:nvSpPr>
          <p:cNvPr id="12" name="circulo"/>
          <p:cNvSpPr/>
          <p:nvPr/>
        </p:nvSpPr>
        <p:spPr>
          <a:xfrm>
            <a:off x="548640" y="3151632"/>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15163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133344"/>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Ambas son rasgos poligénicos de efecto pequeño.</a:t>
            </a:r>
            <a:endParaRPr lang="en-US" sz="1900" dirty="0"/>
          </a:p>
        </p:txBody>
      </p:sp>
      <p:sp>
        <p:nvSpPr>
          <p:cNvPr id="15" name="circulo"/>
          <p:cNvSpPr/>
          <p:nvPr/>
        </p:nvSpPr>
        <p:spPr>
          <a:xfrm>
            <a:off x="548640" y="3663696"/>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366369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3645408"/>
            <a:ext cx="10545775" cy="932688"/>
          </a:xfrm>
          <a:prstGeom prst="rect">
            <a:avLst/>
          </a:prstGeom>
          <a:noFill/>
          <a:ln/>
        </p:spPr>
        <p:txBody>
          <a:bodyPr wrap="square" lIns="254" tIns="254" rIns="254" bIns="254" rtlCol="0" anchor="ctr"/>
          <a:lstStyle/>
          <a:p>
            <a:pPr indent="0" marL="0">
              <a:buNone/>
            </a:pPr>
            <a:r>
              <a:rPr lang="en-US" sz="1900" dirty="0">
                <a:solidFill>
                  <a:schemeClr val="tx1"/>
                </a:solidFill>
              </a:rPr>
              <a:t>PKU es monogénica, recesiva, de gran efecto y con variantes casi siempre raras y codificantes; la persistencia de lactasa depende de variantes comunes en un potenciador regulatorio que cambia la expresión de LCT en el adulto.</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B1-10 · Monogénico frente a regulatorio común</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1 · Respuesta</a:t>
            </a:r>
            <a:endParaRPr lang="en-US" sz="1100" dirty="0"/>
          </a:p>
        </p:txBody>
      </p:sp>
      <p:sp>
        <p:nvSpPr>
          <p:cNvPr id="4" name="caja respuesta"/>
          <p:cNvSpPr/>
          <p:nvPr/>
        </p:nvSpPr>
        <p:spPr>
          <a:xfrm>
            <a:off x="548640" y="1371600"/>
            <a:ext cx="11094415" cy="1005840"/>
          </a:xfrm>
          <a:prstGeom prst="roundRect">
            <a:avLst>
              <a:gd name="adj" fmla="val 10909"/>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859536"/>
          </a:xfrm>
          <a:prstGeom prst="rect">
            <a:avLst/>
          </a:prstGeom>
          <a:noFill/>
          <a:ln/>
        </p:spPr>
        <p:txBody>
          <a:bodyPr wrap="square" lIns="254" tIns="254" rIns="254" bIns="254" rtlCol="0" anchor="ctr"/>
          <a:lstStyle/>
          <a:p>
            <a:pPr indent="0" marL="0">
              <a:buNone/>
            </a:pPr>
            <a:r>
              <a:rPr lang="en-US" sz="1600" b="1" dirty="0">
                <a:solidFill>
                  <a:schemeClr val="tx1"/>
                </a:solidFill>
              </a:rPr>
              <a:t>D)  </a:t>
            </a:r>
            <a:pPr indent="0" marL="0">
              <a:buNone/>
            </a:pPr>
            <a:r>
              <a:rPr lang="en-US" sz="1600" dirty="0">
                <a:solidFill>
                  <a:schemeClr val="tx1"/>
                </a:solidFill>
              </a:rPr>
              <a:t>PKU es monogénica, recesiva, de gran efecto y con variantes casi siempre raras y codificantes; la persistencia de lactasa depende de variantes comunes en un potenciador regulatorio que cambia la expresión de LCT en el adulto.</a:t>
            </a:r>
            <a:endParaRPr lang="en-US" sz="1600" dirty="0"/>
          </a:p>
        </p:txBody>
      </p:sp>
      <p:sp>
        <p:nvSpPr>
          <p:cNvPr id="8" name="circulo icono"/>
          <p:cNvSpPr/>
          <p:nvPr/>
        </p:nvSpPr>
        <p:spPr>
          <a:xfrm>
            <a:off x="548640" y="260604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688336"/>
            <a:ext cx="164592" cy="164592"/>
          </a:xfrm>
          <a:prstGeom prst="rect">
            <a:avLst/>
          </a:prstGeom>
        </p:spPr>
      </p:pic>
      <p:sp>
        <p:nvSpPr>
          <p:cNvPr id="10" name="subtitulo"/>
          <p:cNvSpPr txBox="1"/>
          <p:nvPr/>
        </p:nvSpPr>
        <p:spPr>
          <a:xfrm>
            <a:off x="987552"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3063240"/>
            <a:ext cx="5364328" cy="1511808"/>
          </a:xfrm>
          <a:prstGeom prst="rect">
            <a:avLst/>
          </a:prstGeom>
          <a:noFill/>
          <a:ln/>
        </p:spPr>
        <p:txBody>
          <a:bodyPr wrap="square" lIns="254" tIns="254" rIns="254" bIns="254" rtlCol="0" anchor="t"/>
          <a:lstStyle/>
          <a:p>
            <a:pPr indent="0" marL="0">
              <a:buNone/>
            </a:pPr>
            <a:r>
              <a:rPr lang="en-US" sz="1900" b="1" dirty="0">
                <a:solidFill>
                  <a:schemeClr val="tx1"/>
                </a:solidFill>
              </a:rPr>
              <a:t>Correcta: gran efecto codificante frente a variante regulatoria común.</a:t>
            </a:r>
            <a:pPr indent="0" marL="0">
              <a:buNone/>
            </a:pPr>
            <a:r>
              <a:rPr lang="en-US" sz="1900" dirty="0">
                <a:solidFill>
                  <a:schemeClr val="tx1"/>
                </a:solidFill>
              </a:rPr>
              <a:t> En PKU la pérdida de función de la fenilalanina hidroxilasa es casi determinante; en lactasa, la variante cambia cuándo y cuánto se expresa una enzima normal.</a:t>
            </a:r>
            <a:endParaRPr lang="en-US" sz="1900" dirty="0"/>
          </a:p>
        </p:txBody>
      </p:sp>
      <p:sp>
        <p:nvSpPr>
          <p:cNvPr id="12" name="circulo icono"/>
          <p:cNvSpPr/>
          <p:nvPr/>
        </p:nvSpPr>
        <p:spPr>
          <a:xfrm>
            <a:off x="6278728" y="260604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688336"/>
            <a:ext cx="164592" cy="164592"/>
          </a:xfrm>
          <a:prstGeom prst="rect">
            <a:avLst/>
          </a:prstGeom>
        </p:spPr>
      </p:pic>
      <p:sp>
        <p:nvSpPr>
          <p:cNvPr id="14" name="subtitulo"/>
          <p:cNvSpPr txBox="1"/>
          <p:nvPr/>
        </p:nvSpPr>
        <p:spPr>
          <a:xfrm>
            <a:off x="6717640"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319684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3063240"/>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«Ambas poligénicas»: PKU es el modelo de enfermedad monogénica.</a:t>
            </a:r>
            <a:endParaRPr lang="en-US" sz="1900" dirty="0"/>
          </a:p>
        </p:txBody>
      </p:sp>
      <p:sp>
        <p:nvSpPr>
          <p:cNvPr id="17" name="vineta"/>
          <p:cNvSpPr/>
          <p:nvPr/>
        </p:nvSpPr>
        <p:spPr>
          <a:xfrm>
            <a:off x="6333592" y="389483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761232"/>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«Al revés»: invierte el tipo de variante de cada caso.</a:t>
            </a:r>
            <a:endParaRPr lang="en-US" sz="1900" dirty="0"/>
          </a:p>
        </p:txBody>
      </p:sp>
      <p:sp>
        <p:nvSpPr>
          <p:cNvPr id="19" name="vineta"/>
          <p:cNvSpPr/>
          <p:nvPr/>
        </p:nvSpPr>
        <p:spPr>
          <a:xfrm>
            <a:off x="6333592" y="459282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459224"/>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«La dieta no influye»: en ambos casos la dieta es central (restricción de Phe en PKU; consumo de lactosa en hipolactasia).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B1-11 · ¿Dónde está la variante −13910?</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1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673608"/>
          </a:xfrm>
          <a:prstGeom prst="rect">
            <a:avLst/>
          </a:prstGeom>
          <a:noFill/>
          <a:ln/>
        </p:spPr>
        <p:txBody>
          <a:bodyPr wrap="square" lIns="254" tIns="254" rIns="254" bIns="254" rtlCol="0" anchor="t"/>
          <a:lstStyle/>
          <a:p>
            <a:pPr indent="0" marL="0">
              <a:buNone/>
            </a:pPr>
            <a:r>
              <a:rPr lang="en-US" sz="2000" dirty="0">
                <a:solidFill>
                  <a:schemeClr val="tx1"/>
                </a:solidFill>
              </a:rPr>
              <a:t>La variante −13910C&gt;T (rs4988235), asociada a persistencia de lactasa en europeos, se localiza en el intrón 13 del gen </a:t>
            </a:r>
            <a:pPr indent="0" marL="0">
              <a:buNone/>
            </a:pPr>
            <a:r>
              <a:rPr lang="en-US" sz="2000" i="1" dirty="0">
                <a:solidFill>
                  <a:schemeClr val="tx1"/>
                </a:solidFill>
              </a:rPr>
              <a:t>MCM6</a:t>
            </a:r>
            <a:pPr indent="0" marL="0">
              <a:buNone/>
            </a:pPr>
            <a:r>
              <a:rPr lang="en-US" sz="2000" dirty="0">
                <a:solidFill>
                  <a:schemeClr val="tx1"/>
                </a:solidFill>
              </a:rPr>
              <a:t>, unos 14 kb río arriba de </a:t>
            </a:r>
            <a:pPr indent="0" marL="0">
              <a:buNone/>
            </a:pPr>
            <a:r>
              <a:rPr lang="en-US" sz="2000" i="1" dirty="0">
                <a:solidFill>
                  <a:schemeClr val="tx1"/>
                </a:solidFill>
              </a:rPr>
              <a:t>LCT</a:t>
            </a:r>
            <a:pPr indent="0" marL="0">
              <a:buNone/>
            </a:pPr>
            <a:r>
              <a:rPr lang="en-US" sz="2000" dirty="0">
                <a:solidFill>
                  <a:schemeClr val="tx1"/>
                </a:solidFill>
              </a:rPr>
              <a:t>. ¿Cómo actúa?</a:t>
            </a:r>
            <a:endParaRPr lang="en-US" sz="2000" dirty="0"/>
          </a:p>
        </p:txBody>
      </p:sp>
      <p:sp>
        <p:nvSpPr>
          <p:cNvPr id="6" name="circulo"/>
          <p:cNvSpPr/>
          <p:nvPr/>
        </p:nvSpPr>
        <p:spPr>
          <a:xfrm>
            <a:off x="548640" y="22098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2098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1915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Cambia un aminoácido de la proteína MCM6.</a:t>
            </a:r>
            <a:endParaRPr lang="en-US" sz="1900" dirty="0"/>
          </a:p>
        </p:txBody>
      </p:sp>
      <p:sp>
        <p:nvSpPr>
          <p:cNvPr id="9" name="circulo"/>
          <p:cNvSpPr/>
          <p:nvPr/>
        </p:nvSpPr>
        <p:spPr>
          <a:xfrm>
            <a:off x="548640" y="27218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27218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2703576"/>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Elimina el gen MCM6, lo que libera a LCT.</a:t>
            </a:r>
            <a:endParaRPr lang="en-US" sz="1900" dirty="0"/>
          </a:p>
        </p:txBody>
      </p:sp>
      <p:sp>
        <p:nvSpPr>
          <p:cNvPr id="12" name="circulo"/>
          <p:cNvSpPr/>
          <p:nvPr/>
        </p:nvSpPr>
        <p:spPr>
          <a:xfrm>
            <a:off x="548640" y="3233928"/>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23392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215640"/>
            <a:ext cx="10545775" cy="932688"/>
          </a:xfrm>
          <a:prstGeom prst="rect">
            <a:avLst/>
          </a:prstGeom>
          <a:noFill/>
          <a:ln/>
        </p:spPr>
        <p:txBody>
          <a:bodyPr wrap="square" lIns="254" tIns="254" rIns="254" bIns="254" rtlCol="0" anchor="ctr"/>
          <a:lstStyle/>
          <a:p>
            <a:pPr indent="0" marL="0">
              <a:buNone/>
            </a:pPr>
            <a:r>
              <a:rPr lang="en-US" sz="1900" dirty="0">
                <a:solidFill>
                  <a:schemeClr val="tx1"/>
                </a:solidFill>
              </a:rPr>
              <a:t>Forma parte de un potenciador: el alelo T favorece la unión de factores de transcripción (como Oct-1) y mantiene la transcripción de </a:t>
            </a:r>
            <a:pPr indent="0" marL="0">
              <a:buNone/>
            </a:pPr>
            <a:r>
              <a:rPr lang="en-US" sz="1900" i="1" dirty="0">
                <a:solidFill>
                  <a:schemeClr val="tx1"/>
                </a:solidFill>
              </a:rPr>
              <a:t>LCT</a:t>
            </a:r>
            <a:pPr indent="0" marL="0">
              <a:buNone/>
            </a:pPr>
            <a:r>
              <a:rPr lang="en-US" sz="1900" dirty="0">
                <a:solidFill>
                  <a:schemeClr val="tx1"/>
                </a:solidFill>
              </a:rPr>
              <a:t> en el adulto, sin cambiar la secuencia de la lactasa.</a:t>
            </a:r>
            <a:endParaRPr lang="en-US" sz="1900" dirty="0"/>
          </a:p>
        </p:txBody>
      </p:sp>
      <p:sp>
        <p:nvSpPr>
          <p:cNvPr id="15" name="circulo"/>
          <p:cNvSpPr/>
          <p:nvPr/>
        </p:nvSpPr>
        <p:spPr>
          <a:xfrm>
            <a:off x="548640" y="4258056"/>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425805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4239768"/>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Cambia un aminoácido de la lactasa y la hace más activa.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B1-11 · ¿Dónde está la variante −13910?</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1 · Respuesta</a:t>
            </a:r>
            <a:endParaRPr lang="en-US" sz="1100" dirty="0"/>
          </a:p>
        </p:txBody>
      </p:sp>
      <p:sp>
        <p:nvSpPr>
          <p:cNvPr id="4" name="caja respuesta"/>
          <p:cNvSpPr/>
          <p:nvPr/>
        </p:nvSpPr>
        <p:spPr>
          <a:xfrm>
            <a:off x="548640" y="1371600"/>
            <a:ext cx="11094415" cy="762000"/>
          </a:xfrm>
          <a:prstGeom prst="roundRect">
            <a:avLst>
              <a:gd name="adj" fmla="val 14400"/>
            </a:avLst>
          </a:prstGeom>
          <a:solidFill>
            <a:schemeClr val="bg1"/>
          </a:solidFill>
          <a:ln w="19050">
            <a:solidFill>
              <a:schemeClr val="accent1"/>
            </a:solidFill>
            <a:prstDash val="solid"/>
          </a:ln>
        </p:spPr>
      </p:sp>
      <p:sp>
        <p:nvSpPr>
          <p:cNvPr id="5" name="circulo check"/>
          <p:cNvSpPr/>
          <p:nvPr/>
        </p:nvSpPr>
        <p:spPr>
          <a:xfrm>
            <a:off x="749808" y="152400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33728"/>
            <a:ext cx="237744" cy="237744"/>
          </a:xfrm>
          <a:prstGeom prst="rect">
            <a:avLst/>
          </a:prstGeom>
        </p:spPr>
      </p:pic>
      <p:sp>
        <p:nvSpPr>
          <p:cNvPr id="7" name="respuesta"/>
          <p:cNvSpPr txBox="1"/>
          <p:nvPr/>
        </p:nvSpPr>
        <p:spPr>
          <a:xfrm>
            <a:off x="1371600" y="1444752"/>
            <a:ext cx="10180015" cy="615696"/>
          </a:xfrm>
          <a:prstGeom prst="rect">
            <a:avLst/>
          </a:prstGeom>
          <a:noFill/>
          <a:ln/>
        </p:spPr>
        <p:txBody>
          <a:bodyPr wrap="square" lIns="254" tIns="254" rIns="254" bIns="254" rtlCol="0" anchor="ctr"/>
          <a:lstStyle/>
          <a:p>
            <a:pPr indent="0" marL="0">
              <a:buNone/>
            </a:pPr>
            <a:r>
              <a:rPr lang="en-US" sz="1600" b="1" dirty="0">
                <a:solidFill>
                  <a:schemeClr val="tx1"/>
                </a:solidFill>
              </a:rPr>
              <a:t>C)  </a:t>
            </a:r>
            <a:pPr indent="0" marL="0">
              <a:buNone/>
            </a:pPr>
            <a:r>
              <a:rPr lang="en-US" sz="1600" dirty="0">
                <a:solidFill>
                  <a:schemeClr val="tx1"/>
                </a:solidFill>
              </a:rPr>
              <a:t>Forma parte de un potenciador: el alelo T favorece la unión de factores de transcripción (como Oct-1) y mantiene la transcripción de </a:t>
            </a:r>
            <a:pPr indent="0" marL="0">
              <a:buNone/>
            </a:pPr>
            <a:r>
              <a:rPr lang="en-US" sz="1600" i="1" dirty="0">
                <a:solidFill>
                  <a:schemeClr val="tx1"/>
                </a:solidFill>
              </a:rPr>
              <a:t>LCT</a:t>
            </a:r>
            <a:pPr indent="0" marL="0">
              <a:buNone/>
            </a:pPr>
            <a:r>
              <a:rPr lang="en-US" sz="1600" dirty="0">
                <a:solidFill>
                  <a:schemeClr val="tx1"/>
                </a:solidFill>
              </a:rPr>
              <a:t> en el adulto, sin cambiar la secuencia de la lactasa.</a:t>
            </a:r>
            <a:endParaRPr lang="en-US" sz="1600" dirty="0"/>
          </a:p>
        </p:txBody>
      </p:sp>
      <p:sp>
        <p:nvSpPr>
          <p:cNvPr id="8" name="circulo icono"/>
          <p:cNvSpPr/>
          <p:nvPr/>
        </p:nvSpPr>
        <p:spPr>
          <a:xfrm>
            <a:off x="548640" y="236220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444496"/>
            <a:ext cx="164592" cy="164592"/>
          </a:xfrm>
          <a:prstGeom prst="rect">
            <a:avLst/>
          </a:prstGeom>
        </p:spPr>
      </p:pic>
      <p:sp>
        <p:nvSpPr>
          <p:cNvPr id="10" name="subtitulo"/>
          <p:cNvSpPr txBox="1"/>
          <p:nvPr/>
        </p:nvSpPr>
        <p:spPr>
          <a:xfrm>
            <a:off x="987552"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2819400"/>
            <a:ext cx="5364328" cy="1511808"/>
          </a:xfrm>
          <a:prstGeom prst="rect">
            <a:avLst/>
          </a:prstGeom>
          <a:noFill/>
          <a:ln/>
        </p:spPr>
        <p:txBody>
          <a:bodyPr wrap="square" lIns="254" tIns="254" rIns="254" bIns="254" rtlCol="0" anchor="t"/>
          <a:lstStyle/>
          <a:p>
            <a:pPr indent="0" marL="0">
              <a:buNone/>
            </a:pPr>
            <a:r>
              <a:rPr lang="en-US" sz="1900" b="1" dirty="0">
                <a:solidFill>
                  <a:schemeClr val="tx1"/>
                </a:solidFill>
              </a:rPr>
              <a:t>Correcta: potenciador regulatorio a distancia.</a:t>
            </a:r>
            <a:pPr indent="0" marL="0">
              <a:buNone/>
            </a:pPr>
            <a:r>
              <a:rPr lang="en-US" sz="1900" dirty="0">
                <a:solidFill>
                  <a:schemeClr val="tx1"/>
                </a:solidFill>
              </a:rPr>
              <a:t> Un intrón de un gen vecino puede contener elementos que regulan a otro gen; por eso el «gen asignado» en una base de datos no siempre es el gen efector.</a:t>
            </a:r>
            <a:endParaRPr lang="en-US" sz="1900" dirty="0"/>
          </a:p>
        </p:txBody>
      </p:sp>
      <p:sp>
        <p:nvSpPr>
          <p:cNvPr id="12" name="circulo icono"/>
          <p:cNvSpPr/>
          <p:nvPr/>
        </p:nvSpPr>
        <p:spPr>
          <a:xfrm>
            <a:off x="6278728" y="236220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444496"/>
            <a:ext cx="164592" cy="164592"/>
          </a:xfrm>
          <a:prstGeom prst="rect">
            <a:avLst/>
          </a:prstGeom>
        </p:spPr>
      </p:pic>
      <p:sp>
        <p:nvSpPr>
          <p:cNvPr id="14" name="subtitulo"/>
          <p:cNvSpPr txBox="1"/>
          <p:nvPr/>
        </p:nvSpPr>
        <p:spPr>
          <a:xfrm>
            <a:off x="6717640"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295300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2819400"/>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«Cambia un aminoácido de MCM6»: los intrones no se traducen.</a:t>
            </a:r>
            <a:endParaRPr lang="en-US" sz="1900" dirty="0"/>
          </a:p>
        </p:txBody>
      </p:sp>
      <p:sp>
        <p:nvSpPr>
          <p:cNvPr id="17" name="vineta"/>
          <p:cNvSpPr/>
          <p:nvPr/>
        </p:nvSpPr>
        <p:spPr>
          <a:xfrm>
            <a:off x="6333592" y="365099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517392"/>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«Cambia un aminoácido de la lactasa»: la variante no está en LCT y la enzima es la misma; cambia su cantidad.</a:t>
            </a:r>
            <a:endParaRPr lang="en-US" sz="1900" dirty="0"/>
          </a:p>
        </p:txBody>
      </p:sp>
      <p:sp>
        <p:nvSpPr>
          <p:cNvPr id="19" name="vineta"/>
          <p:cNvSpPr/>
          <p:nvPr/>
        </p:nvSpPr>
        <p:spPr>
          <a:xfrm>
            <a:off x="6333592" y="463854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504944"/>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«Elimina MCM6»: es un SNP, no una deleción del gen.</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B1-12 · Hipolactasia, malabsorción e intolerancia</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1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368808"/>
          </a:xfrm>
          <a:prstGeom prst="rect">
            <a:avLst/>
          </a:prstGeom>
          <a:noFill/>
          <a:ln/>
        </p:spPr>
        <p:txBody>
          <a:bodyPr wrap="square" lIns="254" tIns="254" rIns="254" bIns="254" rtlCol="0" anchor="t"/>
          <a:lstStyle/>
          <a:p>
            <a:pPr indent="0" marL="0">
              <a:buNone/>
            </a:pPr>
            <a:r>
              <a:rPr lang="en-US" sz="2000" dirty="0">
                <a:solidFill>
                  <a:schemeClr val="tx1"/>
                </a:solidFill>
              </a:rPr>
              <a:t>¿Cuál conjunto de definiciones es correcto?</a:t>
            </a:r>
            <a:endParaRPr lang="en-US" sz="2000" dirty="0"/>
          </a:p>
        </p:txBody>
      </p:sp>
      <p:sp>
        <p:nvSpPr>
          <p:cNvPr id="6" name="circulo"/>
          <p:cNvSpPr/>
          <p:nvPr/>
        </p:nvSpPr>
        <p:spPr>
          <a:xfrm>
            <a:off x="548640" y="19050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19050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1886712"/>
            <a:ext cx="10545775" cy="932688"/>
          </a:xfrm>
          <a:prstGeom prst="rect">
            <a:avLst/>
          </a:prstGeom>
          <a:noFill/>
          <a:ln/>
        </p:spPr>
        <p:txBody>
          <a:bodyPr wrap="square" lIns="254" tIns="254" rIns="254" bIns="254" rtlCol="0" anchor="ctr"/>
          <a:lstStyle/>
          <a:p>
            <a:pPr indent="0" marL="0">
              <a:buNone/>
            </a:pPr>
            <a:r>
              <a:rPr lang="en-US" sz="1900" dirty="0">
                <a:solidFill>
                  <a:schemeClr val="tx1"/>
                </a:solidFill>
              </a:rPr>
              <a:t>Hipolactasia: baja actividad de lactasa en el borde en cepillo. Malabsorción: la lactosa no se absorbe por completo (se demuestra, p. ej., con prueba de hidrógeno espirado). Intolerancia: aparición de síntomas tras ingerir lactosa.</a:t>
            </a:r>
            <a:endParaRPr lang="en-US" sz="1900" dirty="0"/>
          </a:p>
        </p:txBody>
      </p:sp>
      <p:sp>
        <p:nvSpPr>
          <p:cNvPr id="9" name="circulo"/>
          <p:cNvSpPr/>
          <p:nvPr/>
        </p:nvSpPr>
        <p:spPr>
          <a:xfrm>
            <a:off x="548640" y="2929128"/>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292912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2910840"/>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Hipolactasia es una alergia a la proteína de la leche.</a:t>
            </a:r>
            <a:endParaRPr lang="en-US" sz="1900" dirty="0"/>
          </a:p>
        </p:txBody>
      </p:sp>
      <p:sp>
        <p:nvSpPr>
          <p:cNvPr id="12" name="circulo"/>
          <p:cNvSpPr/>
          <p:nvPr/>
        </p:nvSpPr>
        <p:spPr>
          <a:xfrm>
            <a:off x="548640" y="3441192"/>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4411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422904"/>
            <a:ext cx="10545775" cy="643128"/>
          </a:xfrm>
          <a:prstGeom prst="rect">
            <a:avLst/>
          </a:prstGeom>
          <a:noFill/>
          <a:ln/>
        </p:spPr>
        <p:txBody>
          <a:bodyPr wrap="square" lIns="254" tIns="254" rIns="254" bIns="254" rtlCol="0" anchor="ctr"/>
          <a:lstStyle/>
          <a:p>
            <a:pPr indent="0" marL="0">
              <a:buNone/>
            </a:pPr>
            <a:r>
              <a:rPr lang="en-US" sz="1900" dirty="0">
                <a:solidFill>
                  <a:schemeClr val="tx1"/>
                </a:solidFill>
              </a:rPr>
              <a:t>Intolerancia es la causa genética, malabsorción el síntoma e hipolactasia la prueba de laboratorio.</a:t>
            </a:r>
            <a:endParaRPr lang="en-US" sz="1900" dirty="0"/>
          </a:p>
        </p:txBody>
      </p:sp>
      <p:sp>
        <p:nvSpPr>
          <p:cNvPr id="15" name="circulo"/>
          <p:cNvSpPr/>
          <p:nvPr/>
        </p:nvSpPr>
        <p:spPr>
          <a:xfrm>
            <a:off x="548640" y="4175760"/>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417576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415747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Son sinónimos.</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B1-12 · Hipolactasia, malabsorción e intolerancia</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1 · Respuesta</a:t>
            </a:r>
            <a:endParaRPr lang="en-US" sz="1100" dirty="0"/>
          </a:p>
        </p:txBody>
      </p:sp>
      <p:sp>
        <p:nvSpPr>
          <p:cNvPr id="4" name="caja respuesta"/>
          <p:cNvSpPr/>
          <p:nvPr/>
        </p:nvSpPr>
        <p:spPr>
          <a:xfrm>
            <a:off x="548640" y="1371600"/>
            <a:ext cx="11094415" cy="1005840"/>
          </a:xfrm>
          <a:prstGeom prst="roundRect">
            <a:avLst>
              <a:gd name="adj" fmla="val 10909"/>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859536"/>
          </a:xfrm>
          <a:prstGeom prst="rect">
            <a:avLst/>
          </a:prstGeom>
          <a:noFill/>
          <a:ln/>
        </p:spPr>
        <p:txBody>
          <a:bodyPr wrap="square" lIns="254" tIns="254" rIns="254" bIns="254" rtlCol="0" anchor="ctr"/>
          <a:lstStyle/>
          <a:p>
            <a:pPr indent="0" marL="0">
              <a:buNone/>
            </a:pPr>
            <a:r>
              <a:rPr lang="en-US" sz="1600" b="1" dirty="0">
                <a:solidFill>
                  <a:schemeClr val="tx1"/>
                </a:solidFill>
              </a:rPr>
              <a:t>A)  </a:t>
            </a:r>
            <a:pPr indent="0" marL="0">
              <a:buNone/>
            </a:pPr>
            <a:r>
              <a:rPr lang="en-US" sz="1600" dirty="0">
                <a:solidFill>
                  <a:schemeClr val="tx1"/>
                </a:solidFill>
              </a:rPr>
              <a:t>Hipolactasia: baja actividad de lactasa en el borde en cepillo. Malabsorción: la lactosa no se absorbe por completo (se demuestra, p. ej., con prueba de hidrógeno espirado). Intolerancia: aparición de síntomas tras ingerir lactosa.</a:t>
            </a:r>
            <a:endParaRPr lang="en-US" sz="1600" dirty="0"/>
          </a:p>
        </p:txBody>
      </p:sp>
      <p:sp>
        <p:nvSpPr>
          <p:cNvPr id="8" name="circulo icono"/>
          <p:cNvSpPr/>
          <p:nvPr/>
        </p:nvSpPr>
        <p:spPr>
          <a:xfrm>
            <a:off x="548640" y="260604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688336"/>
            <a:ext cx="164592" cy="164592"/>
          </a:xfrm>
          <a:prstGeom prst="rect">
            <a:avLst/>
          </a:prstGeom>
        </p:spPr>
      </p:pic>
      <p:sp>
        <p:nvSpPr>
          <p:cNvPr id="10" name="subtitulo"/>
          <p:cNvSpPr txBox="1"/>
          <p:nvPr/>
        </p:nvSpPr>
        <p:spPr>
          <a:xfrm>
            <a:off x="987552"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3063240"/>
            <a:ext cx="5364328" cy="1511808"/>
          </a:xfrm>
          <a:prstGeom prst="rect">
            <a:avLst/>
          </a:prstGeom>
          <a:noFill/>
          <a:ln/>
        </p:spPr>
        <p:txBody>
          <a:bodyPr wrap="square" lIns="254" tIns="254" rIns="254" bIns="254" rtlCol="0" anchor="t"/>
          <a:lstStyle/>
          <a:p>
            <a:pPr indent="0" marL="0">
              <a:buNone/>
            </a:pPr>
            <a:r>
              <a:rPr lang="en-US" sz="1900" b="1" dirty="0">
                <a:solidFill>
                  <a:schemeClr val="tx1"/>
                </a:solidFill>
              </a:rPr>
              <a:t>Correcta: son tres niveles distintos: enzima, absorción y síntomas.</a:t>
            </a:r>
            <a:pPr indent="0" marL="0">
              <a:buNone/>
            </a:pPr>
            <a:r>
              <a:rPr lang="en-US" sz="1900" dirty="0">
                <a:solidFill>
                  <a:schemeClr val="tx1"/>
                </a:solidFill>
              </a:rPr>
              <a:t> Una persona puede tener hipolactasia y malabsorción sin síntomas (sin intolerancia), según la dosis de lactosa y su microbiota.</a:t>
            </a:r>
            <a:endParaRPr lang="en-US" sz="1900" dirty="0"/>
          </a:p>
        </p:txBody>
      </p:sp>
      <p:sp>
        <p:nvSpPr>
          <p:cNvPr id="12" name="circulo icono"/>
          <p:cNvSpPr/>
          <p:nvPr/>
        </p:nvSpPr>
        <p:spPr>
          <a:xfrm>
            <a:off x="6278728" y="260604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688336"/>
            <a:ext cx="164592" cy="164592"/>
          </a:xfrm>
          <a:prstGeom prst="rect">
            <a:avLst/>
          </a:prstGeom>
        </p:spPr>
      </p:pic>
      <p:sp>
        <p:nvSpPr>
          <p:cNvPr id="14" name="subtitulo"/>
          <p:cNvSpPr txBox="1"/>
          <p:nvPr/>
        </p:nvSpPr>
        <p:spPr>
          <a:xfrm>
            <a:off x="6717640"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319684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3063240"/>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«Sinónimos»: confundirlos lleva a diagnósticos erróneos.</a:t>
            </a:r>
            <a:endParaRPr lang="en-US" sz="1900" dirty="0"/>
          </a:p>
        </p:txBody>
      </p:sp>
      <p:sp>
        <p:nvSpPr>
          <p:cNvPr id="17" name="vineta"/>
          <p:cNvSpPr/>
          <p:nvPr/>
        </p:nvSpPr>
        <p:spPr>
          <a:xfrm>
            <a:off x="6333592" y="389483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761232"/>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«Intolerancia = causa genética»: la genética explica la hipolactasia; la intolerancia es clínica.</a:t>
            </a:r>
            <a:endParaRPr lang="en-US" sz="1900" dirty="0"/>
          </a:p>
        </p:txBody>
      </p:sp>
      <p:sp>
        <p:nvSpPr>
          <p:cNvPr id="19" name="vineta"/>
          <p:cNvSpPr/>
          <p:nvPr/>
        </p:nvSpPr>
        <p:spPr>
          <a:xfrm>
            <a:off x="6333592" y="488238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748784"/>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«Alergia a la proteína»: la alergia a proteínas de leche es inmunológica y distinta de la hipolactasia.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B1-13 · MTHFR C677T</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1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368808"/>
          </a:xfrm>
          <a:prstGeom prst="rect">
            <a:avLst/>
          </a:prstGeom>
          <a:noFill/>
          <a:ln/>
        </p:spPr>
        <p:txBody>
          <a:bodyPr wrap="square" lIns="254" tIns="254" rIns="254" bIns="254" rtlCol="0" anchor="t"/>
          <a:lstStyle/>
          <a:p>
            <a:pPr indent="0" marL="0">
              <a:buNone/>
            </a:pPr>
            <a:r>
              <a:rPr lang="en-US" sz="2000" dirty="0">
                <a:solidFill>
                  <a:schemeClr val="tx1"/>
                </a:solidFill>
              </a:rPr>
              <a:t>¿Qué describe correctamente la variante </a:t>
            </a:r>
            <a:pPr indent="0" marL="0">
              <a:buNone/>
            </a:pPr>
            <a:r>
              <a:rPr lang="en-US" sz="2000" i="1" dirty="0">
                <a:solidFill>
                  <a:schemeClr val="tx1"/>
                </a:solidFill>
              </a:rPr>
              <a:t>MTHFR</a:t>
            </a:r>
            <a:pPr indent="0" marL="0">
              <a:buNone/>
            </a:pPr>
            <a:r>
              <a:rPr lang="en-US" sz="2000" dirty="0">
                <a:solidFill>
                  <a:schemeClr val="tx1"/>
                </a:solidFill>
              </a:rPr>
              <a:t> C677T?</a:t>
            </a:r>
            <a:endParaRPr lang="en-US" sz="2000" dirty="0"/>
          </a:p>
        </p:txBody>
      </p:sp>
      <p:sp>
        <p:nvSpPr>
          <p:cNvPr id="6" name="circulo"/>
          <p:cNvSpPr/>
          <p:nvPr/>
        </p:nvSpPr>
        <p:spPr>
          <a:xfrm>
            <a:off x="548640" y="19050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19050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18867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Es nonsense: produce una enzima truncada sin actividad.</a:t>
            </a:r>
            <a:endParaRPr lang="en-US" sz="1900" dirty="0"/>
          </a:p>
        </p:txBody>
      </p:sp>
      <p:sp>
        <p:nvSpPr>
          <p:cNvPr id="9" name="circulo"/>
          <p:cNvSpPr/>
          <p:nvPr/>
        </p:nvSpPr>
        <p:spPr>
          <a:xfrm>
            <a:off x="548640" y="24170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24170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2398776"/>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Es sinónima y no tiene efecto.</a:t>
            </a:r>
            <a:endParaRPr lang="en-US" sz="1900" dirty="0"/>
          </a:p>
        </p:txBody>
      </p:sp>
      <p:sp>
        <p:nvSpPr>
          <p:cNvPr id="12" name="circulo"/>
          <p:cNvSpPr/>
          <p:nvPr/>
        </p:nvSpPr>
        <p:spPr>
          <a:xfrm>
            <a:off x="548640" y="2929128"/>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292912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2910840"/>
            <a:ext cx="10545775" cy="643128"/>
          </a:xfrm>
          <a:prstGeom prst="rect">
            <a:avLst/>
          </a:prstGeom>
          <a:noFill/>
          <a:ln/>
        </p:spPr>
        <p:txBody>
          <a:bodyPr wrap="square" lIns="254" tIns="254" rIns="254" bIns="254" rtlCol="0" anchor="ctr"/>
          <a:lstStyle/>
          <a:p>
            <a:pPr indent="0" marL="0">
              <a:buNone/>
            </a:pPr>
            <a:r>
              <a:rPr lang="en-US" sz="1900" dirty="0">
                <a:solidFill>
                  <a:schemeClr val="tx1"/>
                </a:solidFill>
              </a:rPr>
              <a:t>Es missense (Ala222Val): produce una enzima termolábil con menor actividad; con folato bajo, los homocigotos TT tienden a tener homocisteína más alta.</a:t>
            </a:r>
            <a:endParaRPr lang="en-US" sz="1900" dirty="0"/>
          </a:p>
        </p:txBody>
      </p:sp>
      <p:sp>
        <p:nvSpPr>
          <p:cNvPr id="15" name="circulo"/>
          <p:cNvSpPr/>
          <p:nvPr/>
        </p:nvSpPr>
        <p:spPr>
          <a:xfrm>
            <a:off x="548640" y="3663696"/>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366369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3645408"/>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Aumenta la actividad de MTHFR y baja la homocisteína.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B1-13 · MTHFR C677T</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1 · Respuesta</a:t>
            </a:r>
            <a:endParaRPr lang="en-US" sz="1100" dirty="0"/>
          </a:p>
        </p:txBody>
      </p:sp>
      <p:sp>
        <p:nvSpPr>
          <p:cNvPr id="4" name="caja respuesta"/>
          <p:cNvSpPr/>
          <p:nvPr/>
        </p:nvSpPr>
        <p:spPr>
          <a:xfrm>
            <a:off x="548640" y="1371600"/>
            <a:ext cx="11094415" cy="762000"/>
          </a:xfrm>
          <a:prstGeom prst="roundRect">
            <a:avLst>
              <a:gd name="adj" fmla="val 14400"/>
            </a:avLst>
          </a:prstGeom>
          <a:solidFill>
            <a:schemeClr val="bg1"/>
          </a:solidFill>
          <a:ln w="19050">
            <a:solidFill>
              <a:schemeClr val="accent1"/>
            </a:solidFill>
            <a:prstDash val="solid"/>
          </a:ln>
        </p:spPr>
      </p:sp>
      <p:sp>
        <p:nvSpPr>
          <p:cNvPr id="5" name="circulo check"/>
          <p:cNvSpPr/>
          <p:nvPr/>
        </p:nvSpPr>
        <p:spPr>
          <a:xfrm>
            <a:off x="749808" y="152400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33728"/>
            <a:ext cx="237744" cy="237744"/>
          </a:xfrm>
          <a:prstGeom prst="rect">
            <a:avLst/>
          </a:prstGeom>
        </p:spPr>
      </p:pic>
      <p:sp>
        <p:nvSpPr>
          <p:cNvPr id="7" name="respuesta"/>
          <p:cNvSpPr txBox="1"/>
          <p:nvPr/>
        </p:nvSpPr>
        <p:spPr>
          <a:xfrm>
            <a:off x="1371600" y="1444752"/>
            <a:ext cx="10180015" cy="615696"/>
          </a:xfrm>
          <a:prstGeom prst="rect">
            <a:avLst/>
          </a:prstGeom>
          <a:noFill/>
          <a:ln/>
        </p:spPr>
        <p:txBody>
          <a:bodyPr wrap="square" lIns="254" tIns="254" rIns="254" bIns="254" rtlCol="0" anchor="ctr"/>
          <a:lstStyle/>
          <a:p>
            <a:pPr indent="0" marL="0">
              <a:buNone/>
            </a:pPr>
            <a:r>
              <a:rPr lang="en-US" sz="1600" b="1" dirty="0">
                <a:solidFill>
                  <a:schemeClr val="tx1"/>
                </a:solidFill>
              </a:rPr>
              <a:t>C)  </a:t>
            </a:r>
            <a:pPr indent="0" marL="0">
              <a:buNone/>
            </a:pPr>
            <a:r>
              <a:rPr lang="en-US" sz="1600" dirty="0">
                <a:solidFill>
                  <a:schemeClr val="tx1"/>
                </a:solidFill>
              </a:rPr>
              <a:t>Es missense (Ala222Val): produce una enzima termolábil con menor actividad; con folato bajo, los homocigotos TT tienden a tener homocisteína más alta.</a:t>
            </a:r>
            <a:endParaRPr lang="en-US" sz="1600" dirty="0"/>
          </a:p>
        </p:txBody>
      </p:sp>
      <p:sp>
        <p:nvSpPr>
          <p:cNvPr id="8" name="circulo icono"/>
          <p:cNvSpPr/>
          <p:nvPr/>
        </p:nvSpPr>
        <p:spPr>
          <a:xfrm>
            <a:off x="548640" y="236220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444496"/>
            <a:ext cx="164592" cy="164592"/>
          </a:xfrm>
          <a:prstGeom prst="rect">
            <a:avLst/>
          </a:prstGeom>
        </p:spPr>
      </p:pic>
      <p:sp>
        <p:nvSpPr>
          <p:cNvPr id="10" name="subtitulo"/>
          <p:cNvSpPr txBox="1"/>
          <p:nvPr/>
        </p:nvSpPr>
        <p:spPr>
          <a:xfrm>
            <a:off x="987552"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2819400"/>
            <a:ext cx="5364328" cy="1222248"/>
          </a:xfrm>
          <a:prstGeom prst="rect">
            <a:avLst/>
          </a:prstGeom>
          <a:noFill/>
          <a:ln/>
        </p:spPr>
        <p:txBody>
          <a:bodyPr wrap="square" lIns="254" tIns="254" rIns="254" bIns="254" rtlCol="0" anchor="t"/>
          <a:lstStyle/>
          <a:p>
            <a:pPr indent="0" marL="0">
              <a:buNone/>
            </a:pPr>
            <a:r>
              <a:rPr lang="en-US" sz="1900" b="1" dirty="0">
                <a:solidFill>
                  <a:schemeClr val="tx1"/>
                </a:solidFill>
              </a:rPr>
              <a:t>Correcta: missense termolábil con interacción gen–folato.</a:t>
            </a:r>
            <a:pPr indent="0" marL="0">
              <a:buNone/>
            </a:pPr>
            <a:r>
              <a:rPr lang="en-US" sz="1900" dirty="0">
                <a:solidFill>
                  <a:schemeClr val="tx1"/>
                </a:solidFill>
              </a:rPr>
              <a:t> El efecto del genotipo depende del estado de folato (y de riboflavina, precursora del FAD que usa MTHFR).</a:t>
            </a:r>
            <a:endParaRPr lang="en-US" sz="1900" dirty="0"/>
          </a:p>
        </p:txBody>
      </p:sp>
      <p:sp>
        <p:nvSpPr>
          <p:cNvPr id="12" name="circulo icono"/>
          <p:cNvSpPr/>
          <p:nvPr/>
        </p:nvSpPr>
        <p:spPr>
          <a:xfrm>
            <a:off x="6278728" y="236220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444496"/>
            <a:ext cx="164592" cy="164592"/>
          </a:xfrm>
          <a:prstGeom prst="rect">
            <a:avLst/>
          </a:prstGeom>
        </p:spPr>
      </p:pic>
      <p:sp>
        <p:nvSpPr>
          <p:cNvPr id="14" name="subtitulo"/>
          <p:cNvSpPr txBox="1"/>
          <p:nvPr/>
        </p:nvSpPr>
        <p:spPr>
          <a:xfrm>
            <a:off x="6717640"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295300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2819400"/>
            <a:ext cx="5108296" cy="353568"/>
          </a:xfrm>
          <a:prstGeom prst="rect">
            <a:avLst/>
          </a:prstGeom>
          <a:noFill/>
          <a:ln/>
        </p:spPr>
        <p:txBody>
          <a:bodyPr wrap="square" lIns="254" tIns="254" rIns="254" bIns="254" rtlCol="0" anchor="t"/>
          <a:lstStyle/>
          <a:p>
            <a:pPr indent="0" marL="0">
              <a:buNone/>
            </a:pPr>
            <a:r>
              <a:rPr lang="en-US" sz="1900" dirty="0">
                <a:solidFill>
                  <a:schemeClr val="tx1"/>
                </a:solidFill>
              </a:rPr>
              <a:t>«Nonsense»: no crea codón de paro.</a:t>
            </a:r>
            <a:endParaRPr lang="en-US" sz="1900" dirty="0"/>
          </a:p>
        </p:txBody>
      </p:sp>
      <p:sp>
        <p:nvSpPr>
          <p:cNvPr id="17" name="vineta"/>
          <p:cNvSpPr/>
          <p:nvPr/>
        </p:nvSpPr>
        <p:spPr>
          <a:xfrm>
            <a:off x="6333592" y="336143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227832"/>
            <a:ext cx="5108296" cy="353568"/>
          </a:xfrm>
          <a:prstGeom prst="rect">
            <a:avLst/>
          </a:prstGeom>
          <a:noFill/>
          <a:ln/>
        </p:spPr>
        <p:txBody>
          <a:bodyPr wrap="square" lIns="254" tIns="254" rIns="254" bIns="254" rtlCol="0" anchor="t"/>
          <a:lstStyle/>
          <a:p>
            <a:pPr indent="0" marL="0">
              <a:buNone/>
            </a:pPr>
            <a:r>
              <a:rPr lang="en-US" sz="1900" dirty="0">
                <a:solidFill>
                  <a:schemeClr val="tx1"/>
                </a:solidFill>
              </a:rPr>
              <a:t>«Sinónima»: cambia alanina por valina.</a:t>
            </a:r>
            <a:endParaRPr lang="en-US" sz="1900" dirty="0"/>
          </a:p>
        </p:txBody>
      </p:sp>
      <p:sp>
        <p:nvSpPr>
          <p:cNvPr id="19" name="vineta"/>
          <p:cNvSpPr/>
          <p:nvPr/>
        </p:nvSpPr>
        <p:spPr>
          <a:xfrm>
            <a:off x="6333592" y="376986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3636264"/>
            <a:ext cx="5108296" cy="353568"/>
          </a:xfrm>
          <a:prstGeom prst="rect">
            <a:avLst/>
          </a:prstGeom>
          <a:noFill/>
          <a:ln/>
        </p:spPr>
        <p:txBody>
          <a:bodyPr wrap="square" lIns="254" tIns="254" rIns="254" bIns="254" rtlCol="0" anchor="t"/>
          <a:lstStyle/>
          <a:p>
            <a:pPr indent="0" marL="0">
              <a:buNone/>
            </a:pPr>
            <a:r>
              <a:rPr lang="en-US" sz="1900" dirty="0">
                <a:solidFill>
                  <a:schemeClr val="tx1"/>
                </a:solidFill>
              </a:rPr>
              <a:t>«Aumenta la actividad»: la reduce.</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B1-14 · FTO rs9939609</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1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368808"/>
          </a:xfrm>
          <a:prstGeom prst="rect">
            <a:avLst/>
          </a:prstGeom>
          <a:noFill/>
          <a:ln/>
        </p:spPr>
        <p:txBody>
          <a:bodyPr wrap="square" lIns="254" tIns="254" rIns="254" bIns="254" rtlCol="0" anchor="t"/>
          <a:lstStyle/>
          <a:p>
            <a:pPr indent="0" marL="0">
              <a:buNone/>
            </a:pPr>
            <a:r>
              <a:rPr lang="en-US" sz="2000" dirty="0">
                <a:solidFill>
                  <a:schemeClr val="tx1"/>
                </a:solidFill>
              </a:rPr>
              <a:t>¿Qué afirmación sobre el alelo A de </a:t>
            </a:r>
            <a:pPr indent="0" marL="0">
              <a:buNone/>
            </a:pPr>
            <a:r>
              <a:rPr lang="en-US" sz="2000" i="1" dirty="0">
                <a:solidFill>
                  <a:schemeClr val="tx1"/>
                </a:solidFill>
              </a:rPr>
              <a:t>FTO</a:t>
            </a:r>
            <a:pPr indent="0" marL="0">
              <a:buNone/>
            </a:pPr>
            <a:r>
              <a:rPr lang="en-US" sz="2000" dirty="0">
                <a:solidFill>
                  <a:schemeClr val="tx1"/>
                </a:solidFill>
              </a:rPr>
              <a:t> rs9939609 está mejor sustentada?</a:t>
            </a:r>
            <a:endParaRPr lang="en-US" sz="2000" dirty="0"/>
          </a:p>
        </p:txBody>
      </p:sp>
      <p:sp>
        <p:nvSpPr>
          <p:cNvPr id="6" name="circulo"/>
          <p:cNvSpPr/>
          <p:nvPr/>
        </p:nvSpPr>
        <p:spPr>
          <a:xfrm>
            <a:off x="548640" y="19050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19050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1886712"/>
            <a:ext cx="10545775" cy="643128"/>
          </a:xfrm>
          <a:prstGeom prst="rect">
            <a:avLst/>
          </a:prstGeom>
          <a:noFill/>
          <a:ln/>
        </p:spPr>
        <p:txBody>
          <a:bodyPr wrap="square" lIns="254" tIns="254" rIns="254" bIns="254" rtlCol="0" anchor="ctr"/>
          <a:lstStyle/>
          <a:p>
            <a:pPr indent="0" marL="0">
              <a:buNone/>
            </a:pPr>
            <a:r>
              <a:rPr lang="en-US" sz="1900" dirty="0">
                <a:solidFill>
                  <a:schemeClr val="tx1"/>
                </a:solidFill>
              </a:rPr>
              <a:t>Cada copia del alelo A se asocia con más masa grasa y mayor riesgo de obesidad, con un efecto modesto (del orden de 1–1.5 kg por alelo) que se atenúa en personas físicamente activas.</a:t>
            </a:r>
            <a:endParaRPr lang="en-US" sz="1900" dirty="0"/>
          </a:p>
        </p:txBody>
      </p:sp>
      <p:sp>
        <p:nvSpPr>
          <p:cNvPr id="9" name="circulo"/>
          <p:cNvSpPr/>
          <p:nvPr/>
        </p:nvSpPr>
        <p:spPr>
          <a:xfrm>
            <a:off x="548640" y="2639568"/>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263956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2621280"/>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Explica la mayor parte de la variación del IMC en la población.</a:t>
            </a:r>
            <a:endParaRPr lang="en-US" sz="1900" dirty="0"/>
          </a:p>
        </p:txBody>
      </p:sp>
      <p:sp>
        <p:nvSpPr>
          <p:cNvPr id="12" name="circulo"/>
          <p:cNvSpPr/>
          <p:nvPr/>
        </p:nvSpPr>
        <p:spPr>
          <a:xfrm>
            <a:off x="548640" y="3151632"/>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15163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133344"/>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Los homocigotos AA desarrollan obesidad con certeza.</a:t>
            </a:r>
            <a:endParaRPr lang="en-US" sz="1900" dirty="0"/>
          </a:p>
        </p:txBody>
      </p:sp>
      <p:sp>
        <p:nvSpPr>
          <p:cNvPr id="15" name="circulo"/>
          <p:cNvSpPr/>
          <p:nvPr/>
        </p:nvSpPr>
        <p:spPr>
          <a:xfrm>
            <a:off x="548640" y="3663696"/>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366369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3645408"/>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Es una variante nonsense que elimina la proteína FTO.</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B1-14 · FTO rs9939609</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1 · Respuesta</a:t>
            </a:r>
            <a:endParaRPr lang="en-US" sz="1100" dirty="0"/>
          </a:p>
        </p:txBody>
      </p:sp>
      <p:sp>
        <p:nvSpPr>
          <p:cNvPr id="4" name="caja respuesta"/>
          <p:cNvSpPr/>
          <p:nvPr/>
        </p:nvSpPr>
        <p:spPr>
          <a:xfrm>
            <a:off x="548640" y="1371600"/>
            <a:ext cx="11094415" cy="762000"/>
          </a:xfrm>
          <a:prstGeom prst="roundRect">
            <a:avLst>
              <a:gd name="adj" fmla="val 14400"/>
            </a:avLst>
          </a:prstGeom>
          <a:solidFill>
            <a:schemeClr val="bg1"/>
          </a:solidFill>
          <a:ln w="19050">
            <a:solidFill>
              <a:schemeClr val="accent1"/>
            </a:solidFill>
            <a:prstDash val="solid"/>
          </a:ln>
        </p:spPr>
      </p:sp>
      <p:sp>
        <p:nvSpPr>
          <p:cNvPr id="5" name="circulo check"/>
          <p:cNvSpPr/>
          <p:nvPr/>
        </p:nvSpPr>
        <p:spPr>
          <a:xfrm>
            <a:off x="749808" y="152400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33728"/>
            <a:ext cx="237744" cy="237744"/>
          </a:xfrm>
          <a:prstGeom prst="rect">
            <a:avLst/>
          </a:prstGeom>
        </p:spPr>
      </p:pic>
      <p:sp>
        <p:nvSpPr>
          <p:cNvPr id="7" name="respuesta"/>
          <p:cNvSpPr txBox="1"/>
          <p:nvPr/>
        </p:nvSpPr>
        <p:spPr>
          <a:xfrm>
            <a:off x="1371600" y="1444752"/>
            <a:ext cx="10180015" cy="615696"/>
          </a:xfrm>
          <a:prstGeom prst="rect">
            <a:avLst/>
          </a:prstGeom>
          <a:noFill/>
          <a:ln/>
        </p:spPr>
        <p:txBody>
          <a:bodyPr wrap="square" lIns="254" tIns="254" rIns="254" bIns="254" rtlCol="0" anchor="ctr"/>
          <a:lstStyle/>
          <a:p>
            <a:pPr indent="0" marL="0">
              <a:buNone/>
            </a:pPr>
            <a:r>
              <a:rPr lang="en-US" sz="1600" b="1" dirty="0">
                <a:solidFill>
                  <a:schemeClr val="tx1"/>
                </a:solidFill>
              </a:rPr>
              <a:t>A)  </a:t>
            </a:r>
            <a:pPr indent="0" marL="0">
              <a:buNone/>
            </a:pPr>
            <a:r>
              <a:rPr lang="en-US" sz="1600" dirty="0">
                <a:solidFill>
                  <a:schemeClr val="tx1"/>
                </a:solidFill>
              </a:rPr>
              <a:t>Cada copia del alelo A se asocia con más masa grasa y mayor riesgo de obesidad, con un efecto modesto (del orden de 1–1.5 kg por alelo) que se atenúa en personas físicamente activas.</a:t>
            </a:r>
            <a:endParaRPr lang="en-US" sz="1600" dirty="0"/>
          </a:p>
        </p:txBody>
      </p:sp>
      <p:sp>
        <p:nvSpPr>
          <p:cNvPr id="8" name="circulo icono"/>
          <p:cNvSpPr/>
          <p:nvPr/>
        </p:nvSpPr>
        <p:spPr>
          <a:xfrm>
            <a:off x="548640" y="236220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444496"/>
            <a:ext cx="164592" cy="164592"/>
          </a:xfrm>
          <a:prstGeom prst="rect">
            <a:avLst/>
          </a:prstGeom>
        </p:spPr>
      </p:pic>
      <p:sp>
        <p:nvSpPr>
          <p:cNvPr id="10" name="subtitulo"/>
          <p:cNvSpPr txBox="1"/>
          <p:nvPr/>
        </p:nvSpPr>
        <p:spPr>
          <a:xfrm>
            <a:off x="987552"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2819400"/>
            <a:ext cx="5364328" cy="1511808"/>
          </a:xfrm>
          <a:prstGeom prst="rect">
            <a:avLst/>
          </a:prstGeom>
          <a:noFill/>
          <a:ln/>
        </p:spPr>
        <p:txBody>
          <a:bodyPr wrap="square" lIns="254" tIns="254" rIns="254" bIns="254" rtlCol="0" anchor="t"/>
          <a:lstStyle/>
          <a:p>
            <a:pPr indent="0" marL="0">
              <a:buNone/>
            </a:pPr>
            <a:r>
              <a:rPr lang="en-US" sz="1900" b="1" dirty="0">
                <a:solidFill>
                  <a:schemeClr val="tx1"/>
                </a:solidFill>
              </a:rPr>
              <a:t>Correcta: asociación real pero de efecto pequeño.</a:t>
            </a:r>
            <a:pPr indent="0" marL="0">
              <a:buNone/>
            </a:pPr>
            <a:r>
              <a:rPr lang="en-US" sz="1900" dirty="0">
                <a:solidFill>
                  <a:schemeClr val="tx1"/>
                </a:solidFill>
              </a:rPr>
              <a:t> Es la variante común de mayor efecto descrita para IMC, pero explica una fracción mínima de la varianza y su efecto se modifica con la actividad física.</a:t>
            </a:r>
            <a:endParaRPr lang="en-US" sz="1900" dirty="0"/>
          </a:p>
        </p:txBody>
      </p:sp>
      <p:sp>
        <p:nvSpPr>
          <p:cNvPr id="12" name="circulo icono"/>
          <p:cNvSpPr/>
          <p:nvPr/>
        </p:nvSpPr>
        <p:spPr>
          <a:xfrm>
            <a:off x="6278728" y="236220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444496"/>
            <a:ext cx="164592" cy="164592"/>
          </a:xfrm>
          <a:prstGeom prst="rect">
            <a:avLst/>
          </a:prstGeom>
        </p:spPr>
      </p:pic>
      <p:sp>
        <p:nvSpPr>
          <p:cNvPr id="14" name="subtitulo"/>
          <p:cNvSpPr txBox="1"/>
          <p:nvPr/>
        </p:nvSpPr>
        <p:spPr>
          <a:xfrm>
            <a:off x="6717640"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295300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2819400"/>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«Obesidad con certeza»: es un factor de riesgo probabilístico.</a:t>
            </a:r>
            <a:endParaRPr lang="en-US" sz="1900" dirty="0"/>
          </a:p>
        </p:txBody>
      </p:sp>
      <p:sp>
        <p:nvSpPr>
          <p:cNvPr id="17" name="vineta"/>
          <p:cNvSpPr/>
          <p:nvPr/>
        </p:nvSpPr>
        <p:spPr>
          <a:xfrm>
            <a:off x="6333592" y="365099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517392"/>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«Nonsense»: está en un intrón y actúa por mecanismos regulatorios.</a:t>
            </a:r>
            <a:endParaRPr lang="en-US" sz="1900" dirty="0"/>
          </a:p>
        </p:txBody>
      </p:sp>
      <p:sp>
        <p:nvSpPr>
          <p:cNvPr id="19" name="vineta"/>
          <p:cNvSpPr/>
          <p:nvPr/>
        </p:nvSpPr>
        <p:spPr>
          <a:xfrm>
            <a:off x="6333592" y="434898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215384"/>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«La mayor parte de la variación»: el IMC es poligénico y muy influido por el ambiente.</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B1-15 · ALDH2 y acetaldehído</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1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673608"/>
          </a:xfrm>
          <a:prstGeom prst="rect">
            <a:avLst/>
          </a:prstGeom>
          <a:noFill/>
          <a:ln/>
        </p:spPr>
        <p:txBody>
          <a:bodyPr wrap="square" lIns="254" tIns="254" rIns="254" bIns="254" rtlCol="0" anchor="t"/>
          <a:lstStyle/>
          <a:p>
            <a:pPr indent="0" marL="0">
              <a:buNone/>
            </a:pPr>
            <a:r>
              <a:rPr lang="en-US" sz="2000" dirty="0">
                <a:solidFill>
                  <a:schemeClr val="tx1"/>
                </a:solidFill>
              </a:rPr>
              <a:t>¿Por qué los portadores del alelo </a:t>
            </a:r>
            <a:pPr indent="0" marL="0">
              <a:buNone/>
            </a:pPr>
            <a:r>
              <a:rPr lang="en-US" sz="2000" i="1" dirty="0">
                <a:solidFill>
                  <a:schemeClr val="tx1"/>
                </a:solidFill>
              </a:rPr>
              <a:t>ALDH2</a:t>
            </a:r>
            <a:pPr indent="0" marL="0">
              <a:buNone/>
            </a:pPr>
            <a:r>
              <a:rPr lang="en-US" sz="2000" dirty="0">
                <a:solidFill>
                  <a:schemeClr val="tx1"/>
                </a:solidFill>
              </a:rPr>
              <a:t>*2 (rs671, Glu504Lys) presentan rubor facial tras beber alcohol?</a:t>
            </a:r>
            <a:endParaRPr lang="en-US" sz="2000" dirty="0"/>
          </a:p>
        </p:txBody>
      </p:sp>
      <p:sp>
        <p:nvSpPr>
          <p:cNvPr id="6" name="circulo"/>
          <p:cNvSpPr/>
          <p:nvPr/>
        </p:nvSpPr>
        <p:spPr>
          <a:xfrm>
            <a:off x="548640" y="22098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2098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1915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Porque producen más ALDH2 y oxidan el acetaldehído demasiado rápido.</a:t>
            </a:r>
            <a:endParaRPr lang="en-US" sz="1900" dirty="0"/>
          </a:p>
        </p:txBody>
      </p:sp>
      <p:sp>
        <p:nvSpPr>
          <p:cNvPr id="9" name="circulo"/>
          <p:cNvSpPr/>
          <p:nvPr/>
        </p:nvSpPr>
        <p:spPr>
          <a:xfrm>
            <a:off x="548640" y="27218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27218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2703576"/>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Porque tienen alergia al alcohol.</a:t>
            </a:r>
            <a:endParaRPr lang="en-US" sz="1900" dirty="0"/>
          </a:p>
        </p:txBody>
      </p:sp>
      <p:sp>
        <p:nvSpPr>
          <p:cNvPr id="12" name="circulo"/>
          <p:cNvSpPr/>
          <p:nvPr/>
        </p:nvSpPr>
        <p:spPr>
          <a:xfrm>
            <a:off x="548640" y="3233928"/>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23392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215640"/>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Porque metabolizan el etanol más lento y se acumula etanol.</a:t>
            </a:r>
            <a:endParaRPr lang="en-US" sz="1900" dirty="0"/>
          </a:p>
        </p:txBody>
      </p:sp>
      <p:sp>
        <p:nvSpPr>
          <p:cNvPr id="15" name="circulo"/>
          <p:cNvSpPr/>
          <p:nvPr/>
        </p:nvSpPr>
        <p:spPr>
          <a:xfrm>
            <a:off x="548640" y="3745992"/>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37459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3727704"/>
            <a:ext cx="10545775" cy="643128"/>
          </a:xfrm>
          <a:prstGeom prst="rect">
            <a:avLst/>
          </a:prstGeom>
          <a:noFill/>
          <a:ln/>
        </p:spPr>
        <p:txBody>
          <a:bodyPr wrap="square" lIns="254" tIns="254" rIns="254" bIns="254" rtlCol="0" anchor="ctr"/>
          <a:lstStyle/>
          <a:p>
            <a:pPr indent="0" marL="0">
              <a:buNone/>
            </a:pPr>
            <a:r>
              <a:rPr lang="en-US" sz="1900" dirty="0">
                <a:solidFill>
                  <a:schemeClr val="tx1"/>
                </a:solidFill>
              </a:rPr>
              <a:t>Porque la enzima ALDH2 mutante, que actúa como tetrámero, pierde actividad (efecto dominante negativo); el acetaldehído se acumula y causa vasodilatación.</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B1-15 · ALDH2 y acetaldehído</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1 · Respuesta</a:t>
            </a:r>
            <a:endParaRPr lang="en-US" sz="1100" dirty="0"/>
          </a:p>
        </p:txBody>
      </p:sp>
      <p:sp>
        <p:nvSpPr>
          <p:cNvPr id="4" name="caja respuesta"/>
          <p:cNvSpPr/>
          <p:nvPr/>
        </p:nvSpPr>
        <p:spPr>
          <a:xfrm>
            <a:off x="548640" y="1371600"/>
            <a:ext cx="11094415" cy="762000"/>
          </a:xfrm>
          <a:prstGeom prst="roundRect">
            <a:avLst>
              <a:gd name="adj" fmla="val 14400"/>
            </a:avLst>
          </a:prstGeom>
          <a:solidFill>
            <a:schemeClr val="bg1"/>
          </a:solidFill>
          <a:ln w="19050">
            <a:solidFill>
              <a:schemeClr val="accent1"/>
            </a:solidFill>
            <a:prstDash val="solid"/>
          </a:ln>
        </p:spPr>
      </p:sp>
      <p:sp>
        <p:nvSpPr>
          <p:cNvPr id="5" name="circulo check"/>
          <p:cNvSpPr/>
          <p:nvPr/>
        </p:nvSpPr>
        <p:spPr>
          <a:xfrm>
            <a:off x="749808" y="152400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33728"/>
            <a:ext cx="237744" cy="237744"/>
          </a:xfrm>
          <a:prstGeom prst="rect">
            <a:avLst/>
          </a:prstGeom>
        </p:spPr>
      </p:pic>
      <p:sp>
        <p:nvSpPr>
          <p:cNvPr id="7" name="respuesta"/>
          <p:cNvSpPr txBox="1"/>
          <p:nvPr/>
        </p:nvSpPr>
        <p:spPr>
          <a:xfrm>
            <a:off x="1371600" y="1444752"/>
            <a:ext cx="10180015" cy="615696"/>
          </a:xfrm>
          <a:prstGeom prst="rect">
            <a:avLst/>
          </a:prstGeom>
          <a:noFill/>
          <a:ln/>
        </p:spPr>
        <p:txBody>
          <a:bodyPr wrap="square" lIns="254" tIns="254" rIns="254" bIns="254" rtlCol="0" anchor="ctr"/>
          <a:lstStyle/>
          <a:p>
            <a:pPr indent="0" marL="0">
              <a:buNone/>
            </a:pPr>
            <a:r>
              <a:rPr lang="en-US" sz="1600" b="1" dirty="0">
                <a:solidFill>
                  <a:schemeClr val="tx1"/>
                </a:solidFill>
              </a:rPr>
              <a:t>D)  </a:t>
            </a:r>
            <a:pPr indent="0" marL="0">
              <a:buNone/>
            </a:pPr>
            <a:r>
              <a:rPr lang="en-US" sz="1600" dirty="0">
                <a:solidFill>
                  <a:schemeClr val="tx1"/>
                </a:solidFill>
              </a:rPr>
              <a:t>Porque la enzima ALDH2 mutante, que actúa como tetrámero, pierde actividad (efecto dominante negativo); el acetaldehído se acumula y causa vasodilatación.</a:t>
            </a:r>
            <a:endParaRPr lang="en-US" sz="1600" dirty="0"/>
          </a:p>
        </p:txBody>
      </p:sp>
      <p:sp>
        <p:nvSpPr>
          <p:cNvPr id="8" name="circulo icono"/>
          <p:cNvSpPr/>
          <p:nvPr/>
        </p:nvSpPr>
        <p:spPr>
          <a:xfrm>
            <a:off x="548640" y="236220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444496"/>
            <a:ext cx="164592" cy="164592"/>
          </a:xfrm>
          <a:prstGeom prst="rect">
            <a:avLst/>
          </a:prstGeom>
        </p:spPr>
      </p:pic>
      <p:sp>
        <p:nvSpPr>
          <p:cNvPr id="10" name="subtitulo"/>
          <p:cNvSpPr txBox="1"/>
          <p:nvPr/>
        </p:nvSpPr>
        <p:spPr>
          <a:xfrm>
            <a:off x="987552"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2819400"/>
            <a:ext cx="5364328" cy="1511808"/>
          </a:xfrm>
          <a:prstGeom prst="rect">
            <a:avLst/>
          </a:prstGeom>
          <a:noFill/>
          <a:ln/>
        </p:spPr>
        <p:txBody>
          <a:bodyPr wrap="square" lIns="254" tIns="254" rIns="254" bIns="254" rtlCol="0" anchor="t"/>
          <a:lstStyle/>
          <a:p>
            <a:pPr indent="0" marL="0">
              <a:buNone/>
            </a:pPr>
            <a:r>
              <a:rPr lang="en-US" sz="1900" b="1" dirty="0">
                <a:solidFill>
                  <a:schemeClr val="tx1"/>
                </a:solidFill>
              </a:rPr>
              <a:t>Correcta: acumulación de acetaldehído por pérdida de función dominante negativa.</a:t>
            </a:r>
            <a:pPr indent="0" marL="0">
              <a:buNone/>
            </a:pPr>
            <a:r>
              <a:rPr lang="en-US" sz="1900" dirty="0">
                <a:solidFill>
                  <a:schemeClr val="tx1"/>
                </a:solidFill>
              </a:rPr>
              <a:t> Basta una copia de ALDH2*2 para reducir mucho la actividad, porque las subunidades mutantes contaminan el tetrámero.</a:t>
            </a:r>
            <a:endParaRPr lang="en-US" sz="1900" dirty="0"/>
          </a:p>
        </p:txBody>
      </p:sp>
      <p:sp>
        <p:nvSpPr>
          <p:cNvPr id="12" name="circulo icono"/>
          <p:cNvSpPr/>
          <p:nvPr/>
        </p:nvSpPr>
        <p:spPr>
          <a:xfrm>
            <a:off x="6278728" y="236220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444496"/>
            <a:ext cx="164592" cy="164592"/>
          </a:xfrm>
          <a:prstGeom prst="rect">
            <a:avLst/>
          </a:prstGeom>
        </p:spPr>
      </p:pic>
      <p:sp>
        <p:nvSpPr>
          <p:cNvPr id="14" name="subtitulo"/>
          <p:cNvSpPr txBox="1"/>
          <p:nvPr/>
        </p:nvSpPr>
        <p:spPr>
          <a:xfrm>
            <a:off x="6717640"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295300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2819400"/>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«Se acumula etanol»: el paso afectado es acetaldehído → acetato, después de ADH.</a:t>
            </a:r>
            <a:endParaRPr lang="en-US" sz="1900" dirty="0"/>
          </a:p>
        </p:txBody>
      </p:sp>
      <p:sp>
        <p:nvSpPr>
          <p:cNvPr id="17" name="vineta"/>
          <p:cNvSpPr/>
          <p:nvPr/>
        </p:nvSpPr>
        <p:spPr>
          <a:xfrm>
            <a:off x="6333592" y="365099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517392"/>
            <a:ext cx="5108296" cy="353568"/>
          </a:xfrm>
          <a:prstGeom prst="rect">
            <a:avLst/>
          </a:prstGeom>
          <a:noFill/>
          <a:ln/>
        </p:spPr>
        <p:txBody>
          <a:bodyPr wrap="square" lIns="254" tIns="254" rIns="254" bIns="254" rtlCol="0" anchor="t"/>
          <a:lstStyle/>
          <a:p>
            <a:pPr indent="0" marL="0">
              <a:buNone/>
            </a:pPr>
            <a:r>
              <a:rPr lang="en-US" sz="1900" dirty="0">
                <a:solidFill>
                  <a:schemeClr val="tx1"/>
                </a:solidFill>
              </a:rPr>
              <a:t>«Alergia»: no es un mecanismo inmunológico.</a:t>
            </a:r>
            <a:endParaRPr lang="en-US" sz="1900" dirty="0"/>
          </a:p>
        </p:txBody>
      </p:sp>
      <p:sp>
        <p:nvSpPr>
          <p:cNvPr id="19" name="vineta"/>
          <p:cNvSpPr/>
          <p:nvPr/>
        </p:nvSpPr>
        <p:spPr>
          <a:xfrm>
            <a:off x="6333592" y="405942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3925824"/>
            <a:ext cx="5108296" cy="353568"/>
          </a:xfrm>
          <a:prstGeom prst="rect">
            <a:avLst/>
          </a:prstGeom>
          <a:noFill/>
          <a:ln/>
        </p:spPr>
        <p:txBody>
          <a:bodyPr wrap="square" lIns="254" tIns="254" rIns="254" bIns="254" rtlCol="0" anchor="t"/>
          <a:lstStyle/>
          <a:p>
            <a:pPr indent="0" marL="0">
              <a:buNone/>
            </a:pPr>
            <a:r>
              <a:rPr lang="en-US" sz="1900" dirty="0">
                <a:solidFill>
                  <a:schemeClr val="tx1"/>
                </a:solidFill>
              </a:rPr>
              <a:t>«Más ALDH2»: es al revés; la actividad baja.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7680960" cy="1463040"/>
          </a:xfrm>
          <a:prstGeom prst="rect">
            <a:avLst/>
          </a:prstGeom>
          <a:noFill/>
          <a:ln/>
        </p:spPr>
        <p:txBody>
          <a:bodyPr wrap="square" rtlCol="0" anchor="b"/>
          <a:lstStyle/>
          <a:p>
            <a:pPr indent="0" marL="0">
              <a:buNone/>
            </a:pPr>
            <a:r>
              <a:rPr lang="en-US" sz="4000" b="1" dirty="0">
                <a:solidFill>
                  <a:schemeClr val="bg1"/>
                </a:solidFill>
                <a:latin typeface="Cambria" pitchFamily="34" charset="0"/>
                <a:ea typeface="Cambria" pitchFamily="34" charset="-122"/>
                <a:cs typeface="Cambria" pitchFamily="34" charset="-120"/>
              </a:rPr>
              <a:t>Bloque 2</a:t>
            </a:r>
            <a:endParaRPr lang="en-US" sz="4000" dirty="0"/>
          </a:p>
          <a:p>
            <a:pPr indent="0" marL="0">
              <a:buNone/>
            </a:pPr>
            <a:r>
              <a:rPr lang="en-US" sz="4000" b="1" dirty="0">
                <a:solidFill>
                  <a:schemeClr val="bg1"/>
                </a:solidFill>
                <a:latin typeface="Cambria" pitchFamily="34" charset="0"/>
                <a:ea typeface="Cambria" pitchFamily="34" charset="-122"/>
                <a:cs typeface="Cambria" pitchFamily="34" charset="-120"/>
              </a:rPr>
              <a:t>Casos clínicos y diagnóstico nutrigenético</a:t>
            </a:r>
            <a:endParaRPr lang="en-US" sz="4000" dirty="0"/>
          </a:p>
        </p:txBody>
      </p:sp>
      <p:sp>
        <p:nvSpPr>
          <p:cNvPr id="3" name="Text 0"/>
          <p:cNvSpPr/>
          <p:nvPr>
            <p:ph idx="101" type="body" hasCustomPrompt="1"/>
          </p:nvPr>
        </p:nvSpPr>
        <p:spPr>
          <a:xfrm>
            <a:off x="548640" y="3108960"/>
            <a:ext cx="7315200" cy="2743200"/>
          </a:xfrm>
          <a:prstGeom prst="rect">
            <a:avLst/>
          </a:prstGeom>
          <a:noFill/>
          <a:ln/>
        </p:spPr>
        <p:txBody>
          <a:bodyPr wrap="square" rtlCol="0" anchor="t"/>
          <a:lstStyle/>
          <a:p>
            <a:pPr indent="0" marL="0">
              <a:buNone/>
            </a:pPr>
            <a:r>
              <a:rPr lang="en-US" sz="1800" dirty="0">
                <a:solidFill>
                  <a:schemeClr val="bg2"/>
                </a:solidFill>
              </a:rPr>
              <a:t>Percepción sensorial (TAS2R38, OR6A2, OR2M7) · CYP1A2 y café · ALDH2 · APOE × alcohol · FTO · Lactosa: hipolactasia, malabsorción e intolerancia</a:t>
            </a:r>
            <a:endParaRPr lang="en-US" sz="1800" dirty="0"/>
          </a:p>
        </p:txBody>
      </p:sp>
      <p:sp>
        <p:nvSpPr>
          <p:cNvPr id="4" name="circulo bloque"/>
          <p:cNvSpPr/>
          <p:nvPr/>
        </p:nvSpPr>
        <p:spPr>
          <a:xfrm>
            <a:off x="8732520" y="1600200"/>
            <a:ext cx="2651760" cy="2651760"/>
          </a:xfrm>
          <a:prstGeom prst="ellipse">
            <a:avLst/>
          </a:prstGeom>
          <a:solidFill>
            <a:schemeClr val="accent1"/>
          </a:solidFill>
          <a:ln w="12700">
            <a:solidFill>
              <a:schemeClr val="accent1"/>
            </a:solidFill>
            <a:prstDash val="solid"/>
          </a:ln>
        </p:spPr>
      </p:sp>
      <p:pic>
        <p:nvPicPr>
          <p:cNvPr id="5" name="Image 0" descr="Casos clínicos y diagnóstico nutrigenético">    </p:cNvPr>
          <p:cNvPicPr>
            <a:picLocks noChangeAspect="1"/>
          </p:cNvPicPr>
          <p:nvPr/>
        </p:nvPicPr>
        <p:blipFill>
          <a:blip r:embed="rId1"/>
          <a:stretch>
            <a:fillRect/>
          </a:stretch>
        </p:blipFill>
        <p:spPr>
          <a:xfrm>
            <a:off x="9464040" y="2331720"/>
            <a:ext cx="1188720" cy="1188720"/>
          </a:xfrm>
          <a:prstGeom prst="rect">
            <a:avLst/>
          </a:prstGeom>
        </p:spPr>
      </p:pic>
      <p:sp>
        <p:nvSpPr>
          <p:cNvPr id="6" name="peso"/>
          <p:cNvSpPr txBox="1"/>
          <p:nvPr/>
        </p:nvSpPr>
        <p:spPr>
          <a:xfrm>
            <a:off x="8458200" y="4434840"/>
            <a:ext cx="3200400" cy="1097280"/>
          </a:xfrm>
          <a:prstGeom prst="rect">
            <a:avLst/>
          </a:prstGeom>
          <a:noFill/>
          <a:ln/>
        </p:spPr>
        <p:txBody>
          <a:bodyPr wrap="square" lIns="0" tIns="0" rIns="0" bIns="0" rtlCol="0" anchor="t"/>
          <a:lstStyle/>
          <a:p>
            <a:pPr algn="ctr" indent="0" marL="0">
              <a:buNone/>
            </a:pPr>
            <a:r>
              <a:rPr lang="en-US" sz="4000" b="1" dirty="0">
                <a:solidFill>
                  <a:schemeClr val="bg1"/>
                </a:solidFill>
              </a:rPr>
              <a:t>30 %</a:t>
            </a:r>
            <a:endParaRPr lang="en-US" sz="4000" dirty="0"/>
          </a:p>
          <a:p>
            <a:pPr algn="ctr" indent="0" marL="0">
              <a:buNone/>
            </a:pPr>
            <a:r>
              <a:rPr lang="en-US" sz="1600" dirty="0">
                <a:solidFill>
                  <a:schemeClr val="bg1"/>
                </a:solidFill>
              </a:rPr>
              <a:t>10 reactivos</a:t>
            </a:r>
            <a:endParaRPr lang="en-US" sz="4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B2-1 · Niño que rechaza el brócoli</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2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673608"/>
          </a:xfrm>
          <a:prstGeom prst="rect">
            <a:avLst/>
          </a:prstGeom>
          <a:noFill/>
          <a:ln/>
        </p:spPr>
        <p:txBody>
          <a:bodyPr wrap="square" lIns="254" tIns="254" rIns="254" bIns="254" rtlCol="0" anchor="t"/>
          <a:lstStyle/>
          <a:p>
            <a:pPr indent="0" marL="0">
              <a:buNone/>
            </a:pPr>
            <a:r>
              <a:rPr lang="en-US" sz="2000" dirty="0">
                <a:solidFill>
                  <a:schemeClr val="tx1"/>
                </a:solidFill>
              </a:rPr>
              <a:t>Un niño de 8 años con genotipo </a:t>
            </a:r>
            <a:pPr indent="0" marL="0">
              <a:buNone/>
            </a:pPr>
            <a:r>
              <a:rPr lang="en-US" sz="2000" i="1" dirty="0">
                <a:solidFill>
                  <a:schemeClr val="tx1"/>
                </a:solidFill>
              </a:rPr>
              <a:t>TAS2R38</a:t>
            </a:r>
            <a:pPr indent="0" marL="0">
              <a:buNone/>
            </a:pPr>
            <a:r>
              <a:rPr lang="en-US" sz="2000" dirty="0">
                <a:solidFill>
                  <a:schemeClr val="tx1"/>
                </a:solidFill>
              </a:rPr>
              <a:t> PAV/PAV rechaza brócoli, col y coles de Bruselas. Su madre pide un «suplemento para que le guste». ¿Qué recomendación es la mejor fundamentada?</a:t>
            </a:r>
            <a:endParaRPr lang="en-US" sz="2000" dirty="0"/>
          </a:p>
        </p:txBody>
      </p:sp>
      <p:sp>
        <p:nvSpPr>
          <p:cNvPr id="6" name="circulo"/>
          <p:cNvSpPr/>
          <p:nvPr/>
        </p:nvSpPr>
        <p:spPr>
          <a:xfrm>
            <a:off x="548640" y="22098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2098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1915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Cambiar el diagnóstico a alergia alimentaria.</a:t>
            </a:r>
            <a:endParaRPr lang="en-US" sz="1900" dirty="0"/>
          </a:p>
        </p:txBody>
      </p:sp>
      <p:sp>
        <p:nvSpPr>
          <p:cNvPr id="9" name="circulo"/>
          <p:cNvSpPr/>
          <p:nvPr/>
        </p:nvSpPr>
        <p:spPr>
          <a:xfrm>
            <a:off x="548640" y="27218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27218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2703576"/>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Indicar un suplemento de PROP para desensibilizar el receptor.</a:t>
            </a:r>
            <a:endParaRPr lang="en-US" sz="1900" dirty="0"/>
          </a:p>
        </p:txBody>
      </p:sp>
      <p:sp>
        <p:nvSpPr>
          <p:cNvPr id="12" name="circulo"/>
          <p:cNvSpPr/>
          <p:nvPr/>
        </p:nvSpPr>
        <p:spPr>
          <a:xfrm>
            <a:off x="548640" y="3233928"/>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23392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215640"/>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No hay nada que hacer: su genotipo le impedirá comer crucíferas toda la vida.</a:t>
            </a:r>
            <a:endParaRPr lang="en-US" sz="1900" dirty="0"/>
          </a:p>
        </p:txBody>
      </p:sp>
      <p:sp>
        <p:nvSpPr>
          <p:cNvPr id="15" name="circulo"/>
          <p:cNvSpPr/>
          <p:nvPr/>
        </p:nvSpPr>
        <p:spPr>
          <a:xfrm>
            <a:off x="548640" y="3745992"/>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37459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3727704"/>
            <a:ext cx="10545775" cy="932688"/>
          </a:xfrm>
          <a:prstGeom prst="rect">
            <a:avLst/>
          </a:prstGeom>
          <a:noFill/>
          <a:ln/>
        </p:spPr>
        <p:txBody>
          <a:bodyPr wrap="square" lIns="254" tIns="254" rIns="254" bIns="254" rtlCol="0" anchor="ctr"/>
          <a:lstStyle/>
          <a:p>
            <a:pPr indent="0" marL="0">
              <a:buNone/>
            </a:pPr>
            <a:r>
              <a:rPr lang="en-US" sz="1900" dirty="0">
                <a:solidFill>
                  <a:schemeClr val="tx1"/>
                </a:solidFill>
              </a:rPr>
              <a:t>Explicar que percibe más intenso el amargor de los glucosinolatos; usar exposición repetida, cocciones que reducen el amargor y combinaciones con grasas o sabores dulces/salados, y asegurar otras fuentes de verduras.</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B2-1 · Niño que rechaza el brócoli</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2 · Respuesta</a:t>
            </a:r>
            <a:endParaRPr lang="en-US" sz="1100" dirty="0"/>
          </a:p>
        </p:txBody>
      </p:sp>
      <p:sp>
        <p:nvSpPr>
          <p:cNvPr id="4" name="caja respuesta"/>
          <p:cNvSpPr/>
          <p:nvPr/>
        </p:nvSpPr>
        <p:spPr>
          <a:xfrm>
            <a:off x="548640" y="1371600"/>
            <a:ext cx="11094415" cy="1005840"/>
          </a:xfrm>
          <a:prstGeom prst="roundRect">
            <a:avLst>
              <a:gd name="adj" fmla="val 10909"/>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859536"/>
          </a:xfrm>
          <a:prstGeom prst="rect">
            <a:avLst/>
          </a:prstGeom>
          <a:noFill/>
          <a:ln/>
        </p:spPr>
        <p:txBody>
          <a:bodyPr wrap="square" lIns="254" tIns="254" rIns="254" bIns="254" rtlCol="0" anchor="ctr"/>
          <a:lstStyle/>
          <a:p>
            <a:pPr indent="0" marL="0">
              <a:buNone/>
            </a:pPr>
            <a:r>
              <a:rPr lang="en-US" sz="1600" b="1" dirty="0">
                <a:solidFill>
                  <a:schemeClr val="tx1"/>
                </a:solidFill>
              </a:rPr>
              <a:t>D)  </a:t>
            </a:r>
            <a:pPr indent="0" marL="0">
              <a:buNone/>
            </a:pPr>
            <a:r>
              <a:rPr lang="en-US" sz="1600" dirty="0">
                <a:solidFill>
                  <a:schemeClr val="tx1"/>
                </a:solidFill>
              </a:rPr>
              <a:t>Explicar que percibe más intenso el amargor de los glucosinolatos; usar exposición repetida, cocciones que reducen el amargor y combinaciones con grasas o sabores dulces/salados, y asegurar otras fuentes de verduras.</a:t>
            </a:r>
            <a:endParaRPr lang="en-US" sz="1600" dirty="0"/>
          </a:p>
        </p:txBody>
      </p:sp>
      <p:sp>
        <p:nvSpPr>
          <p:cNvPr id="8" name="circulo icono"/>
          <p:cNvSpPr/>
          <p:nvPr/>
        </p:nvSpPr>
        <p:spPr>
          <a:xfrm>
            <a:off x="548640" y="260604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688336"/>
            <a:ext cx="164592" cy="164592"/>
          </a:xfrm>
          <a:prstGeom prst="rect">
            <a:avLst/>
          </a:prstGeom>
        </p:spPr>
      </p:pic>
      <p:sp>
        <p:nvSpPr>
          <p:cNvPr id="10" name="subtitulo"/>
          <p:cNvSpPr txBox="1"/>
          <p:nvPr/>
        </p:nvSpPr>
        <p:spPr>
          <a:xfrm>
            <a:off x="987552"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3063240"/>
            <a:ext cx="5364328" cy="1511808"/>
          </a:xfrm>
          <a:prstGeom prst="rect">
            <a:avLst/>
          </a:prstGeom>
          <a:noFill/>
          <a:ln/>
        </p:spPr>
        <p:txBody>
          <a:bodyPr wrap="square" lIns="254" tIns="254" rIns="254" bIns="254" rtlCol="0" anchor="t"/>
          <a:lstStyle/>
          <a:p>
            <a:pPr indent="0" marL="0">
              <a:buNone/>
            </a:pPr>
            <a:r>
              <a:rPr lang="en-US" sz="1900" b="1" dirty="0">
                <a:solidFill>
                  <a:schemeClr val="tx1"/>
                </a:solidFill>
              </a:rPr>
              <a:t>Correcta: intervención conductual y culinaria informada por el genotipo.</a:t>
            </a:r>
            <a:pPr indent="0" marL="0">
              <a:buNone/>
            </a:pPr>
            <a:r>
              <a:rPr lang="en-US" sz="1900" dirty="0">
                <a:solidFill>
                  <a:schemeClr val="tx1"/>
                </a:solidFill>
              </a:rPr>
              <a:t> El genotipo explica una mayor sensibilidad, no una imposibilidad; la aceptación de alimentos se modifica con exposición y preparación.</a:t>
            </a:r>
            <a:endParaRPr lang="en-US" sz="1900" dirty="0"/>
          </a:p>
        </p:txBody>
      </p:sp>
      <p:sp>
        <p:nvSpPr>
          <p:cNvPr id="12" name="circulo icono"/>
          <p:cNvSpPr/>
          <p:nvPr/>
        </p:nvSpPr>
        <p:spPr>
          <a:xfrm>
            <a:off x="6278728" y="260604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688336"/>
            <a:ext cx="164592" cy="164592"/>
          </a:xfrm>
          <a:prstGeom prst="rect">
            <a:avLst/>
          </a:prstGeom>
        </p:spPr>
      </p:pic>
      <p:sp>
        <p:nvSpPr>
          <p:cNvPr id="14" name="subtitulo"/>
          <p:cNvSpPr txBox="1"/>
          <p:nvPr/>
        </p:nvSpPr>
        <p:spPr>
          <a:xfrm>
            <a:off x="6717640"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319684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3063240"/>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«No hay nada que hacer»: el genotipo es un factor, no un destino.</a:t>
            </a:r>
            <a:endParaRPr lang="en-US" sz="1900" dirty="0"/>
          </a:p>
        </p:txBody>
      </p:sp>
      <p:sp>
        <p:nvSpPr>
          <p:cNvPr id="17" name="vineta"/>
          <p:cNvSpPr/>
          <p:nvPr/>
        </p:nvSpPr>
        <p:spPr>
          <a:xfrm>
            <a:off x="6333592" y="389483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761232"/>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«Suplemento de PROP»: no existe evidencia de desensibilización así, y PROP es un compuesto de prueba.</a:t>
            </a:r>
            <a:endParaRPr lang="en-US" sz="1900" dirty="0"/>
          </a:p>
        </p:txBody>
      </p:sp>
      <p:sp>
        <p:nvSpPr>
          <p:cNvPr id="19" name="vineta"/>
          <p:cNvSpPr/>
          <p:nvPr/>
        </p:nvSpPr>
        <p:spPr>
          <a:xfrm>
            <a:off x="6333592" y="488238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748784"/>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«Alergia»: rechazo por sabor no es una reacción inmunológica.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B2-2 · «El cilantro sabe a jabón»</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2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978408"/>
          </a:xfrm>
          <a:prstGeom prst="rect">
            <a:avLst/>
          </a:prstGeom>
          <a:noFill/>
          <a:ln/>
        </p:spPr>
        <p:txBody>
          <a:bodyPr wrap="square" lIns="254" tIns="254" rIns="254" bIns="254" rtlCol="0" anchor="t"/>
          <a:lstStyle/>
          <a:p>
            <a:pPr indent="0" marL="0">
              <a:buNone/>
            </a:pPr>
            <a:r>
              <a:rPr lang="en-US" sz="2000" dirty="0">
                <a:solidFill>
                  <a:schemeClr val="tx1"/>
                </a:solidFill>
              </a:rPr>
              <a:t>Una paciente dice que el cilantro le sabe a jabón y lo evita en todas las salsas. Su prueba genética muestra el alelo de riesgo en una variante cercana a </a:t>
            </a:r>
            <a:pPr indent="0" marL="0">
              <a:buNone/>
            </a:pPr>
            <a:r>
              <a:rPr lang="en-US" sz="2000" i="1" dirty="0">
                <a:solidFill>
                  <a:schemeClr val="tx1"/>
                </a:solidFill>
              </a:rPr>
              <a:t>OR6A2</a:t>
            </a:r>
            <a:pPr indent="0" marL="0">
              <a:buNone/>
            </a:pPr>
            <a:r>
              <a:rPr lang="en-US" sz="2000" dirty="0">
                <a:solidFill>
                  <a:schemeClr val="tx1"/>
                </a:solidFill>
              </a:rPr>
              <a:t>. ¿Qué interpretación es la mejor?</a:t>
            </a:r>
            <a:endParaRPr lang="en-US" sz="2000" dirty="0"/>
          </a:p>
        </p:txBody>
      </p:sp>
      <p:sp>
        <p:nvSpPr>
          <p:cNvPr id="6" name="circulo"/>
          <p:cNvSpPr/>
          <p:nvPr/>
        </p:nvSpPr>
        <p:spPr>
          <a:xfrm>
            <a:off x="548640" y="25146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5146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4963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El sabor a jabón se debe a que el cilantro contiene detergente.</a:t>
            </a:r>
            <a:endParaRPr lang="en-US" sz="1900" dirty="0"/>
          </a:p>
        </p:txBody>
      </p:sp>
      <p:sp>
        <p:nvSpPr>
          <p:cNvPr id="9" name="circulo"/>
          <p:cNvSpPr/>
          <p:nvPr/>
        </p:nvSpPr>
        <p:spPr>
          <a:xfrm>
            <a:off x="548640" y="30266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30266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3008376"/>
            <a:ext cx="10545775" cy="932688"/>
          </a:xfrm>
          <a:prstGeom prst="rect">
            <a:avLst/>
          </a:prstGeom>
          <a:noFill/>
          <a:ln/>
        </p:spPr>
        <p:txBody>
          <a:bodyPr wrap="square" lIns="254" tIns="254" rIns="254" bIns="254" rtlCol="0" anchor="ctr"/>
          <a:lstStyle/>
          <a:p>
            <a:pPr indent="0" marL="0">
              <a:buNone/>
            </a:pPr>
            <a:r>
              <a:rPr lang="en-US" sz="1900" dirty="0">
                <a:solidFill>
                  <a:schemeClr val="tx1"/>
                </a:solidFill>
              </a:rPr>
              <a:t>OR6A2 codifica un receptor olfatorio que detecta aldehídos presentes en el cilantro; su variante se asocia a percibir ese olor como «jabonoso». Es una variación normal; basta sustituir el cilantro por otras hierbas sin consecuencias nutricionales relevantes.</a:t>
            </a:r>
            <a:endParaRPr lang="en-US" sz="1900" dirty="0"/>
          </a:p>
        </p:txBody>
      </p:sp>
      <p:sp>
        <p:nvSpPr>
          <p:cNvPr id="12" name="circulo"/>
          <p:cNvSpPr/>
          <p:nvPr/>
        </p:nvSpPr>
        <p:spPr>
          <a:xfrm>
            <a:off x="548640" y="4050792"/>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40507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4032504"/>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Tiene una enfermedad del gusto que requiere tratamiento.</a:t>
            </a:r>
            <a:endParaRPr lang="en-US" sz="1900" dirty="0"/>
          </a:p>
        </p:txBody>
      </p:sp>
      <p:sp>
        <p:nvSpPr>
          <p:cNvPr id="15" name="circulo"/>
          <p:cNvSpPr/>
          <p:nvPr/>
        </p:nvSpPr>
        <p:spPr>
          <a:xfrm>
            <a:off x="548640" y="4562856"/>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456285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4544568"/>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Debe forzarse a comer cilantro porque su genotipo es un error.</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B2-2 · «El cilantro sabe a jabón»</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2 · Respuesta</a:t>
            </a:r>
            <a:endParaRPr lang="en-US" sz="1100" dirty="0"/>
          </a:p>
        </p:txBody>
      </p:sp>
      <p:sp>
        <p:nvSpPr>
          <p:cNvPr id="4" name="caja respuesta"/>
          <p:cNvSpPr/>
          <p:nvPr/>
        </p:nvSpPr>
        <p:spPr>
          <a:xfrm>
            <a:off x="548640" y="1371600"/>
            <a:ext cx="11094415" cy="1005840"/>
          </a:xfrm>
          <a:prstGeom prst="roundRect">
            <a:avLst>
              <a:gd name="adj" fmla="val 10909"/>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859536"/>
          </a:xfrm>
          <a:prstGeom prst="rect">
            <a:avLst/>
          </a:prstGeom>
          <a:noFill/>
          <a:ln/>
        </p:spPr>
        <p:txBody>
          <a:bodyPr wrap="square" lIns="254" tIns="254" rIns="254" bIns="254" rtlCol="0" anchor="ctr"/>
          <a:lstStyle/>
          <a:p>
            <a:pPr indent="0" marL="0">
              <a:buNone/>
            </a:pPr>
            <a:r>
              <a:rPr lang="en-US" sz="1600" b="1" dirty="0">
                <a:solidFill>
                  <a:schemeClr val="tx1"/>
                </a:solidFill>
              </a:rPr>
              <a:t>B)  </a:t>
            </a:r>
            <a:pPr indent="0" marL="0">
              <a:buNone/>
            </a:pPr>
            <a:r>
              <a:rPr lang="en-US" sz="1600" dirty="0">
                <a:solidFill>
                  <a:schemeClr val="tx1"/>
                </a:solidFill>
              </a:rPr>
              <a:t>OR6A2 codifica un receptor olfatorio que detecta aldehídos presentes en el cilantro; su variante se asocia a percibir ese olor como «jabonoso». Es una variación normal; basta sustituir el cilantro por otras hierbas sin consecuencias nutricionales relevantes.</a:t>
            </a:r>
            <a:endParaRPr lang="en-US" sz="1600" dirty="0"/>
          </a:p>
        </p:txBody>
      </p:sp>
      <p:sp>
        <p:nvSpPr>
          <p:cNvPr id="8" name="circulo icono"/>
          <p:cNvSpPr/>
          <p:nvPr/>
        </p:nvSpPr>
        <p:spPr>
          <a:xfrm>
            <a:off x="548640" y="260604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688336"/>
            <a:ext cx="164592" cy="164592"/>
          </a:xfrm>
          <a:prstGeom prst="rect">
            <a:avLst/>
          </a:prstGeom>
        </p:spPr>
      </p:pic>
      <p:sp>
        <p:nvSpPr>
          <p:cNvPr id="10" name="subtitulo"/>
          <p:cNvSpPr txBox="1"/>
          <p:nvPr/>
        </p:nvSpPr>
        <p:spPr>
          <a:xfrm>
            <a:off x="987552"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3063240"/>
            <a:ext cx="5364328" cy="1511808"/>
          </a:xfrm>
          <a:prstGeom prst="rect">
            <a:avLst/>
          </a:prstGeom>
          <a:noFill/>
          <a:ln/>
        </p:spPr>
        <p:txBody>
          <a:bodyPr wrap="square" lIns="254" tIns="254" rIns="254" bIns="254" rtlCol="0" anchor="t"/>
          <a:lstStyle/>
          <a:p>
            <a:pPr indent="0" marL="0">
              <a:buNone/>
            </a:pPr>
            <a:r>
              <a:rPr lang="en-US" sz="1900" b="1" dirty="0">
                <a:solidFill>
                  <a:schemeClr val="tx1"/>
                </a:solidFill>
              </a:rPr>
              <a:t>Correcta: variación normal de un receptor olfatorio.</a:t>
            </a:r>
            <a:pPr indent="0" marL="0">
              <a:buNone/>
            </a:pPr>
            <a:r>
              <a:rPr lang="en-US" sz="1900" dirty="0">
                <a:solidFill>
                  <a:schemeClr val="tx1"/>
                </a:solidFill>
              </a:rPr>
              <a:t> La percepción del sabor de las hierbas depende mucho del olfato; el cilantro contiene aldehídos con notas jabonosas que algunas personas perciben con más intensidad.</a:t>
            </a:r>
            <a:endParaRPr lang="en-US" sz="1900" dirty="0"/>
          </a:p>
        </p:txBody>
      </p:sp>
      <p:sp>
        <p:nvSpPr>
          <p:cNvPr id="12" name="circulo icono"/>
          <p:cNvSpPr/>
          <p:nvPr/>
        </p:nvSpPr>
        <p:spPr>
          <a:xfrm>
            <a:off x="6278728" y="260604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688336"/>
            <a:ext cx="164592" cy="164592"/>
          </a:xfrm>
          <a:prstGeom prst="rect">
            <a:avLst/>
          </a:prstGeom>
        </p:spPr>
      </p:pic>
      <p:sp>
        <p:nvSpPr>
          <p:cNvPr id="14" name="subtitulo"/>
          <p:cNvSpPr txBox="1"/>
          <p:nvPr/>
        </p:nvSpPr>
        <p:spPr>
          <a:xfrm>
            <a:off x="6717640"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319684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3063240"/>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«Enfermedad»: es variación común, no patología.</a:t>
            </a:r>
            <a:endParaRPr lang="en-US" sz="1900" dirty="0"/>
          </a:p>
        </p:txBody>
      </p:sp>
      <p:sp>
        <p:nvSpPr>
          <p:cNvPr id="17" name="vineta"/>
          <p:cNvSpPr/>
          <p:nvPr/>
        </p:nvSpPr>
        <p:spPr>
          <a:xfrm>
            <a:off x="6333592" y="389483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761232"/>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«Forzarlo»: no hay beneficio nutricional que lo justifique.</a:t>
            </a:r>
            <a:endParaRPr lang="en-US" sz="1900" dirty="0"/>
          </a:p>
        </p:txBody>
      </p:sp>
      <p:sp>
        <p:nvSpPr>
          <p:cNvPr id="19" name="vineta"/>
          <p:cNvSpPr/>
          <p:nvPr/>
        </p:nvSpPr>
        <p:spPr>
          <a:xfrm>
            <a:off x="6333592" y="459282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459224"/>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«Contiene detergente»: son aldehídos naturales de la planta.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B2-3 · Orina después de espárragos</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2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673608"/>
          </a:xfrm>
          <a:prstGeom prst="rect">
            <a:avLst/>
          </a:prstGeom>
          <a:noFill/>
          <a:ln/>
        </p:spPr>
        <p:txBody>
          <a:bodyPr wrap="square" lIns="254" tIns="254" rIns="254" bIns="254" rtlCol="0" anchor="t"/>
          <a:lstStyle/>
          <a:p>
            <a:pPr indent="0" marL="0">
              <a:buNone/>
            </a:pPr>
            <a:r>
              <a:rPr lang="en-US" sz="2000" dirty="0">
                <a:solidFill>
                  <a:schemeClr val="tx1"/>
                </a:solidFill>
              </a:rPr>
              <a:t>Dos hermanos comen espárragos. Uno nota un olor sulfuroso en su orina y el otro asegura que no huele nada. ¿Qué explicación es más completa?</a:t>
            </a:r>
            <a:endParaRPr lang="en-US" sz="2000" dirty="0"/>
          </a:p>
        </p:txBody>
      </p:sp>
      <p:sp>
        <p:nvSpPr>
          <p:cNvPr id="6" name="circulo"/>
          <p:cNvSpPr/>
          <p:nvPr/>
        </p:nvSpPr>
        <p:spPr>
          <a:xfrm>
            <a:off x="548640" y="22098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2098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1915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Ambos deberían tener el mismo fenotipo porque son hermanos.</a:t>
            </a:r>
            <a:endParaRPr lang="en-US" sz="1900" dirty="0"/>
          </a:p>
        </p:txBody>
      </p:sp>
      <p:sp>
        <p:nvSpPr>
          <p:cNvPr id="9" name="circulo"/>
          <p:cNvSpPr/>
          <p:nvPr/>
        </p:nvSpPr>
        <p:spPr>
          <a:xfrm>
            <a:off x="548640" y="27218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27218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2703576"/>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Es un signo de insuficiencia renal.</a:t>
            </a:r>
            <a:endParaRPr lang="en-US" sz="1900" dirty="0"/>
          </a:p>
        </p:txBody>
      </p:sp>
      <p:sp>
        <p:nvSpPr>
          <p:cNvPr id="12" name="circulo"/>
          <p:cNvSpPr/>
          <p:nvPr/>
        </p:nvSpPr>
        <p:spPr>
          <a:xfrm>
            <a:off x="548640" y="3233928"/>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23392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215640"/>
            <a:ext cx="10545775" cy="932688"/>
          </a:xfrm>
          <a:prstGeom prst="rect">
            <a:avLst/>
          </a:prstGeom>
          <a:noFill/>
          <a:ln/>
        </p:spPr>
        <p:txBody>
          <a:bodyPr wrap="square" lIns="254" tIns="254" rIns="254" bIns="254" rtlCol="0" anchor="ctr"/>
          <a:lstStyle/>
          <a:p>
            <a:pPr indent="0" marL="0">
              <a:buNone/>
            </a:pPr>
            <a:r>
              <a:rPr lang="en-US" sz="1900" dirty="0">
                <a:solidFill>
                  <a:schemeClr val="tx1"/>
                </a:solidFill>
              </a:rPr>
              <a:t>Hay variación en dos pasos: producir los compuestos azufrados y percibirlos. Una variante cercana a </a:t>
            </a:r>
            <a:pPr indent="0" marL="0">
              <a:buNone/>
            </a:pPr>
            <a:r>
              <a:rPr lang="en-US" sz="1900" i="1" dirty="0">
                <a:solidFill>
                  <a:schemeClr val="tx1"/>
                </a:solidFill>
              </a:rPr>
              <a:t>OR2M7</a:t>
            </a:r>
            <a:pPr indent="0" marL="0">
              <a:buNone/>
            </a:pPr>
            <a:r>
              <a:rPr lang="en-US" sz="1900" dirty="0">
                <a:solidFill>
                  <a:schemeClr val="tx1"/>
                </a:solidFill>
              </a:rPr>
              <a:t> se asocia a anosmia específica para ese olor; para saber cuál paso falla, habría que pedirle que huela la orina del hermano.</a:t>
            </a:r>
            <a:endParaRPr lang="en-US" sz="1900" dirty="0"/>
          </a:p>
        </p:txBody>
      </p:sp>
      <p:sp>
        <p:nvSpPr>
          <p:cNvPr id="15" name="circulo"/>
          <p:cNvSpPr/>
          <p:nvPr/>
        </p:nvSpPr>
        <p:spPr>
          <a:xfrm>
            <a:off x="548640" y="4258056"/>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425805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4239768"/>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El hermano que no huele nada no produce los compuestos azufrados.</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B2-3 · Orina después de espárragos</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2 · Respuesta</a:t>
            </a:r>
            <a:endParaRPr lang="en-US" sz="1100" dirty="0"/>
          </a:p>
        </p:txBody>
      </p:sp>
      <p:sp>
        <p:nvSpPr>
          <p:cNvPr id="4" name="caja respuesta"/>
          <p:cNvSpPr/>
          <p:nvPr/>
        </p:nvSpPr>
        <p:spPr>
          <a:xfrm>
            <a:off x="548640" y="1371600"/>
            <a:ext cx="11094415" cy="1005840"/>
          </a:xfrm>
          <a:prstGeom prst="roundRect">
            <a:avLst>
              <a:gd name="adj" fmla="val 10909"/>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859536"/>
          </a:xfrm>
          <a:prstGeom prst="rect">
            <a:avLst/>
          </a:prstGeom>
          <a:noFill/>
          <a:ln/>
        </p:spPr>
        <p:txBody>
          <a:bodyPr wrap="square" lIns="254" tIns="254" rIns="254" bIns="254" rtlCol="0" anchor="ctr"/>
          <a:lstStyle/>
          <a:p>
            <a:pPr indent="0" marL="0">
              <a:buNone/>
            </a:pPr>
            <a:r>
              <a:rPr lang="en-US" sz="1600" b="1" dirty="0">
                <a:solidFill>
                  <a:schemeClr val="tx1"/>
                </a:solidFill>
              </a:rPr>
              <a:t>C)  </a:t>
            </a:r>
            <a:pPr indent="0" marL="0">
              <a:buNone/>
            </a:pPr>
            <a:r>
              <a:rPr lang="en-US" sz="1600" dirty="0">
                <a:solidFill>
                  <a:schemeClr val="tx1"/>
                </a:solidFill>
              </a:rPr>
              <a:t>Hay variación en dos pasos: producir los compuestos azufrados y percibirlos. Una variante cercana a </a:t>
            </a:r>
            <a:pPr indent="0" marL="0">
              <a:buNone/>
            </a:pPr>
            <a:r>
              <a:rPr lang="en-US" sz="1600" i="1" dirty="0">
                <a:solidFill>
                  <a:schemeClr val="tx1"/>
                </a:solidFill>
              </a:rPr>
              <a:t>OR2M7</a:t>
            </a:r>
            <a:pPr indent="0" marL="0">
              <a:buNone/>
            </a:pPr>
            <a:r>
              <a:rPr lang="en-US" sz="1600" dirty="0">
                <a:solidFill>
                  <a:schemeClr val="tx1"/>
                </a:solidFill>
              </a:rPr>
              <a:t> se asocia a anosmia específica para ese olor; para saber cuál paso falla, habría que pedirle que huela la orina del hermano.</a:t>
            </a:r>
            <a:endParaRPr lang="en-US" sz="1600" dirty="0"/>
          </a:p>
        </p:txBody>
      </p:sp>
      <p:sp>
        <p:nvSpPr>
          <p:cNvPr id="8" name="circulo icono"/>
          <p:cNvSpPr/>
          <p:nvPr/>
        </p:nvSpPr>
        <p:spPr>
          <a:xfrm>
            <a:off x="548640" y="260604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688336"/>
            <a:ext cx="164592" cy="164592"/>
          </a:xfrm>
          <a:prstGeom prst="rect">
            <a:avLst/>
          </a:prstGeom>
        </p:spPr>
      </p:pic>
      <p:sp>
        <p:nvSpPr>
          <p:cNvPr id="10" name="subtitulo"/>
          <p:cNvSpPr txBox="1"/>
          <p:nvPr/>
        </p:nvSpPr>
        <p:spPr>
          <a:xfrm>
            <a:off x="987552"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3063240"/>
            <a:ext cx="5364328" cy="1222248"/>
          </a:xfrm>
          <a:prstGeom prst="rect">
            <a:avLst/>
          </a:prstGeom>
          <a:noFill/>
          <a:ln/>
        </p:spPr>
        <p:txBody>
          <a:bodyPr wrap="square" lIns="254" tIns="254" rIns="254" bIns="254" rtlCol="0" anchor="t"/>
          <a:lstStyle/>
          <a:p>
            <a:pPr indent="0" marL="0">
              <a:buNone/>
            </a:pPr>
            <a:r>
              <a:rPr lang="en-US" sz="1900" b="1" dirty="0">
                <a:solidFill>
                  <a:schemeClr val="tx1"/>
                </a:solidFill>
              </a:rPr>
              <a:t>Correcta: distinguir producción de percepción.</a:t>
            </a:r>
            <a:pPr indent="0" marL="0">
              <a:buNone/>
            </a:pPr>
            <a:r>
              <a:rPr lang="en-US" sz="1900" dirty="0">
                <a:solidFill>
                  <a:schemeClr val="tx1"/>
                </a:solidFill>
              </a:rPr>
              <a:t> Es una buena lección de diseño: una sola observación («no huelo nada») tiene dos explicaciones posibles, y un experimento simple las separa.</a:t>
            </a:r>
            <a:endParaRPr lang="en-US" sz="1900" dirty="0"/>
          </a:p>
        </p:txBody>
      </p:sp>
      <p:sp>
        <p:nvSpPr>
          <p:cNvPr id="12" name="circulo icono"/>
          <p:cNvSpPr/>
          <p:nvPr/>
        </p:nvSpPr>
        <p:spPr>
          <a:xfrm>
            <a:off x="6278728" y="260604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688336"/>
            <a:ext cx="164592" cy="164592"/>
          </a:xfrm>
          <a:prstGeom prst="rect">
            <a:avLst/>
          </a:prstGeom>
        </p:spPr>
      </p:pic>
      <p:sp>
        <p:nvSpPr>
          <p:cNvPr id="14" name="subtitulo"/>
          <p:cNvSpPr txBox="1"/>
          <p:nvPr/>
        </p:nvSpPr>
        <p:spPr>
          <a:xfrm>
            <a:off x="6717640"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319684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3063240"/>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«No produce»: posible, pero no es la única explicación; podría producirlos y no percibirlos.</a:t>
            </a:r>
            <a:endParaRPr lang="en-US" sz="1900" dirty="0"/>
          </a:p>
        </p:txBody>
      </p:sp>
      <p:sp>
        <p:nvSpPr>
          <p:cNvPr id="17" name="vineta"/>
          <p:cNvSpPr/>
          <p:nvPr/>
        </p:nvSpPr>
        <p:spPr>
          <a:xfrm>
            <a:off x="6333592" y="418439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4050792"/>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«Mismo fenotipo por ser hermanos»: comparten en promedio la mitad de las variantes.</a:t>
            </a:r>
            <a:endParaRPr lang="en-US" sz="1900" dirty="0"/>
          </a:p>
        </p:txBody>
      </p:sp>
      <p:sp>
        <p:nvSpPr>
          <p:cNvPr id="19" name="vineta"/>
          <p:cNvSpPr/>
          <p:nvPr/>
        </p:nvSpPr>
        <p:spPr>
          <a:xfrm>
            <a:off x="6333592" y="488238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748784"/>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«Insuficiencia renal»: es un fenómeno común y benigno.</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B2-4 · Café y metabolismo lento</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2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978408"/>
          </a:xfrm>
          <a:prstGeom prst="rect">
            <a:avLst/>
          </a:prstGeom>
          <a:noFill/>
          <a:ln/>
        </p:spPr>
        <p:txBody>
          <a:bodyPr wrap="square" lIns="254" tIns="254" rIns="254" bIns="254" rtlCol="0" anchor="t"/>
          <a:lstStyle/>
          <a:p>
            <a:pPr indent="0" marL="0">
              <a:buNone/>
            </a:pPr>
            <a:r>
              <a:rPr lang="en-US" sz="2000" dirty="0">
                <a:solidFill>
                  <a:schemeClr val="tx1"/>
                </a:solidFill>
              </a:rPr>
              <a:t>Hombre de 42 años, presión arterial limítrofe, toma 4 tazas de café al día. Su genotipo </a:t>
            </a:r>
            <a:pPr indent="0" marL="0">
              <a:buNone/>
            </a:pPr>
            <a:r>
              <a:rPr lang="en-US" sz="2000" i="1" dirty="0">
                <a:solidFill>
                  <a:schemeClr val="tx1"/>
                </a:solidFill>
              </a:rPr>
              <a:t>CYP1A2</a:t>
            </a:r>
            <a:pPr indent="0" marL="0">
              <a:buNone/>
            </a:pPr>
            <a:r>
              <a:rPr lang="en-US" sz="2000" dirty="0">
                <a:solidFill>
                  <a:schemeClr val="tx1"/>
                </a:solidFill>
              </a:rPr>
              <a:t> rs762551 es C/C («metabolizador lento»). ¿Qué recomendación es más coherente con la evidencia?</a:t>
            </a:r>
            <a:endParaRPr lang="en-US" sz="2000" dirty="0"/>
          </a:p>
        </p:txBody>
      </p:sp>
      <p:sp>
        <p:nvSpPr>
          <p:cNvPr id="6" name="circulo"/>
          <p:cNvSpPr/>
          <p:nvPr/>
        </p:nvSpPr>
        <p:spPr>
          <a:xfrm>
            <a:off x="548640" y="25146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5146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496312"/>
            <a:ext cx="10545775" cy="932688"/>
          </a:xfrm>
          <a:prstGeom prst="rect">
            <a:avLst/>
          </a:prstGeom>
          <a:noFill/>
          <a:ln/>
        </p:spPr>
        <p:txBody>
          <a:bodyPr wrap="square" lIns="254" tIns="254" rIns="254" bIns="254" rtlCol="0" anchor="ctr"/>
          <a:lstStyle/>
          <a:p>
            <a:pPr indent="0" marL="0">
              <a:buNone/>
            </a:pPr>
            <a:r>
              <a:rPr lang="en-US" sz="1900" dirty="0">
                <a:solidFill>
                  <a:schemeClr val="tx1"/>
                </a:solidFill>
              </a:rPr>
              <a:t>Considerar reducir a 1–2 tazas/día: en metabolizadores lentos la cafeína permanece más tiempo en circulación, y se ha descrito mayor riesgo cardiovascular con consumo alto en ese genotipo; vigilar presión arterial.</a:t>
            </a:r>
            <a:endParaRPr lang="en-US" sz="1900" dirty="0"/>
          </a:p>
        </p:txBody>
      </p:sp>
      <p:sp>
        <p:nvSpPr>
          <p:cNvPr id="9" name="circulo"/>
          <p:cNvSpPr/>
          <p:nvPr/>
        </p:nvSpPr>
        <p:spPr>
          <a:xfrm>
            <a:off x="548640" y="3538728"/>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353872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3520440"/>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Ninguna: el café es igual para todos.</a:t>
            </a:r>
            <a:endParaRPr lang="en-US" sz="1900" dirty="0"/>
          </a:p>
        </p:txBody>
      </p:sp>
      <p:sp>
        <p:nvSpPr>
          <p:cNvPr id="12" name="circulo"/>
          <p:cNvSpPr/>
          <p:nvPr/>
        </p:nvSpPr>
        <p:spPr>
          <a:xfrm>
            <a:off x="548640" y="4050792"/>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40507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4032504"/>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Aumentar el café porque los metabolizadores lentos se benefician más de la cafeína.</a:t>
            </a:r>
            <a:endParaRPr lang="en-US" sz="1900" dirty="0"/>
          </a:p>
        </p:txBody>
      </p:sp>
      <p:sp>
        <p:nvSpPr>
          <p:cNvPr id="15" name="circulo"/>
          <p:cNvSpPr/>
          <p:nvPr/>
        </p:nvSpPr>
        <p:spPr>
          <a:xfrm>
            <a:off x="548640" y="4562856"/>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456285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4544568"/>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Suspender toda fuente de cafeína de inmediato porque su genotipo es patogénico.</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B2-4 · Café y metabolismo lento</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2 · Respuesta</a:t>
            </a:r>
            <a:endParaRPr lang="en-US" sz="1100" dirty="0"/>
          </a:p>
        </p:txBody>
      </p:sp>
      <p:sp>
        <p:nvSpPr>
          <p:cNvPr id="4" name="caja respuesta"/>
          <p:cNvSpPr/>
          <p:nvPr/>
        </p:nvSpPr>
        <p:spPr>
          <a:xfrm>
            <a:off x="548640" y="1371600"/>
            <a:ext cx="11094415" cy="1005840"/>
          </a:xfrm>
          <a:prstGeom prst="roundRect">
            <a:avLst>
              <a:gd name="adj" fmla="val 10909"/>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859536"/>
          </a:xfrm>
          <a:prstGeom prst="rect">
            <a:avLst/>
          </a:prstGeom>
          <a:noFill/>
          <a:ln/>
        </p:spPr>
        <p:txBody>
          <a:bodyPr wrap="square" lIns="254" tIns="254" rIns="254" bIns="254" rtlCol="0" anchor="ctr"/>
          <a:lstStyle/>
          <a:p>
            <a:pPr indent="0" marL="0">
              <a:buNone/>
            </a:pPr>
            <a:r>
              <a:rPr lang="en-US" sz="1600" b="1" dirty="0">
                <a:solidFill>
                  <a:schemeClr val="tx1"/>
                </a:solidFill>
              </a:rPr>
              <a:t>A)  </a:t>
            </a:r>
            <a:pPr indent="0" marL="0">
              <a:buNone/>
            </a:pPr>
            <a:r>
              <a:rPr lang="en-US" sz="1600" dirty="0">
                <a:solidFill>
                  <a:schemeClr val="tx1"/>
                </a:solidFill>
              </a:rPr>
              <a:t>Considerar reducir a 1–2 tazas/día: en metabolizadores lentos la cafeína permanece más tiempo en circulación, y se ha descrito mayor riesgo cardiovascular con consumo alto en ese genotipo; vigilar presión arterial.</a:t>
            </a:r>
            <a:endParaRPr lang="en-US" sz="1600" dirty="0"/>
          </a:p>
        </p:txBody>
      </p:sp>
      <p:sp>
        <p:nvSpPr>
          <p:cNvPr id="8" name="circulo icono"/>
          <p:cNvSpPr/>
          <p:nvPr/>
        </p:nvSpPr>
        <p:spPr>
          <a:xfrm>
            <a:off x="548640" y="260604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688336"/>
            <a:ext cx="164592" cy="164592"/>
          </a:xfrm>
          <a:prstGeom prst="rect">
            <a:avLst/>
          </a:prstGeom>
        </p:spPr>
      </p:pic>
      <p:sp>
        <p:nvSpPr>
          <p:cNvPr id="10" name="subtitulo"/>
          <p:cNvSpPr txBox="1"/>
          <p:nvPr/>
        </p:nvSpPr>
        <p:spPr>
          <a:xfrm>
            <a:off x="987552"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3063240"/>
            <a:ext cx="5364328" cy="1222248"/>
          </a:xfrm>
          <a:prstGeom prst="rect">
            <a:avLst/>
          </a:prstGeom>
          <a:noFill/>
          <a:ln/>
        </p:spPr>
        <p:txBody>
          <a:bodyPr wrap="square" lIns="254" tIns="254" rIns="254" bIns="254" rtlCol="0" anchor="t"/>
          <a:lstStyle/>
          <a:p>
            <a:pPr indent="0" marL="0">
              <a:buNone/>
            </a:pPr>
            <a:r>
              <a:rPr lang="en-US" sz="1900" b="1" dirty="0">
                <a:solidFill>
                  <a:schemeClr val="tx1"/>
                </a:solidFill>
              </a:rPr>
              <a:t>Correcta: moderar la dosis según el metabolismo.</a:t>
            </a:r>
            <a:pPr indent="0" marL="0">
              <a:buNone/>
            </a:pPr>
            <a:r>
              <a:rPr lang="en-US" sz="1900" dirty="0">
                <a:solidFill>
                  <a:schemeClr val="tx1"/>
                </a:solidFill>
              </a:rPr>
              <a:t> CYP1A2 hace la mayor parte del metabolismo de la cafeína; la variante condiciona cuánto tiempo está expuesto el organismo a la misma dosis.</a:t>
            </a:r>
            <a:endParaRPr lang="en-US" sz="1900" dirty="0"/>
          </a:p>
        </p:txBody>
      </p:sp>
      <p:sp>
        <p:nvSpPr>
          <p:cNvPr id="12" name="circulo icono"/>
          <p:cNvSpPr/>
          <p:nvPr/>
        </p:nvSpPr>
        <p:spPr>
          <a:xfrm>
            <a:off x="6278728" y="260604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688336"/>
            <a:ext cx="164592" cy="164592"/>
          </a:xfrm>
          <a:prstGeom prst="rect">
            <a:avLst/>
          </a:prstGeom>
        </p:spPr>
      </p:pic>
      <p:sp>
        <p:nvSpPr>
          <p:cNvPr id="14" name="subtitulo"/>
          <p:cNvSpPr txBox="1"/>
          <p:nvPr/>
        </p:nvSpPr>
        <p:spPr>
          <a:xfrm>
            <a:off x="6717640"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319684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3063240"/>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«Igual para todos»: ignora la variabilidad farmacocinética documentada.</a:t>
            </a:r>
            <a:endParaRPr lang="en-US" sz="1900" dirty="0"/>
          </a:p>
        </p:txBody>
      </p:sp>
      <p:sp>
        <p:nvSpPr>
          <p:cNvPr id="17" name="vineta"/>
          <p:cNvSpPr/>
          <p:nvPr/>
        </p:nvSpPr>
        <p:spPr>
          <a:xfrm>
            <a:off x="6333592" y="389483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761232"/>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«Aumentar el café»: el beneficio descrito con café se observa sobre todo en metabolizadores rápidos.</a:t>
            </a:r>
            <a:endParaRPr lang="en-US" sz="1900" dirty="0"/>
          </a:p>
        </p:txBody>
      </p:sp>
      <p:sp>
        <p:nvSpPr>
          <p:cNvPr id="19" name="vineta"/>
          <p:cNvSpPr/>
          <p:nvPr/>
        </p:nvSpPr>
        <p:spPr>
          <a:xfrm>
            <a:off x="6333592" y="488238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748784"/>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«Suspender de inmediato, genotipo patogénico»: es una variante común, no una enfermedad; la recomendación es de moderación.</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B2-5 · Rubor y «tolerancia»</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2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673608"/>
          </a:xfrm>
          <a:prstGeom prst="rect">
            <a:avLst/>
          </a:prstGeom>
          <a:noFill/>
          <a:ln/>
        </p:spPr>
        <p:txBody>
          <a:bodyPr wrap="square" lIns="254" tIns="254" rIns="254" bIns="254" rtlCol="0" anchor="t"/>
          <a:lstStyle/>
          <a:p>
            <a:pPr indent="0" marL="0">
              <a:buNone/>
            </a:pPr>
            <a:r>
              <a:rPr lang="en-US" sz="2000" dirty="0">
                <a:solidFill>
                  <a:schemeClr val="tx1"/>
                </a:solidFill>
              </a:rPr>
              <a:t>Una estudiante de ascendencia japonesa (</a:t>
            </a:r>
            <a:pPr indent="0" marL="0">
              <a:buNone/>
            </a:pPr>
            <a:r>
              <a:rPr lang="en-US" sz="2000" i="1" dirty="0">
                <a:solidFill>
                  <a:schemeClr val="tx1"/>
                </a:solidFill>
              </a:rPr>
              <a:t>ALDH2</a:t>
            </a:r>
            <a:pPr indent="0" marL="0">
              <a:buNone/>
            </a:pPr>
            <a:r>
              <a:rPr lang="en-US" sz="2000" dirty="0">
                <a:solidFill>
                  <a:schemeClr val="tx1"/>
                </a:solidFill>
              </a:rPr>
              <a:t>*1/*2) se pone roja al beber. Dice que «va a entrenar su tolerancia» bebiendo más seguido hasta que deje de ponerse roja. ¿Qué le explicas?</a:t>
            </a:r>
            <a:endParaRPr lang="en-US" sz="2000" dirty="0"/>
          </a:p>
        </p:txBody>
      </p:sp>
      <p:sp>
        <p:nvSpPr>
          <p:cNvPr id="6" name="circulo"/>
          <p:cNvSpPr/>
          <p:nvPr/>
        </p:nvSpPr>
        <p:spPr>
          <a:xfrm>
            <a:off x="548640" y="22098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2098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1915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Debe tomar antihistamínicos para quitarse el rubor y seguir bebiendo.</a:t>
            </a:r>
            <a:endParaRPr lang="en-US" sz="1900" dirty="0"/>
          </a:p>
        </p:txBody>
      </p:sp>
      <p:sp>
        <p:nvSpPr>
          <p:cNvPr id="9" name="circulo"/>
          <p:cNvSpPr/>
          <p:nvPr/>
        </p:nvSpPr>
        <p:spPr>
          <a:xfrm>
            <a:off x="548640" y="27218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27218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2703576"/>
            <a:ext cx="10545775" cy="932688"/>
          </a:xfrm>
          <a:prstGeom prst="rect">
            <a:avLst/>
          </a:prstGeom>
          <a:noFill/>
          <a:ln/>
        </p:spPr>
        <p:txBody>
          <a:bodyPr wrap="square" lIns="254" tIns="254" rIns="254" bIns="254" rtlCol="0" anchor="ctr"/>
          <a:lstStyle/>
          <a:p>
            <a:pPr indent="0" marL="0">
              <a:buNone/>
            </a:pPr>
            <a:r>
              <a:rPr lang="en-US" sz="1900" dirty="0">
                <a:solidFill>
                  <a:schemeClr val="tx1"/>
                </a:solidFill>
              </a:rPr>
              <a:t>El rubor es una señal de acumulación de acetaldehído, un carcinógeno; en portadores de ALDH2*2 beber con frecuencia se asocia con mayor riesgo de cáncer de esófago, aunque el rubor disminuya. Conviene reducir el consumo.</a:t>
            </a:r>
            <a:endParaRPr lang="en-US" sz="1900" dirty="0"/>
          </a:p>
        </p:txBody>
      </p:sp>
      <p:sp>
        <p:nvSpPr>
          <p:cNvPr id="12" name="circulo"/>
          <p:cNvSpPr/>
          <p:nvPr/>
        </p:nvSpPr>
        <p:spPr>
          <a:xfrm>
            <a:off x="548640" y="3745992"/>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7459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727704"/>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Su genotipo la protege de cualquier daño por alcohol.</a:t>
            </a:r>
            <a:endParaRPr lang="en-US" sz="1900" dirty="0"/>
          </a:p>
        </p:txBody>
      </p:sp>
      <p:sp>
        <p:nvSpPr>
          <p:cNvPr id="15" name="circulo"/>
          <p:cNvSpPr/>
          <p:nvPr/>
        </p:nvSpPr>
        <p:spPr>
          <a:xfrm>
            <a:off x="548640" y="4258056"/>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425805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4239768"/>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Es buena idea: la tolerancia elimina el riesgo.</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B2-5 · Rubor y «tolerancia»</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2 · Respuesta</a:t>
            </a:r>
            <a:endParaRPr lang="en-US" sz="1100" dirty="0"/>
          </a:p>
        </p:txBody>
      </p:sp>
      <p:sp>
        <p:nvSpPr>
          <p:cNvPr id="4" name="caja respuesta"/>
          <p:cNvSpPr/>
          <p:nvPr/>
        </p:nvSpPr>
        <p:spPr>
          <a:xfrm>
            <a:off x="548640" y="1371600"/>
            <a:ext cx="11094415" cy="1005840"/>
          </a:xfrm>
          <a:prstGeom prst="roundRect">
            <a:avLst>
              <a:gd name="adj" fmla="val 10909"/>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859536"/>
          </a:xfrm>
          <a:prstGeom prst="rect">
            <a:avLst/>
          </a:prstGeom>
          <a:noFill/>
          <a:ln/>
        </p:spPr>
        <p:txBody>
          <a:bodyPr wrap="square" lIns="254" tIns="254" rIns="254" bIns="254" rtlCol="0" anchor="ctr"/>
          <a:lstStyle/>
          <a:p>
            <a:pPr indent="0" marL="0">
              <a:buNone/>
            </a:pPr>
            <a:r>
              <a:rPr lang="en-US" sz="1600" b="1" dirty="0">
                <a:solidFill>
                  <a:schemeClr val="tx1"/>
                </a:solidFill>
              </a:rPr>
              <a:t>B)  </a:t>
            </a:r>
            <a:pPr indent="0" marL="0">
              <a:buNone/>
            </a:pPr>
            <a:r>
              <a:rPr lang="en-US" sz="1600" dirty="0">
                <a:solidFill>
                  <a:schemeClr val="tx1"/>
                </a:solidFill>
              </a:rPr>
              <a:t>El rubor es una señal de acumulación de acetaldehído, un carcinógeno; en portadores de ALDH2*2 beber con frecuencia se asocia con mayor riesgo de cáncer de esófago, aunque el rubor disminuya. Conviene reducir el consumo.</a:t>
            </a:r>
            <a:endParaRPr lang="en-US" sz="1600" dirty="0"/>
          </a:p>
        </p:txBody>
      </p:sp>
      <p:sp>
        <p:nvSpPr>
          <p:cNvPr id="8" name="circulo icono"/>
          <p:cNvSpPr/>
          <p:nvPr/>
        </p:nvSpPr>
        <p:spPr>
          <a:xfrm>
            <a:off x="548640" y="260604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688336"/>
            <a:ext cx="164592" cy="164592"/>
          </a:xfrm>
          <a:prstGeom prst="rect">
            <a:avLst/>
          </a:prstGeom>
        </p:spPr>
      </p:pic>
      <p:sp>
        <p:nvSpPr>
          <p:cNvPr id="10" name="subtitulo"/>
          <p:cNvSpPr txBox="1"/>
          <p:nvPr/>
        </p:nvSpPr>
        <p:spPr>
          <a:xfrm>
            <a:off x="987552"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3063240"/>
            <a:ext cx="5364328" cy="1222248"/>
          </a:xfrm>
          <a:prstGeom prst="rect">
            <a:avLst/>
          </a:prstGeom>
          <a:noFill/>
          <a:ln/>
        </p:spPr>
        <p:txBody>
          <a:bodyPr wrap="square" lIns="254" tIns="254" rIns="254" bIns="254" rtlCol="0" anchor="t"/>
          <a:lstStyle/>
          <a:p>
            <a:pPr indent="0" marL="0">
              <a:buNone/>
            </a:pPr>
            <a:r>
              <a:rPr lang="en-US" sz="1900" b="1" dirty="0">
                <a:solidFill>
                  <a:schemeClr val="tx1"/>
                </a:solidFill>
              </a:rPr>
              <a:t>Correcta: el rubor es la alarma, no el problema.</a:t>
            </a:r>
            <a:pPr indent="0" marL="0">
              <a:buNone/>
            </a:pPr>
            <a:r>
              <a:rPr lang="en-US" sz="1900" dirty="0">
                <a:solidFill>
                  <a:schemeClr val="tx1"/>
                </a:solidFill>
              </a:rPr>
              <a:t> Quitar la señal (por adaptación o fármacos) no elimina la exposición al acetaldehído en la mucosa.</a:t>
            </a:r>
            <a:endParaRPr lang="en-US" sz="1900" dirty="0"/>
          </a:p>
        </p:txBody>
      </p:sp>
      <p:sp>
        <p:nvSpPr>
          <p:cNvPr id="12" name="circulo icono"/>
          <p:cNvSpPr/>
          <p:nvPr/>
        </p:nvSpPr>
        <p:spPr>
          <a:xfrm>
            <a:off x="6278728" y="260604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688336"/>
            <a:ext cx="164592" cy="164592"/>
          </a:xfrm>
          <a:prstGeom prst="rect">
            <a:avLst/>
          </a:prstGeom>
        </p:spPr>
      </p:pic>
      <p:sp>
        <p:nvSpPr>
          <p:cNvPr id="14" name="subtitulo"/>
          <p:cNvSpPr txBox="1"/>
          <p:nvPr/>
        </p:nvSpPr>
        <p:spPr>
          <a:xfrm>
            <a:off x="6717640"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319684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3063240"/>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«La tolerancia elimina el riesgo»: el acetaldehído sigue acumulándose.</a:t>
            </a:r>
            <a:endParaRPr lang="en-US" sz="1900" dirty="0"/>
          </a:p>
        </p:txBody>
      </p:sp>
      <p:sp>
        <p:nvSpPr>
          <p:cNvPr id="17" name="vineta"/>
          <p:cNvSpPr/>
          <p:nvPr/>
        </p:nvSpPr>
        <p:spPr>
          <a:xfrm>
            <a:off x="6333592" y="389483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761232"/>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«La protege»: el efecto aversivo puede reducir el consumo, pero si bebe, su riesgo es mayor.</a:t>
            </a:r>
            <a:endParaRPr lang="en-US" sz="1900" dirty="0"/>
          </a:p>
        </p:txBody>
      </p:sp>
      <p:sp>
        <p:nvSpPr>
          <p:cNvPr id="19" name="vineta"/>
          <p:cNvSpPr/>
          <p:nvPr/>
        </p:nvSpPr>
        <p:spPr>
          <a:xfrm>
            <a:off x="6333592" y="488238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748784"/>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«Antihistamínicos»: enmascaran la señal y facilitan beber más.</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B2-6 · APOE ε4 y alcohol</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2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978408"/>
          </a:xfrm>
          <a:prstGeom prst="rect">
            <a:avLst/>
          </a:prstGeom>
          <a:noFill/>
          <a:ln/>
        </p:spPr>
        <p:txBody>
          <a:bodyPr wrap="square" lIns="254" tIns="254" rIns="254" bIns="254" rtlCol="0" anchor="t"/>
          <a:lstStyle/>
          <a:p>
            <a:pPr indent="0" marL="0">
              <a:buNone/>
            </a:pPr>
            <a:r>
              <a:rPr lang="en-US" sz="2000" dirty="0">
                <a:solidFill>
                  <a:schemeClr val="tx1"/>
                </a:solidFill>
              </a:rPr>
              <a:t>Hombre de 50 años, </a:t>
            </a:r>
            <a:pPr indent="0" marL="0">
              <a:buNone/>
            </a:pPr>
            <a:r>
              <a:rPr lang="en-US" sz="2000" i="1" dirty="0">
                <a:solidFill>
                  <a:schemeClr val="tx1"/>
                </a:solidFill>
              </a:rPr>
              <a:t>APOE</a:t>
            </a:r>
            <a:pPr indent="0" marL="0">
              <a:buNone/>
            </a:pPr>
            <a:r>
              <a:rPr lang="en-US" sz="2000" dirty="0">
                <a:solidFill>
                  <a:schemeClr val="tx1"/>
                </a:solidFill>
              </a:rPr>
              <a:t> ε3/ε4, LDL 168 mg/dL, bebe 3 cervezas diarias. Su cuñado (ε2/ε3) bebe lo mismo y tiene LDL de 110 mg/dL. ¿Qué interpretación se apoya en la evidencia de interacción gen–dieta?</a:t>
            </a:r>
            <a:endParaRPr lang="en-US" sz="2000" dirty="0"/>
          </a:p>
        </p:txBody>
      </p:sp>
      <p:sp>
        <p:nvSpPr>
          <p:cNvPr id="6" name="circulo"/>
          <p:cNvSpPr/>
          <p:nvPr/>
        </p:nvSpPr>
        <p:spPr>
          <a:xfrm>
            <a:off x="548640" y="25146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5146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4963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La diferencia entre ambos se debe solo al alcohol.</a:t>
            </a:r>
            <a:endParaRPr lang="en-US" sz="1900" dirty="0"/>
          </a:p>
        </p:txBody>
      </p:sp>
      <p:sp>
        <p:nvSpPr>
          <p:cNvPr id="9" name="circulo"/>
          <p:cNvSpPr/>
          <p:nvPr/>
        </p:nvSpPr>
        <p:spPr>
          <a:xfrm>
            <a:off x="548640" y="30266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30266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3008376"/>
            <a:ext cx="10545775" cy="932688"/>
          </a:xfrm>
          <a:prstGeom prst="rect">
            <a:avLst/>
          </a:prstGeom>
          <a:noFill/>
          <a:ln/>
        </p:spPr>
        <p:txBody>
          <a:bodyPr wrap="square" lIns="254" tIns="254" rIns="254" bIns="254" rtlCol="0" anchor="ctr"/>
          <a:lstStyle/>
          <a:p>
            <a:pPr indent="0" marL="0">
              <a:buNone/>
            </a:pPr>
            <a:r>
              <a:rPr lang="en-US" sz="1900" dirty="0">
                <a:solidFill>
                  <a:schemeClr val="tx1"/>
                </a:solidFill>
              </a:rPr>
              <a:t>En portadores de ε4 se ha descrito que el consumo de alcohol se asocia con LDL más alto, mientras que en portadores de ε2 se asocia con LDL más bajo; en este paciente, reducir el alcohol es una medida razonable junto con el resto del tratamiento.</a:t>
            </a:r>
            <a:endParaRPr lang="en-US" sz="1900" dirty="0"/>
          </a:p>
        </p:txBody>
      </p:sp>
      <p:sp>
        <p:nvSpPr>
          <p:cNvPr id="12" name="circulo"/>
          <p:cNvSpPr/>
          <p:nvPr/>
        </p:nvSpPr>
        <p:spPr>
          <a:xfrm>
            <a:off x="548640" y="4050792"/>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40507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4032504"/>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El alcohol baja el LDL en todos por igual.</a:t>
            </a:r>
            <a:endParaRPr lang="en-US" sz="1900" dirty="0"/>
          </a:p>
        </p:txBody>
      </p:sp>
      <p:sp>
        <p:nvSpPr>
          <p:cNvPr id="15" name="circulo"/>
          <p:cNvSpPr/>
          <p:nvPr/>
        </p:nvSpPr>
        <p:spPr>
          <a:xfrm>
            <a:off x="548640" y="4562856"/>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456285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4544568"/>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El genotipo ε4 obliga a iniciar estatinas sin cambios de estilo de vida.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B2-6 · APOE ε4 y alcohol</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2 · Respuesta</a:t>
            </a:r>
            <a:endParaRPr lang="en-US" sz="1100" dirty="0"/>
          </a:p>
        </p:txBody>
      </p:sp>
      <p:sp>
        <p:nvSpPr>
          <p:cNvPr id="4" name="caja respuesta"/>
          <p:cNvSpPr/>
          <p:nvPr/>
        </p:nvSpPr>
        <p:spPr>
          <a:xfrm>
            <a:off x="548640" y="1371600"/>
            <a:ext cx="11094415" cy="1005840"/>
          </a:xfrm>
          <a:prstGeom prst="roundRect">
            <a:avLst>
              <a:gd name="adj" fmla="val 10909"/>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859536"/>
          </a:xfrm>
          <a:prstGeom prst="rect">
            <a:avLst/>
          </a:prstGeom>
          <a:noFill/>
          <a:ln/>
        </p:spPr>
        <p:txBody>
          <a:bodyPr wrap="square" lIns="254" tIns="254" rIns="254" bIns="254" rtlCol="0" anchor="ctr"/>
          <a:lstStyle/>
          <a:p>
            <a:pPr indent="0" marL="0">
              <a:buNone/>
            </a:pPr>
            <a:r>
              <a:rPr lang="en-US" sz="1600" b="1" dirty="0">
                <a:solidFill>
                  <a:schemeClr val="tx1"/>
                </a:solidFill>
              </a:rPr>
              <a:t>B)  </a:t>
            </a:r>
            <a:pPr indent="0" marL="0">
              <a:buNone/>
            </a:pPr>
            <a:r>
              <a:rPr lang="en-US" sz="1600" dirty="0">
                <a:solidFill>
                  <a:schemeClr val="tx1"/>
                </a:solidFill>
              </a:rPr>
              <a:t>En portadores de ε4 se ha descrito que el consumo de alcohol se asocia con LDL más alto, mientras que en portadores de ε2 se asocia con LDL más bajo; en este paciente, reducir el alcohol es una medida razonable junto con el resto del tratamiento.</a:t>
            </a:r>
            <a:endParaRPr lang="en-US" sz="1600" dirty="0"/>
          </a:p>
        </p:txBody>
      </p:sp>
      <p:sp>
        <p:nvSpPr>
          <p:cNvPr id="8" name="circulo icono"/>
          <p:cNvSpPr/>
          <p:nvPr/>
        </p:nvSpPr>
        <p:spPr>
          <a:xfrm>
            <a:off x="548640" y="260604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688336"/>
            <a:ext cx="164592" cy="164592"/>
          </a:xfrm>
          <a:prstGeom prst="rect">
            <a:avLst/>
          </a:prstGeom>
        </p:spPr>
      </p:pic>
      <p:sp>
        <p:nvSpPr>
          <p:cNvPr id="10" name="subtitulo"/>
          <p:cNvSpPr txBox="1"/>
          <p:nvPr/>
        </p:nvSpPr>
        <p:spPr>
          <a:xfrm>
            <a:off x="987552"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3063240"/>
            <a:ext cx="5364328" cy="1222248"/>
          </a:xfrm>
          <a:prstGeom prst="rect">
            <a:avLst/>
          </a:prstGeom>
          <a:noFill/>
          <a:ln/>
        </p:spPr>
        <p:txBody>
          <a:bodyPr wrap="square" lIns="254" tIns="254" rIns="254" bIns="254" rtlCol="0" anchor="t"/>
          <a:lstStyle/>
          <a:p>
            <a:pPr indent="0" marL="0">
              <a:buNone/>
            </a:pPr>
            <a:r>
              <a:rPr lang="en-US" sz="1900" b="1" dirty="0">
                <a:solidFill>
                  <a:schemeClr val="tx1"/>
                </a:solidFill>
              </a:rPr>
              <a:t>Correcta: interacción APOE × alcohol sobre LDL.</a:t>
            </a:r>
            <a:pPr indent="0" marL="0">
              <a:buNone/>
            </a:pPr>
            <a:r>
              <a:rPr lang="en-US" sz="1900" dirty="0">
                <a:solidFill>
                  <a:schemeClr val="tx1"/>
                </a:solidFill>
              </a:rPr>
              <a:t> El mismo hábito puede asociarse con efectos opuestos según el genotipo; por eso la recomendación individual considera ambos.</a:t>
            </a:r>
            <a:endParaRPr lang="en-US" sz="1900" dirty="0"/>
          </a:p>
        </p:txBody>
      </p:sp>
      <p:sp>
        <p:nvSpPr>
          <p:cNvPr id="12" name="circulo icono"/>
          <p:cNvSpPr/>
          <p:nvPr/>
        </p:nvSpPr>
        <p:spPr>
          <a:xfrm>
            <a:off x="6278728" y="260604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688336"/>
            <a:ext cx="164592" cy="164592"/>
          </a:xfrm>
          <a:prstGeom prst="rect">
            <a:avLst/>
          </a:prstGeom>
        </p:spPr>
      </p:pic>
      <p:sp>
        <p:nvSpPr>
          <p:cNvPr id="14" name="subtitulo"/>
          <p:cNvSpPr txBox="1"/>
          <p:nvPr/>
        </p:nvSpPr>
        <p:spPr>
          <a:xfrm>
            <a:off x="6717640"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319684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3063240"/>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«Baja el LDL en todos»: es justamente lo que la interacción contradice.</a:t>
            </a:r>
            <a:endParaRPr lang="en-US" sz="1900" dirty="0"/>
          </a:p>
        </p:txBody>
      </p:sp>
      <p:sp>
        <p:nvSpPr>
          <p:cNvPr id="17" name="vineta"/>
          <p:cNvSpPr/>
          <p:nvPr/>
        </p:nvSpPr>
        <p:spPr>
          <a:xfrm>
            <a:off x="6333592" y="389483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761232"/>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«Solo al alcohol»: beben lo mismo; la diferencia sugiere el genotipo (y otros factores).</a:t>
            </a:r>
            <a:endParaRPr lang="en-US" sz="1900" dirty="0"/>
          </a:p>
        </p:txBody>
      </p:sp>
      <p:sp>
        <p:nvSpPr>
          <p:cNvPr id="19" name="vineta"/>
          <p:cNvSpPr/>
          <p:nvPr/>
        </p:nvSpPr>
        <p:spPr>
          <a:xfrm>
            <a:off x="6333592" y="459282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459224"/>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«Estatinas sin estilo de vida»: el genotipo no sustituye la evaluación clínica ni elimina la intervención dietaria.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B2-7 · Interpretar un reporte de FTO</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2 · 3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Selección múltiple: marca todas las correctas</a:t>
            </a:r>
            <a:endParaRPr lang="en-US" sz="1100" dirty="0"/>
          </a:p>
        </p:txBody>
      </p:sp>
      <p:sp>
        <p:nvSpPr>
          <p:cNvPr id="5" name="texto"/>
          <p:cNvSpPr txBox="1"/>
          <p:nvPr/>
        </p:nvSpPr>
        <p:spPr>
          <a:xfrm>
            <a:off x="548640" y="1371600"/>
            <a:ext cx="11094415" cy="673608"/>
          </a:xfrm>
          <a:prstGeom prst="rect">
            <a:avLst/>
          </a:prstGeom>
          <a:noFill/>
          <a:ln/>
        </p:spPr>
        <p:txBody>
          <a:bodyPr wrap="square" lIns="254" tIns="254" rIns="254" bIns="254" rtlCol="0" anchor="t"/>
          <a:lstStyle/>
          <a:p>
            <a:pPr indent="0" marL="0">
              <a:buNone/>
            </a:pPr>
            <a:r>
              <a:rPr lang="en-US" sz="2000" dirty="0">
                <a:solidFill>
                  <a:schemeClr val="tx1"/>
                </a:solidFill>
              </a:rPr>
              <a:t>Mujer de 29 años, IMC 33, </a:t>
            </a:r>
            <a:pPr indent="0" marL="0">
              <a:buNone/>
            </a:pPr>
            <a:r>
              <a:rPr lang="en-US" sz="2000" i="1" dirty="0">
                <a:solidFill>
                  <a:schemeClr val="tx1"/>
                </a:solidFill>
              </a:rPr>
              <a:t>FTO</a:t>
            </a:r>
            <a:pPr indent="0" marL="0">
              <a:buNone/>
            </a:pPr>
            <a:r>
              <a:rPr lang="en-US" sz="2000" dirty="0">
                <a:solidFill>
                  <a:schemeClr val="tx1"/>
                </a:solidFill>
              </a:rPr>
              <a:t> rs9939609 AA. Un laboratorio comercial le recomienda «una dieta especial para su genotipo FTO». Selecciona las afirmaciones bien sustentadas.</a:t>
            </a:r>
            <a:endParaRPr lang="en-US" sz="2000" dirty="0"/>
          </a:p>
        </p:txBody>
      </p:sp>
      <p:sp>
        <p:nvSpPr>
          <p:cNvPr id="6" name="circulo"/>
          <p:cNvSpPr/>
          <p:nvPr/>
        </p:nvSpPr>
        <p:spPr>
          <a:xfrm>
            <a:off x="548640" y="22098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2098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1915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Una «dieta para FTO» tiene eficacia superior demostrada frente a una dieta saludable estándar.</a:t>
            </a:r>
            <a:endParaRPr lang="en-US" sz="1900" dirty="0"/>
          </a:p>
        </p:txBody>
      </p:sp>
      <p:sp>
        <p:nvSpPr>
          <p:cNvPr id="9" name="circulo"/>
          <p:cNvSpPr/>
          <p:nvPr/>
        </p:nvSpPr>
        <p:spPr>
          <a:xfrm>
            <a:off x="548640" y="27218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27218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2703576"/>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Su genotipo se asocia con mayor riesgo de obesidad, pero no la determina.</a:t>
            </a:r>
            <a:endParaRPr lang="en-US" sz="1900" dirty="0"/>
          </a:p>
        </p:txBody>
      </p:sp>
      <p:sp>
        <p:nvSpPr>
          <p:cNvPr id="12" name="circulo"/>
          <p:cNvSpPr/>
          <p:nvPr/>
        </p:nvSpPr>
        <p:spPr>
          <a:xfrm>
            <a:off x="548640" y="3233928"/>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23392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215640"/>
            <a:ext cx="10545775" cy="643128"/>
          </a:xfrm>
          <a:prstGeom prst="rect">
            <a:avLst/>
          </a:prstGeom>
          <a:noFill/>
          <a:ln/>
        </p:spPr>
        <p:txBody>
          <a:bodyPr wrap="square" lIns="254" tIns="254" rIns="254" bIns="254" rtlCol="0" anchor="ctr"/>
          <a:lstStyle/>
          <a:p>
            <a:pPr indent="0" marL="0">
              <a:buNone/>
            </a:pPr>
            <a:r>
              <a:rPr lang="en-US" sz="1900" dirty="0">
                <a:solidFill>
                  <a:schemeClr val="tx1"/>
                </a:solidFill>
              </a:rPr>
              <a:t>Las personas AA pierden en promedio un peso similar a las TT en intervenciones de dieta y ejercicio, así que el genotipo no es una razón para no intentarlo.</a:t>
            </a:r>
            <a:endParaRPr lang="en-US" sz="1900" dirty="0"/>
          </a:p>
        </p:txBody>
      </p:sp>
      <p:sp>
        <p:nvSpPr>
          <p:cNvPr id="15" name="circulo"/>
          <p:cNvSpPr/>
          <p:nvPr/>
        </p:nvSpPr>
        <p:spPr>
          <a:xfrm>
            <a:off x="548640" y="3968496"/>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396849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3950208"/>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Si fuera TT, no tendría riesgo de obesidad.</a:t>
            </a:r>
            <a:endParaRPr lang="en-US" sz="1900" dirty="0"/>
          </a:p>
        </p:txBody>
      </p:sp>
      <p:sp>
        <p:nvSpPr>
          <p:cNvPr id="18" name="circulo"/>
          <p:cNvSpPr/>
          <p:nvPr/>
        </p:nvSpPr>
        <p:spPr>
          <a:xfrm>
            <a:off x="548640" y="4480560"/>
            <a:ext cx="384048" cy="384048"/>
          </a:xfrm>
          <a:prstGeom prst="ellipse">
            <a:avLst/>
          </a:prstGeom>
          <a:solidFill>
            <a:schemeClr val="accent1"/>
          </a:solidFill>
          <a:ln w="12700">
            <a:solidFill>
              <a:schemeClr val="accent1"/>
            </a:solidFill>
            <a:prstDash val="solid"/>
          </a:ln>
        </p:spPr>
      </p:sp>
      <p:sp>
        <p:nvSpPr>
          <p:cNvPr id="19" name="letra"/>
          <p:cNvSpPr txBox="1"/>
          <p:nvPr/>
        </p:nvSpPr>
        <p:spPr>
          <a:xfrm>
            <a:off x="548640" y="448056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E</a:t>
            </a:r>
            <a:endParaRPr lang="en-US" sz="1600" dirty="0"/>
          </a:p>
        </p:txBody>
      </p:sp>
      <p:sp>
        <p:nvSpPr>
          <p:cNvPr id="20" name="opcion"/>
          <p:cNvSpPr txBox="1"/>
          <p:nvPr/>
        </p:nvSpPr>
        <p:spPr>
          <a:xfrm>
            <a:off x="1097280" y="446227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La actividad física atenúa el efecto del alelo A sobre el IMC.</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B2-7 · Interpretar un reporte de FTO</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2 · Respuesta</a:t>
            </a:r>
            <a:endParaRPr lang="en-US" sz="1100" dirty="0"/>
          </a:p>
        </p:txBody>
      </p:sp>
      <p:sp>
        <p:nvSpPr>
          <p:cNvPr id="4" name="caja respuesta"/>
          <p:cNvSpPr/>
          <p:nvPr/>
        </p:nvSpPr>
        <p:spPr>
          <a:xfrm>
            <a:off x="548640" y="1371600"/>
            <a:ext cx="11094415" cy="1249680"/>
          </a:xfrm>
          <a:prstGeom prst="roundRect">
            <a:avLst>
              <a:gd name="adj" fmla="val 8780"/>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1103376"/>
          </a:xfrm>
          <a:prstGeom prst="rect">
            <a:avLst/>
          </a:prstGeom>
          <a:noFill/>
          <a:ln/>
        </p:spPr>
        <p:txBody>
          <a:bodyPr wrap="square" lIns="254" tIns="254" rIns="254" bIns="254" rtlCol="0" anchor="ctr"/>
          <a:lstStyle/>
          <a:p>
            <a:pPr indent="0" marL="0">
              <a:buNone/>
            </a:pPr>
            <a:r>
              <a:rPr lang="en-US" sz="1600" b="1" dirty="0">
                <a:solidFill>
                  <a:schemeClr val="tx1"/>
                </a:solidFill>
              </a:rPr>
              <a:t>B)  </a:t>
            </a:r>
            <a:pPr indent="0" marL="0">
              <a:buNone/>
            </a:pPr>
            <a:r>
              <a:rPr lang="en-US" sz="1600" dirty="0">
                <a:solidFill>
                  <a:schemeClr val="tx1"/>
                </a:solidFill>
              </a:rPr>
              <a:t>Su genotipo se asocia con mayor riesgo de obesidad, pero no la determina.</a:t>
            </a:r>
            <a:endParaRPr lang="en-US" sz="1600" dirty="0"/>
          </a:p>
          <a:p>
            <a:pPr indent="0" marL="0">
              <a:buNone/>
            </a:pPr>
            <a:r>
              <a:rPr lang="en-US" sz="1600" b="1" dirty="0">
                <a:solidFill>
                  <a:schemeClr val="tx1"/>
                </a:solidFill>
              </a:rPr>
              <a:t>C)  </a:t>
            </a:r>
            <a:pPr indent="0" marL="0">
              <a:buNone/>
            </a:pPr>
            <a:r>
              <a:rPr lang="en-US" sz="1600" dirty="0">
                <a:solidFill>
                  <a:schemeClr val="tx1"/>
                </a:solidFill>
              </a:rPr>
              <a:t>Las personas AA pierden en promedio un peso similar a las TT en intervenciones de dieta y ejercicio, así que el genotipo no es una razón para no intentarlo.</a:t>
            </a:r>
            <a:endParaRPr lang="en-US" sz="1600" dirty="0"/>
          </a:p>
          <a:p>
            <a:pPr indent="0" marL="0">
              <a:buNone/>
            </a:pPr>
            <a:r>
              <a:rPr lang="en-US" sz="1600" b="1" dirty="0">
                <a:solidFill>
                  <a:schemeClr val="tx1"/>
                </a:solidFill>
              </a:rPr>
              <a:t>E)  </a:t>
            </a:r>
            <a:pPr indent="0" marL="0">
              <a:buNone/>
            </a:pPr>
            <a:r>
              <a:rPr lang="en-US" sz="1600" dirty="0">
                <a:solidFill>
                  <a:schemeClr val="tx1"/>
                </a:solidFill>
              </a:rPr>
              <a:t>La actividad física atenúa el efecto del alelo A sobre el IMC.</a:t>
            </a:r>
            <a:endParaRPr lang="en-US" sz="1600" dirty="0"/>
          </a:p>
        </p:txBody>
      </p:sp>
      <p:sp>
        <p:nvSpPr>
          <p:cNvPr id="8" name="circulo icono"/>
          <p:cNvSpPr/>
          <p:nvPr/>
        </p:nvSpPr>
        <p:spPr>
          <a:xfrm>
            <a:off x="548640" y="2849880"/>
            <a:ext cx="329184" cy="329184"/>
          </a:xfrm>
          <a:prstGeom prst="ellipse">
            <a:avLst/>
          </a:prstGeom>
          <a:solidFill>
            <a:schemeClr val="accent4"/>
          </a:solidFill>
          <a:ln w="12700">
            <a:solidFill>
              <a:schemeClr val="accent4"/>
            </a:solidFill>
            <a:prstDash val="solid"/>
          </a:ln>
        </p:spPr>
      </p:sp>
      <p:pic>
        <p:nvPicPr>
          <p:cNvPr id="9" name="Image 1" descr="Explicación">    </p:cNvPr>
          <p:cNvPicPr>
            <a:picLocks noChangeAspect="1"/>
          </p:cNvPicPr>
          <p:nvPr/>
        </p:nvPicPr>
        <p:blipFill>
          <a:blip r:embed="rId2"/>
          <a:stretch>
            <a:fillRect/>
          </a:stretch>
        </p:blipFill>
        <p:spPr>
          <a:xfrm>
            <a:off x="630936" y="2932176"/>
            <a:ext cx="164592" cy="164592"/>
          </a:xfrm>
          <a:prstGeom prst="rect">
            <a:avLst/>
          </a:prstGeom>
        </p:spPr>
      </p:pic>
      <p:sp>
        <p:nvSpPr>
          <p:cNvPr id="10" name="subtitulo"/>
          <p:cNvSpPr txBox="1"/>
          <p:nvPr/>
        </p:nvSpPr>
        <p:spPr>
          <a:xfrm>
            <a:off x="987552" y="2849880"/>
            <a:ext cx="10655503" cy="329184"/>
          </a:xfrm>
          <a:prstGeom prst="rect">
            <a:avLst/>
          </a:prstGeom>
          <a:noFill/>
          <a:ln/>
        </p:spPr>
        <p:txBody>
          <a:bodyPr wrap="square" lIns="0" tIns="0" rIns="0" bIns="0" rtlCol="0" anchor="ctr"/>
          <a:lstStyle/>
          <a:p>
            <a:pPr indent="0" marL="0">
              <a:buNone/>
            </a:pPr>
            <a:r>
              <a:rPr lang="en-US" sz="1600" b="1" dirty="0">
                <a:solidFill>
                  <a:schemeClr val="tx2"/>
                </a:solidFill>
              </a:rPr>
              <a:t>Explicación</a:t>
            </a:r>
            <a:endParaRPr lang="en-US" sz="1600" dirty="0"/>
          </a:p>
        </p:txBody>
      </p:sp>
      <p:sp>
        <p:nvSpPr>
          <p:cNvPr id="11" name="texto"/>
          <p:cNvSpPr txBox="1"/>
          <p:nvPr/>
        </p:nvSpPr>
        <p:spPr>
          <a:xfrm>
            <a:off x="548640" y="3307080"/>
            <a:ext cx="11094415" cy="643128"/>
          </a:xfrm>
          <a:prstGeom prst="rect">
            <a:avLst/>
          </a:prstGeom>
          <a:noFill/>
          <a:ln/>
        </p:spPr>
        <p:txBody>
          <a:bodyPr wrap="square" lIns="254" tIns="254" rIns="254" bIns="254" rtlCol="0" anchor="t"/>
          <a:lstStyle/>
          <a:p>
            <a:pPr indent="0" marL="0">
              <a:buNone/>
            </a:pPr>
            <a:r>
              <a:rPr lang="en-US" sz="1900" b="1" dirty="0">
                <a:solidFill>
                  <a:schemeClr val="tx1"/>
                </a:solidFill>
              </a:rPr>
              <a:t>Por qué son correctas:</a:t>
            </a:r>
            <a:pPr indent="0" marL="0">
              <a:buNone/>
            </a:pPr>
            <a:r>
              <a:rPr lang="en-US" sz="1900" dirty="0">
                <a:solidFill>
                  <a:schemeClr val="tx1"/>
                </a:solidFill>
              </a:rPr>
              <a:t> FTO aumenta el riesgo de forma modesta; la actividad física lo atenúa, y los metaanálisis no muestran peor respuesta a la pérdida de peso en portadores del alelo 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B2-8 · Un hiperrespondedor que quizá no lo es</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2 · 3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Selección múltiple: marca todas las correctas</a:t>
            </a:r>
            <a:endParaRPr lang="en-US" sz="1100" dirty="0"/>
          </a:p>
        </p:txBody>
      </p:sp>
      <p:sp>
        <p:nvSpPr>
          <p:cNvPr id="5" name="texto"/>
          <p:cNvSpPr txBox="1"/>
          <p:nvPr/>
        </p:nvSpPr>
        <p:spPr>
          <a:xfrm>
            <a:off x="548640" y="1371600"/>
            <a:ext cx="11094415" cy="978408"/>
          </a:xfrm>
          <a:prstGeom prst="rect">
            <a:avLst/>
          </a:prstGeom>
          <a:noFill/>
          <a:ln/>
        </p:spPr>
        <p:txBody>
          <a:bodyPr wrap="square" lIns="254" tIns="254" rIns="254" bIns="254" rtlCol="0" anchor="t"/>
          <a:lstStyle/>
          <a:p>
            <a:pPr indent="0" marL="0">
              <a:buNone/>
            </a:pPr>
            <a:r>
              <a:rPr lang="en-US" sz="2000" dirty="0">
                <a:solidFill>
                  <a:schemeClr val="tx1"/>
                </a:solidFill>
              </a:rPr>
              <a:t>En consulta, una paciente sube su LDL de 120 a 150 mg/dL tras dos semanas comiendo 3 huevos diarios, y la etiquetan como «hiperrespondedora genética». Selecciona las afirmaciones correctas.</a:t>
            </a:r>
            <a:endParaRPr lang="en-US" sz="2000" dirty="0"/>
          </a:p>
        </p:txBody>
      </p:sp>
      <p:sp>
        <p:nvSpPr>
          <p:cNvPr id="6" name="circulo"/>
          <p:cNvSpPr/>
          <p:nvPr/>
        </p:nvSpPr>
        <p:spPr>
          <a:xfrm>
            <a:off x="548640" y="25146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5146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496312"/>
            <a:ext cx="10545775" cy="643128"/>
          </a:xfrm>
          <a:prstGeom prst="rect">
            <a:avLst/>
          </a:prstGeom>
          <a:noFill/>
          <a:ln/>
        </p:spPr>
        <p:txBody>
          <a:bodyPr wrap="square" lIns="254" tIns="254" rIns="254" bIns="254" rtlCol="0" anchor="ctr"/>
          <a:lstStyle/>
          <a:p>
            <a:pPr indent="0" marL="0">
              <a:buNone/>
            </a:pPr>
            <a:r>
              <a:rPr lang="en-US" sz="1900" dirty="0">
                <a:solidFill>
                  <a:schemeClr val="tx1"/>
                </a:solidFill>
              </a:rPr>
              <a:t>Una sola medición antes y después no basta: el LDL varía entre días, y parte del cambio podría ser variabilidad intraindividual.</a:t>
            </a:r>
            <a:endParaRPr lang="en-US" sz="1900" dirty="0"/>
          </a:p>
        </p:txBody>
      </p:sp>
      <p:sp>
        <p:nvSpPr>
          <p:cNvPr id="9" name="circulo"/>
          <p:cNvSpPr/>
          <p:nvPr/>
        </p:nvSpPr>
        <p:spPr>
          <a:xfrm>
            <a:off x="548640" y="3249168"/>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324916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3230880"/>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Para clasificarla habría que repetir mediciones o repetir el reto dietario.</a:t>
            </a:r>
            <a:endParaRPr lang="en-US" sz="1900" dirty="0"/>
          </a:p>
        </p:txBody>
      </p:sp>
      <p:sp>
        <p:nvSpPr>
          <p:cNvPr id="12" name="circulo"/>
          <p:cNvSpPr/>
          <p:nvPr/>
        </p:nvSpPr>
        <p:spPr>
          <a:xfrm>
            <a:off x="548640" y="3761232"/>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76123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742944"/>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Los hiporrespondedores no tienen ninguna base genética.</a:t>
            </a:r>
            <a:endParaRPr lang="en-US" sz="1900" dirty="0"/>
          </a:p>
        </p:txBody>
      </p:sp>
      <p:sp>
        <p:nvSpPr>
          <p:cNvPr id="15" name="circulo"/>
          <p:cNvSpPr/>
          <p:nvPr/>
        </p:nvSpPr>
        <p:spPr>
          <a:xfrm>
            <a:off x="548640" y="4273296"/>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427329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4255008"/>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Si es hiperrespondedora, todos sus familiares también lo serán.</a:t>
            </a:r>
            <a:endParaRPr lang="en-US" sz="1900" dirty="0"/>
          </a:p>
        </p:txBody>
      </p:sp>
      <p:sp>
        <p:nvSpPr>
          <p:cNvPr id="18" name="circulo"/>
          <p:cNvSpPr/>
          <p:nvPr/>
        </p:nvSpPr>
        <p:spPr>
          <a:xfrm>
            <a:off x="548640" y="4785360"/>
            <a:ext cx="384048" cy="384048"/>
          </a:xfrm>
          <a:prstGeom prst="ellipse">
            <a:avLst/>
          </a:prstGeom>
          <a:solidFill>
            <a:schemeClr val="accent1"/>
          </a:solidFill>
          <a:ln w="12700">
            <a:solidFill>
              <a:schemeClr val="accent1"/>
            </a:solidFill>
            <a:prstDash val="solid"/>
          </a:ln>
        </p:spPr>
      </p:sp>
      <p:sp>
        <p:nvSpPr>
          <p:cNvPr id="19" name="letra"/>
          <p:cNvSpPr txBox="1"/>
          <p:nvPr/>
        </p:nvSpPr>
        <p:spPr>
          <a:xfrm>
            <a:off x="548640" y="478536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E</a:t>
            </a:r>
            <a:endParaRPr lang="en-US" sz="1600" dirty="0"/>
          </a:p>
        </p:txBody>
      </p:sp>
      <p:sp>
        <p:nvSpPr>
          <p:cNvPr id="20" name="opcion"/>
          <p:cNvSpPr txBox="1"/>
          <p:nvPr/>
        </p:nvSpPr>
        <p:spPr>
          <a:xfrm>
            <a:off x="1097280" y="4767072"/>
            <a:ext cx="10545775" cy="643128"/>
          </a:xfrm>
          <a:prstGeom prst="rect">
            <a:avLst/>
          </a:prstGeom>
          <a:noFill/>
          <a:ln/>
        </p:spPr>
        <p:txBody>
          <a:bodyPr wrap="square" lIns="254" tIns="254" rIns="254" bIns="254" rtlCol="0" anchor="ctr"/>
          <a:lstStyle/>
          <a:p>
            <a:pPr indent="0" marL="0">
              <a:buNone/>
            </a:pPr>
            <a:r>
              <a:rPr lang="en-US" sz="1900" dirty="0">
                <a:solidFill>
                  <a:schemeClr val="tx1"/>
                </a:solidFill>
              </a:rPr>
              <a:t>El genotipo APOE (p. ej., ε4) es uno de los factores asociados con mayor respuesta del LDL al colesterol dietario.</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B2-8 · Un hiperrespondedor que quizá no lo es</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2 · Respuesta</a:t>
            </a:r>
            <a:endParaRPr lang="en-US" sz="1100" dirty="0"/>
          </a:p>
        </p:txBody>
      </p:sp>
      <p:sp>
        <p:nvSpPr>
          <p:cNvPr id="4" name="caja respuesta"/>
          <p:cNvSpPr/>
          <p:nvPr/>
        </p:nvSpPr>
        <p:spPr>
          <a:xfrm>
            <a:off x="548640" y="1371600"/>
            <a:ext cx="11094415" cy="1493520"/>
          </a:xfrm>
          <a:prstGeom prst="roundRect">
            <a:avLst>
              <a:gd name="adj" fmla="val 7347"/>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1347216"/>
          </a:xfrm>
          <a:prstGeom prst="rect">
            <a:avLst/>
          </a:prstGeom>
          <a:noFill/>
          <a:ln/>
        </p:spPr>
        <p:txBody>
          <a:bodyPr wrap="square" lIns="254" tIns="254" rIns="254" bIns="254" rtlCol="0" anchor="ctr"/>
          <a:lstStyle/>
          <a:p>
            <a:pPr indent="0" marL="0">
              <a:buNone/>
            </a:pPr>
            <a:r>
              <a:rPr lang="en-US" sz="1600" b="1" dirty="0">
                <a:solidFill>
                  <a:schemeClr val="tx1"/>
                </a:solidFill>
              </a:rPr>
              <a:t>A)  </a:t>
            </a:r>
            <a:pPr indent="0" marL="0">
              <a:buNone/>
            </a:pPr>
            <a:r>
              <a:rPr lang="en-US" sz="1600" dirty="0">
                <a:solidFill>
                  <a:schemeClr val="tx1"/>
                </a:solidFill>
              </a:rPr>
              <a:t>Una sola medición antes y después no basta: el LDL varía entre días, y parte del cambio podría ser variabilidad intraindividual.</a:t>
            </a:r>
            <a:endParaRPr lang="en-US" sz="1600" dirty="0"/>
          </a:p>
          <a:p>
            <a:pPr indent="0" marL="0">
              <a:buNone/>
            </a:pPr>
            <a:r>
              <a:rPr lang="en-US" sz="1600" b="1" dirty="0">
                <a:solidFill>
                  <a:schemeClr val="tx1"/>
                </a:solidFill>
              </a:rPr>
              <a:t>B)  </a:t>
            </a:r>
            <a:pPr indent="0" marL="0">
              <a:buNone/>
            </a:pPr>
            <a:r>
              <a:rPr lang="en-US" sz="1600" dirty="0">
                <a:solidFill>
                  <a:schemeClr val="tx1"/>
                </a:solidFill>
              </a:rPr>
              <a:t>Para clasificarla habría que repetir mediciones o repetir el reto dietario.</a:t>
            </a:r>
            <a:endParaRPr lang="en-US" sz="1600" dirty="0"/>
          </a:p>
          <a:p>
            <a:pPr indent="0" marL="0">
              <a:buNone/>
            </a:pPr>
            <a:r>
              <a:rPr lang="en-US" sz="1600" b="1" dirty="0">
                <a:solidFill>
                  <a:schemeClr val="tx1"/>
                </a:solidFill>
              </a:rPr>
              <a:t>E)  </a:t>
            </a:r>
            <a:pPr indent="0" marL="0">
              <a:buNone/>
            </a:pPr>
            <a:r>
              <a:rPr lang="en-US" sz="1600" dirty="0">
                <a:solidFill>
                  <a:schemeClr val="tx1"/>
                </a:solidFill>
              </a:rPr>
              <a:t>El genotipo APOE (p. ej., ε4) es uno de los factores asociados con mayor respuesta del LDL al colesterol dietario.</a:t>
            </a:r>
            <a:endParaRPr lang="en-US" sz="1600" dirty="0"/>
          </a:p>
        </p:txBody>
      </p:sp>
      <p:sp>
        <p:nvSpPr>
          <p:cNvPr id="8" name="circulo icono"/>
          <p:cNvSpPr/>
          <p:nvPr/>
        </p:nvSpPr>
        <p:spPr>
          <a:xfrm>
            <a:off x="548640" y="3093720"/>
            <a:ext cx="329184" cy="329184"/>
          </a:xfrm>
          <a:prstGeom prst="ellipse">
            <a:avLst/>
          </a:prstGeom>
          <a:solidFill>
            <a:schemeClr val="accent4"/>
          </a:solidFill>
          <a:ln w="12700">
            <a:solidFill>
              <a:schemeClr val="accent4"/>
            </a:solidFill>
            <a:prstDash val="solid"/>
          </a:ln>
        </p:spPr>
      </p:sp>
      <p:pic>
        <p:nvPicPr>
          <p:cNvPr id="9" name="Image 1" descr="Explicación">    </p:cNvPr>
          <p:cNvPicPr>
            <a:picLocks noChangeAspect="1"/>
          </p:cNvPicPr>
          <p:nvPr/>
        </p:nvPicPr>
        <p:blipFill>
          <a:blip r:embed="rId2"/>
          <a:stretch>
            <a:fillRect/>
          </a:stretch>
        </p:blipFill>
        <p:spPr>
          <a:xfrm>
            <a:off x="630936" y="3176016"/>
            <a:ext cx="164592" cy="164592"/>
          </a:xfrm>
          <a:prstGeom prst="rect">
            <a:avLst/>
          </a:prstGeom>
        </p:spPr>
      </p:pic>
      <p:sp>
        <p:nvSpPr>
          <p:cNvPr id="10" name="subtitulo"/>
          <p:cNvSpPr txBox="1"/>
          <p:nvPr/>
        </p:nvSpPr>
        <p:spPr>
          <a:xfrm>
            <a:off x="987552" y="3093720"/>
            <a:ext cx="10655503" cy="329184"/>
          </a:xfrm>
          <a:prstGeom prst="rect">
            <a:avLst/>
          </a:prstGeom>
          <a:noFill/>
          <a:ln/>
        </p:spPr>
        <p:txBody>
          <a:bodyPr wrap="square" lIns="0" tIns="0" rIns="0" bIns="0" rtlCol="0" anchor="ctr"/>
          <a:lstStyle/>
          <a:p>
            <a:pPr indent="0" marL="0">
              <a:buNone/>
            </a:pPr>
            <a:r>
              <a:rPr lang="en-US" sz="1600" b="1" dirty="0">
                <a:solidFill>
                  <a:schemeClr val="tx2"/>
                </a:solidFill>
              </a:rPr>
              <a:t>Explicación</a:t>
            </a:r>
            <a:endParaRPr lang="en-US" sz="1600" dirty="0"/>
          </a:p>
        </p:txBody>
      </p:sp>
      <p:sp>
        <p:nvSpPr>
          <p:cNvPr id="11" name="texto"/>
          <p:cNvSpPr txBox="1"/>
          <p:nvPr/>
        </p:nvSpPr>
        <p:spPr>
          <a:xfrm>
            <a:off x="548640" y="3550920"/>
            <a:ext cx="11094415" cy="643128"/>
          </a:xfrm>
          <a:prstGeom prst="rect">
            <a:avLst/>
          </a:prstGeom>
          <a:noFill/>
          <a:ln/>
        </p:spPr>
        <p:txBody>
          <a:bodyPr wrap="square" lIns="254" tIns="254" rIns="254" bIns="254" rtlCol="0" anchor="t"/>
          <a:lstStyle/>
          <a:p>
            <a:pPr indent="0" marL="0">
              <a:buNone/>
            </a:pPr>
            <a:r>
              <a:rPr lang="en-US" sz="1900" b="1" dirty="0">
                <a:solidFill>
                  <a:schemeClr val="tx1"/>
                </a:solidFill>
              </a:rPr>
              <a:t>Por qué son correctas:</a:t>
            </a:r>
            <a:pPr indent="0" marL="0">
              <a:buNone/>
            </a:pPr>
            <a:r>
              <a:rPr lang="en-US" sz="1900" dirty="0">
                <a:solidFill>
                  <a:schemeClr val="tx1"/>
                </a:solidFill>
              </a:rPr>
              <a:t> Clasificar respondedores exige separar la respuesta real del ruido de medición; APOE es uno de los moduladores conocidos.</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B2-9 · Caso: «la leche me cae mal»</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2 · 6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Respuesta extendida</a:t>
            </a:r>
            <a:endParaRPr lang="en-US" sz="1100" dirty="0"/>
          </a:p>
        </p:txBody>
      </p:sp>
      <p:sp>
        <p:nvSpPr>
          <p:cNvPr id="5" name="texto"/>
          <p:cNvSpPr txBox="1"/>
          <p:nvPr/>
        </p:nvSpPr>
        <p:spPr>
          <a:xfrm>
            <a:off x="548640" y="1371600"/>
            <a:ext cx="11094415" cy="582168"/>
          </a:xfrm>
          <a:prstGeom prst="rect">
            <a:avLst/>
          </a:prstGeom>
          <a:noFill/>
          <a:ln/>
        </p:spPr>
        <p:txBody>
          <a:bodyPr wrap="square" lIns="254" tIns="254" rIns="254" bIns="254" rtlCol="0" anchor="t"/>
          <a:lstStyle/>
          <a:p>
            <a:pPr indent="0" marL="0">
              <a:buNone/>
            </a:pPr>
            <a:r>
              <a:rPr lang="en-US" sz="1700" dirty="0">
                <a:solidFill>
                  <a:schemeClr val="tx1"/>
                </a:solidFill>
              </a:rPr>
              <a:t>Mujer de 24 años con distensión, gases y diarrea 1–2 horas después de tomar un vaso grande de leche. Tolera queso madurado y yogur. Resultados:</a:t>
            </a:r>
            <a:endParaRPr lang="en-US" sz="1700" dirty="0"/>
          </a:p>
        </p:txBody>
      </p:sp>
      <p:graphicFrame>
        <p:nvGraphicFramePr>
          <p:cNvPr id="51" name="tabla"/>
          <p:cNvGraphicFramePr>
            <a:graphicFrameLocks noGrp="1"/>
          </p:cNvGraphicFramePr>
          <p:nvPr>
            <p:extLst>
              <p:ext uri="{D42A27DB-BD31-4B8C-83A1-F6EECF244321}">
                <p14:modId xmlns:p14="http://schemas.microsoft.com/office/powerpoint/2010/main" val="1579011935"/>
              </p:ext>
            </p:extLst>
          </p:nvPr>
        </p:nvGraphicFramePr>
        <p:xfrm>
          <a:off x="548640" y="2026920"/>
          <a:ext cx="4389120" cy="914400"/>
        </p:xfrm>
        <a:graphic>
          <a:graphicData uri="http://schemas.openxmlformats.org/drawingml/2006/table">
            <a:tbl>
              <a:tblPr/>
              <a:tblGrid>
                <a:gridCol w="2194560"/>
                <a:gridCol w="2194560"/>
              </a:tblGrid>
              <a:tr h="0">
                <a:tc>
                  <a:txBody>
                    <a:bodyPr/>
                    <a:lstStyle/>
                    <a:p>
                      <a:pPr indent="0" marL="0">
                        <a:buNone/>
                      </a:pPr>
                      <a:r>
                        <a:rPr lang="en-US" sz="1600" b="1" dirty="0">
                          <a:solidFill>
                            <a:schemeClr val="tx1"/>
                          </a:solidFill>
                        </a:rPr>
                        <a:t>Estudio</a:t>
                      </a:r>
                      <a:endParaRPr lang="en-US" sz="16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EEF4F3"/>
                    </a:solidFill>
                  </a:tcPr>
                </a:tc>
                <a:tc>
                  <a:txBody>
                    <a:bodyPr/>
                    <a:lstStyle/>
                    <a:p>
                      <a:pPr indent="0" marL="0">
                        <a:buNone/>
                      </a:pPr>
                      <a:r>
                        <a:rPr lang="en-US" sz="1600" b="1" dirty="0">
                          <a:solidFill>
                            <a:schemeClr val="tx1"/>
                          </a:solidFill>
                        </a:rPr>
                        <a:t>Resultado</a:t>
                      </a:r>
                      <a:endParaRPr lang="en-US" sz="16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EEF4F3"/>
                    </a:solidFill>
                  </a:tcPr>
                </a:tc>
              </a:tr>
              <a:tr h="0">
                <a:tc>
                  <a:txBody>
                    <a:bodyPr/>
                    <a:lstStyle/>
                    <a:p>
                      <a:pPr indent="0" marL="0">
                        <a:buNone/>
                      </a:pPr>
                      <a:r>
                        <a:rPr lang="en-US" sz="1600" dirty="0">
                          <a:solidFill>
                            <a:schemeClr val="tx1"/>
                          </a:solidFill>
                        </a:rPr>
                        <a:t>Genotipo </a:t>
                      </a:r>
                      <a:pPr indent="0" marL="0">
                        <a:buNone/>
                      </a:pPr>
                      <a:r>
                        <a:rPr lang="en-US" sz="1600" i="1" dirty="0">
                          <a:solidFill>
                            <a:schemeClr val="tx1"/>
                          </a:solidFill>
                        </a:rPr>
                        <a:t>MCM6</a:t>
                      </a:r>
                      <a:pPr indent="0" marL="0">
                        <a:buNone/>
                      </a:pPr>
                      <a:r>
                        <a:rPr lang="en-US" sz="1600" dirty="0">
                          <a:solidFill>
                            <a:schemeClr val="tx1"/>
                          </a:solidFill>
                        </a:rPr>
                        <a:t> −13910</a:t>
                      </a:r>
                      <a:endParaRPr lang="en-US" sz="16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C/C</a:t>
                      </a:r>
                      <a:endParaRPr lang="en-US" sz="16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r h="0">
                <a:tc>
                  <a:txBody>
                    <a:bodyPr/>
                    <a:lstStyle/>
                    <a:p>
                      <a:pPr indent="0" marL="0">
                        <a:buNone/>
                      </a:pPr>
                      <a:r>
                        <a:rPr lang="en-US" sz="1600" dirty="0">
                          <a:solidFill>
                            <a:schemeClr val="tx1"/>
                          </a:solidFill>
                        </a:rPr>
                        <a:t>Genotipo </a:t>
                      </a:r>
                      <a:pPr indent="0" marL="0">
                        <a:buNone/>
                      </a:pPr>
                      <a:r>
                        <a:rPr lang="en-US" sz="1600" i="1" dirty="0">
                          <a:solidFill>
                            <a:schemeClr val="tx1"/>
                          </a:solidFill>
                        </a:rPr>
                        <a:t>MCM6</a:t>
                      </a:r>
                      <a:pPr indent="0" marL="0">
                        <a:buNone/>
                      </a:pPr>
                      <a:r>
                        <a:rPr lang="en-US" sz="1600" dirty="0">
                          <a:solidFill>
                            <a:schemeClr val="tx1"/>
                          </a:solidFill>
                        </a:rPr>
                        <a:t> −22018</a:t>
                      </a:r>
                      <a:endParaRPr lang="en-US" sz="16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G/G</a:t>
                      </a:r>
                      <a:endParaRPr lang="en-US" sz="16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r h="0">
                <a:tc>
                  <a:txBody>
                    <a:bodyPr/>
                    <a:lstStyle/>
                    <a:p>
                      <a:pPr indent="0" marL="0">
                        <a:buNone/>
                      </a:pPr>
                      <a:r>
                        <a:rPr lang="en-US" sz="1600" dirty="0">
                          <a:solidFill>
                            <a:schemeClr val="tx1"/>
                          </a:solidFill>
                        </a:rPr>
                        <a:t>Prueba de H₂ espirado con 25 g de lactosa</a:t>
                      </a:r>
                      <a:endParaRPr lang="en-US" sz="16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Aumento de 38 ppm sobre el basal (positiva ≥ 20 ppm), con síntomas</a:t>
                      </a:r>
                      <a:endParaRPr lang="en-US" sz="16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r h="0">
                <a:tc>
                  <a:txBody>
                    <a:bodyPr/>
                    <a:lstStyle/>
                    <a:p>
                      <a:pPr indent="0" marL="0">
                        <a:buNone/>
                      </a:pPr>
                      <a:r>
                        <a:rPr lang="en-US" sz="1600" dirty="0">
                          <a:solidFill>
                            <a:schemeClr val="tx1"/>
                          </a:solidFill>
                        </a:rPr>
                        <a:t>Anticuerpos para enfermedad celíaca</a:t>
                      </a:r>
                      <a:endParaRPr lang="en-US" sz="16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Negativos</a:t>
                      </a:r>
                      <a:endParaRPr lang="en-US" sz="16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bl>
          </a:graphicData>
        </a:graphic>
      </p:graphicFrame>
      <p:sp>
        <p:nvSpPr>
          <p:cNvPr id="7" name="texto"/>
          <p:cNvSpPr txBox="1"/>
          <p:nvPr/>
        </p:nvSpPr>
        <p:spPr>
          <a:xfrm>
            <a:off x="548640" y="4892040"/>
            <a:ext cx="11094415" cy="1100328"/>
          </a:xfrm>
          <a:prstGeom prst="rect">
            <a:avLst/>
          </a:prstGeom>
          <a:noFill/>
          <a:ln/>
        </p:spPr>
        <p:txBody>
          <a:bodyPr wrap="square" lIns="254" tIns="254" rIns="254" bIns="254" rtlCol="0" anchor="t"/>
          <a:lstStyle/>
          <a:p>
            <a:pPr indent="0" marL="0">
              <a:buNone/>
            </a:pPr>
            <a:r>
              <a:rPr lang="en-US" sz="1700" dirty="0">
                <a:solidFill>
                  <a:schemeClr val="tx1"/>
                </a:solidFill>
              </a:rPr>
              <a:t>a) Usa correctamente los términos hipolactasia, malabsorción e intolerancia para describir su caso. b) Explica el mecanismo molecular de su genotipo (potenciador de MCM6, expresión de LCT y metilación del promotor con la edad). c) ¿Por qué tolera queso madurado y yogur? d) Propón un manejo nutricional y di qué riesgo nutricional hay que vigilar. e) Señala una limitación de usar solo el genotipo para diagnosticar.</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B2-9 · Caso: «la leche me cae mal»</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2 · Respuesta modelo</a:t>
            </a:r>
            <a:endParaRPr lang="en-US" sz="1100" dirty="0"/>
          </a:p>
        </p:txBody>
      </p:sp>
      <p:sp>
        <p:nvSpPr>
          <p:cNvPr id="4" name="texto"/>
          <p:cNvSpPr txBox="1"/>
          <p:nvPr/>
        </p:nvSpPr>
        <p:spPr>
          <a:xfrm>
            <a:off x="548640" y="1371600"/>
            <a:ext cx="5364328" cy="749808"/>
          </a:xfrm>
          <a:prstGeom prst="rect">
            <a:avLst/>
          </a:prstGeom>
          <a:noFill/>
          <a:ln/>
        </p:spPr>
        <p:txBody>
          <a:bodyPr wrap="square" lIns="254" tIns="254" rIns="254" bIns="254" rtlCol="0" anchor="t"/>
          <a:lstStyle/>
          <a:p>
            <a:pPr indent="0" marL="0">
              <a:buNone/>
            </a:pPr>
            <a:r>
              <a:rPr lang="en-US" sz="1500" b="1" dirty="0">
                <a:solidFill>
                  <a:schemeClr val="tx1"/>
                </a:solidFill>
              </a:rPr>
              <a:t>a) </a:t>
            </a:r>
            <a:pPr indent="0" marL="0">
              <a:buNone/>
            </a:pPr>
            <a:r>
              <a:rPr lang="en-US" sz="1500" dirty="0">
                <a:solidFill>
                  <a:schemeClr val="tx1"/>
                </a:solidFill>
              </a:rPr>
              <a:t>Genotipo C/C y G/G de no persistencia → hipolactasia del adulto (probable); la prueba de H₂ positiva demuestra malabsorción; los síntomas durante la prueba confirman intolerancia.</a:t>
            </a:r>
            <a:endParaRPr lang="en-US" sz="1500" dirty="0"/>
          </a:p>
        </p:txBody>
      </p:sp>
      <p:sp>
        <p:nvSpPr>
          <p:cNvPr id="5" name="texto"/>
          <p:cNvSpPr txBox="1"/>
          <p:nvPr/>
        </p:nvSpPr>
        <p:spPr>
          <a:xfrm>
            <a:off x="548640" y="2194560"/>
            <a:ext cx="5364328" cy="1435608"/>
          </a:xfrm>
          <a:prstGeom prst="rect">
            <a:avLst/>
          </a:prstGeom>
          <a:noFill/>
          <a:ln/>
        </p:spPr>
        <p:txBody>
          <a:bodyPr wrap="square" lIns="254" tIns="254" rIns="254" bIns="254" rtlCol="0" anchor="t"/>
          <a:lstStyle/>
          <a:p>
            <a:pPr indent="0" marL="0">
              <a:buNone/>
            </a:pPr>
            <a:r>
              <a:rPr lang="en-US" sz="1500" b="1" dirty="0">
                <a:solidFill>
                  <a:schemeClr val="tx1"/>
                </a:solidFill>
              </a:rPr>
              <a:t>b) </a:t>
            </a:r>
            <a:pPr indent="0" marL="0">
              <a:buNone/>
            </a:pPr>
            <a:r>
              <a:rPr lang="en-US" sz="1500" dirty="0">
                <a:solidFill>
                  <a:schemeClr val="tx1"/>
                </a:solidFill>
              </a:rPr>
              <a:t>Los alelos −13910T y −22018A, en un potenciador del intrón 13 de MCM6, mantienen la transcripción de LCT en el adulto; con C/C y G/G la expresión de lactasa declina tras el destete, y en el epitelio se acumula metilación del promotor de LCT que refuerza el silenciamiento. La enzima es normal; cambia su cantidad.</a:t>
            </a:r>
            <a:endParaRPr lang="en-US" sz="1500" dirty="0"/>
          </a:p>
        </p:txBody>
      </p:sp>
      <p:sp>
        <p:nvSpPr>
          <p:cNvPr id="6" name="texto"/>
          <p:cNvSpPr txBox="1"/>
          <p:nvPr/>
        </p:nvSpPr>
        <p:spPr>
          <a:xfrm>
            <a:off x="548640" y="3703320"/>
            <a:ext cx="5364328" cy="978408"/>
          </a:xfrm>
          <a:prstGeom prst="rect">
            <a:avLst/>
          </a:prstGeom>
          <a:noFill/>
          <a:ln/>
        </p:spPr>
        <p:txBody>
          <a:bodyPr wrap="square" lIns="254" tIns="254" rIns="254" bIns="254" rtlCol="0" anchor="t"/>
          <a:lstStyle/>
          <a:p>
            <a:pPr indent="0" marL="0">
              <a:buNone/>
            </a:pPr>
            <a:r>
              <a:rPr lang="en-US" sz="1500" b="1" dirty="0">
                <a:solidFill>
                  <a:schemeClr val="tx1"/>
                </a:solidFill>
              </a:rPr>
              <a:t>c) </a:t>
            </a:r>
            <a:pPr indent="0" marL="0">
              <a:buNone/>
            </a:pPr>
            <a:r>
              <a:rPr lang="en-US" sz="1500" dirty="0">
                <a:solidFill>
                  <a:schemeClr val="tx1"/>
                </a:solidFill>
              </a:rPr>
              <a:t>El queso madurado tiene muy poca lactosa (queda en el suero y se fermenta) y el yogur tiene bacterias con β-galactosidasa que la hidrolizan parcialmente, además de vaciamiento gástrico más lento.</a:t>
            </a:r>
            <a:endParaRPr lang="en-US" sz="1500" dirty="0"/>
          </a:p>
        </p:txBody>
      </p:sp>
      <p:sp>
        <p:nvSpPr>
          <p:cNvPr id="7" name="texto"/>
          <p:cNvSpPr txBox="1"/>
          <p:nvPr/>
        </p:nvSpPr>
        <p:spPr>
          <a:xfrm>
            <a:off x="6278728" y="1371600"/>
            <a:ext cx="5364328" cy="978408"/>
          </a:xfrm>
          <a:prstGeom prst="rect">
            <a:avLst/>
          </a:prstGeom>
          <a:noFill/>
          <a:ln/>
        </p:spPr>
        <p:txBody>
          <a:bodyPr wrap="square" lIns="254" tIns="254" rIns="254" bIns="254" rtlCol="0" anchor="t"/>
          <a:lstStyle/>
          <a:p>
            <a:pPr indent="0" marL="0">
              <a:buNone/>
            </a:pPr>
            <a:r>
              <a:rPr lang="en-US" sz="1500" b="1" dirty="0">
                <a:solidFill>
                  <a:schemeClr val="tx1"/>
                </a:solidFill>
              </a:rPr>
              <a:t>d) </a:t>
            </a:r>
            <a:pPr indent="0" marL="0">
              <a:buNone/>
            </a:pPr>
            <a:r>
              <a:rPr lang="en-US" sz="1500" dirty="0">
                <a:solidFill>
                  <a:schemeClr val="tx1"/>
                </a:solidFill>
              </a:rPr>
              <a:t>No eliminar todos los lácteos: fraccionar la lactosa (dosis pequeñas con comidas), usar productos deslactosados, yogur y quesos madurados, o lactasa exógena; vigilar el aporte de calcio y vitamina D.</a:t>
            </a:r>
            <a:endParaRPr lang="en-US" sz="1500" dirty="0"/>
          </a:p>
        </p:txBody>
      </p:sp>
      <p:sp>
        <p:nvSpPr>
          <p:cNvPr id="8" name="texto"/>
          <p:cNvSpPr txBox="1"/>
          <p:nvPr/>
        </p:nvSpPr>
        <p:spPr>
          <a:xfrm>
            <a:off x="6278728" y="2423160"/>
            <a:ext cx="5364328" cy="1207008"/>
          </a:xfrm>
          <a:prstGeom prst="rect">
            <a:avLst/>
          </a:prstGeom>
          <a:noFill/>
          <a:ln/>
        </p:spPr>
        <p:txBody>
          <a:bodyPr wrap="square" lIns="254" tIns="254" rIns="254" bIns="254" rtlCol="0" anchor="t"/>
          <a:lstStyle/>
          <a:p>
            <a:pPr indent="0" marL="0">
              <a:buNone/>
            </a:pPr>
            <a:r>
              <a:rPr lang="en-US" sz="1500" b="1" dirty="0">
                <a:solidFill>
                  <a:schemeClr val="tx1"/>
                </a:solidFill>
              </a:rPr>
              <a:t>e) </a:t>
            </a:r>
            <a:pPr indent="0" marL="0">
              <a:buNone/>
            </a:pPr>
            <a:r>
              <a:rPr lang="en-US" sz="1500" dirty="0">
                <a:solidFill>
                  <a:schemeClr val="tx1"/>
                </a:solidFill>
              </a:rPr>
              <a:t>El genotipo indica la predisposición, no los síntomas; hay personas C/C sin intolerancia con dosis habituales, y otras variantes de persistencia en poblaciones no europeas no se detectan con −13910; además los síntomas podrían tener otras causas (por eso se descartó celiaquía).</a:t>
            </a:r>
            <a:endParaRPr lang="en-US" sz="1500" dirty="0"/>
          </a:p>
        </p:txBody>
      </p:sp>
      <p:sp>
        <p:nvSpPr>
          <p:cNvPr id="9" name="rubrica"/>
          <p:cNvSpPr/>
          <p:nvPr/>
        </p:nvSpPr>
        <p:spPr>
          <a:xfrm>
            <a:off x="548640" y="5666232"/>
            <a:ext cx="11094415" cy="551688"/>
          </a:xfrm>
          <a:prstGeom prst="roundRect">
            <a:avLst>
              <a:gd name="adj" fmla="val 16575"/>
            </a:avLst>
          </a:prstGeom>
          <a:solidFill>
            <a:schemeClr val="bg1"/>
          </a:solidFill>
          <a:ln w="15875">
            <a:solidFill>
              <a:schemeClr val="accent3"/>
            </a:solidFill>
            <a:prstDash val="solid"/>
          </a:ln>
        </p:spPr>
      </p:sp>
      <p:sp>
        <p:nvSpPr>
          <p:cNvPr id="10" name="rubrica texto"/>
          <p:cNvSpPr txBox="1"/>
          <p:nvPr/>
        </p:nvSpPr>
        <p:spPr>
          <a:xfrm>
            <a:off x="731520" y="5711952"/>
            <a:ext cx="10728655" cy="460248"/>
          </a:xfrm>
          <a:prstGeom prst="rect">
            <a:avLst/>
          </a:prstGeom>
          <a:noFill/>
          <a:ln/>
        </p:spPr>
        <p:txBody>
          <a:bodyPr wrap="square" lIns="0" tIns="0" rIns="0" bIns="0" rtlCol="0" anchor="ctr"/>
          <a:lstStyle/>
          <a:p>
            <a:pPr indent="0" marL="0">
              <a:buNone/>
            </a:pPr>
            <a:r>
              <a:rPr lang="en-US" sz="1300" b="1" dirty="0">
                <a:solidFill>
                  <a:schemeClr val="tx2"/>
                </a:solidFill>
              </a:rPr>
              <a:t>Rúbrica  </a:t>
            </a:r>
            <a:pPr indent="0" marL="0">
              <a:buNone/>
            </a:pPr>
            <a:r>
              <a:rPr lang="en-US" sz="1300" dirty="0">
                <a:solidFill>
                  <a:schemeClr val="tx1"/>
                </a:solidFill>
              </a:rPr>
              <a:t>1.5 terminología correcta de los tres niveles; 1.5 mecanismo regulatorio y epigenético; 1 explicación de la tolerancia a fermentados; 1 manejo con vigilancia de calcio/vitamina D; 1 limitación del genotipo.</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B2-10 · Caso: reporte nutrigenético integrado</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2 · 6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Respuesta extendida</a:t>
            </a:r>
            <a:endParaRPr lang="en-US" sz="1100" dirty="0"/>
          </a:p>
        </p:txBody>
      </p:sp>
      <p:sp>
        <p:nvSpPr>
          <p:cNvPr id="5" name="texto"/>
          <p:cNvSpPr txBox="1"/>
          <p:nvPr/>
        </p:nvSpPr>
        <p:spPr>
          <a:xfrm>
            <a:off x="548640" y="1371600"/>
            <a:ext cx="11094415" cy="643128"/>
          </a:xfrm>
          <a:prstGeom prst="rect">
            <a:avLst/>
          </a:prstGeom>
          <a:noFill/>
          <a:ln/>
        </p:spPr>
        <p:txBody>
          <a:bodyPr wrap="square" lIns="254" tIns="254" rIns="254" bIns="254" rtlCol="0" anchor="t"/>
          <a:lstStyle/>
          <a:p>
            <a:pPr indent="0" marL="0">
              <a:buNone/>
            </a:pPr>
            <a:r>
              <a:rPr lang="en-US" sz="1900" dirty="0">
                <a:solidFill>
                  <a:schemeClr val="tx1"/>
                </a:solidFill>
              </a:rPr>
              <a:t>Hombre de 45 años, IMC 31, LDL 162 mg/dL, presión 138/88 mmHg. Toma 4 tazas de café y 3–4 cervezas al día; sedentario. Su reporte comercial incluye:</a:t>
            </a:r>
            <a:endParaRPr lang="en-US" sz="1900" dirty="0"/>
          </a:p>
        </p:txBody>
      </p:sp>
      <p:graphicFrame>
        <p:nvGraphicFramePr>
          <p:cNvPr id="53" name="tabla"/>
          <p:cNvGraphicFramePr>
            <a:graphicFrameLocks noGrp="1"/>
          </p:cNvGraphicFramePr>
          <p:nvPr>
            <p:extLst>
              <p:ext uri="{D42A27DB-BD31-4B8C-83A1-F6EECF244321}">
                <p14:modId xmlns:p14="http://schemas.microsoft.com/office/powerpoint/2010/main" val="1579011935"/>
              </p:ext>
            </p:extLst>
          </p:nvPr>
        </p:nvGraphicFramePr>
        <p:xfrm>
          <a:off x="548640" y="2087880"/>
          <a:ext cx="4389120" cy="914400"/>
        </p:xfrm>
        <a:graphic>
          <a:graphicData uri="http://schemas.openxmlformats.org/drawingml/2006/table">
            <a:tbl>
              <a:tblPr/>
              <a:tblGrid>
                <a:gridCol w="2194560"/>
                <a:gridCol w="2194560"/>
              </a:tblGrid>
              <a:tr h="0">
                <a:tc>
                  <a:txBody>
                    <a:bodyPr/>
                    <a:lstStyle/>
                    <a:p>
                      <a:pPr indent="0" marL="0">
                        <a:buNone/>
                      </a:pPr>
                      <a:r>
                        <a:rPr lang="en-US" sz="1800" b="1" dirty="0">
                          <a:solidFill>
                            <a:schemeClr val="tx1"/>
                          </a:solidFill>
                        </a:rPr>
                        <a:t>Gen (variante)</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EEF4F3"/>
                    </a:solidFill>
                  </a:tcPr>
                </a:tc>
                <a:tc>
                  <a:txBody>
                    <a:bodyPr/>
                    <a:lstStyle/>
                    <a:p>
                      <a:pPr indent="0" marL="0">
                        <a:buNone/>
                      </a:pPr>
                      <a:r>
                        <a:rPr lang="en-US" sz="1800" b="1" dirty="0">
                          <a:solidFill>
                            <a:schemeClr val="tx1"/>
                          </a:solidFill>
                        </a:rPr>
                        <a:t>Genotipo</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EEF4F3"/>
                    </a:solidFill>
                  </a:tcPr>
                </a:tc>
              </a:tr>
              <a:tr h="0">
                <a:tc>
                  <a:txBody>
                    <a:bodyPr/>
                    <a:lstStyle/>
                    <a:p>
                      <a:pPr indent="0" marL="0">
                        <a:buNone/>
                      </a:pPr>
                      <a:r>
                        <a:rPr lang="en-US" sz="1800" i="1" dirty="0">
                          <a:solidFill>
                            <a:schemeClr val="tx1"/>
                          </a:solidFill>
                        </a:rPr>
                        <a:t>CYP1A2</a:t>
                      </a:r>
                      <a:pPr indent="0" marL="0">
                        <a:buNone/>
                      </a:pPr>
                      <a:r>
                        <a:rPr lang="en-US" sz="1800" dirty="0">
                          <a:solidFill>
                            <a:schemeClr val="tx1"/>
                          </a:solidFill>
                        </a:rPr>
                        <a:t> rs762551</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A/C</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r h="0">
                <a:tc>
                  <a:txBody>
                    <a:bodyPr/>
                    <a:lstStyle/>
                    <a:p>
                      <a:pPr indent="0" marL="0">
                        <a:buNone/>
                      </a:pPr>
                      <a:r>
                        <a:rPr lang="en-US" sz="1800" i="1" dirty="0">
                          <a:solidFill>
                            <a:schemeClr val="tx1"/>
                          </a:solidFill>
                        </a:rPr>
                        <a:t>APOE</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ε3/ε4</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r h="0">
                <a:tc>
                  <a:txBody>
                    <a:bodyPr/>
                    <a:lstStyle/>
                    <a:p>
                      <a:pPr indent="0" marL="0">
                        <a:buNone/>
                      </a:pPr>
                      <a:r>
                        <a:rPr lang="en-US" sz="1800" i="1" dirty="0">
                          <a:solidFill>
                            <a:schemeClr val="tx1"/>
                          </a:solidFill>
                        </a:rPr>
                        <a:t>ALDH2</a:t>
                      </a:r>
                      <a:pPr indent="0" marL="0">
                        <a:buNone/>
                      </a:pPr>
                      <a:r>
                        <a:rPr lang="en-US" sz="1800" dirty="0">
                          <a:solidFill>
                            <a:schemeClr val="tx1"/>
                          </a:solidFill>
                        </a:rPr>
                        <a:t> rs671</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G/G (ALDH2*1/*1)</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r h="0">
                <a:tc>
                  <a:txBody>
                    <a:bodyPr/>
                    <a:lstStyle/>
                    <a:p>
                      <a:pPr indent="0" marL="0">
                        <a:buNone/>
                      </a:pPr>
                      <a:r>
                        <a:rPr lang="en-US" sz="1800" i="1" dirty="0">
                          <a:solidFill>
                            <a:schemeClr val="tx1"/>
                          </a:solidFill>
                        </a:rPr>
                        <a:t>FTO</a:t>
                      </a:r>
                      <a:pPr indent="0" marL="0">
                        <a:buNone/>
                      </a:pPr>
                      <a:r>
                        <a:rPr lang="en-US" sz="1800" dirty="0">
                          <a:solidFill>
                            <a:schemeClr val="tx1"/>
                          </a:solidFill>
                        </a:rPr>
                        <a:t> rs9939609</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A/T</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r h="0">
                <a:tc>
                  <a:txBody>
                    <a:bodyPr/>
                    <a:lstStyle/>
                    <a:p>
                      <a:pPr indent="0" marL="0">
                        <a:buNone/>
                      </a:pPr>
                      <a:r>
                        <a:rPr lang="en-US" sz="1800" i="1" dirty="0">
                          <a:solidFill>
                            <a:schemeClr val="tx1"/>
                          </a:solidFill>
                        </a:rPr>
                        <a:t>MTHFR</a:t>
                      </a:r>
                      <a:pPr indent="0" marL="0">
                        <a:buNone/>
                      </a:pPr>
                      <a:r>
                        <a:rPr lang="en-US" sz="1800" dirty="0">
                          <a:solidFill>
                            <a:schemeClr val="tx1"/>
                          </a:solidFill>
                        </a:rPr>
                        <a:t> C677T</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C/C</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bl>
          </a:graphicData>
        </a:graphic>
      </p:graphicFrame>
      <p:sp>
        <p:nvSpPr>
          <p:cNvPr id="7" name="texto"/>
          <p:cNvSpPr txBox="1"/>
          <p:nvPr/>
        </p:nvSpPr>
        <p:spPr>
          <a:xfrm>
            <a:off x="548640" y="4803648"/>
            <a:ext cx="11094415" cy="1222248"/>
          </a:xfrm>
          <a:prstGeom prst="rect">
            <a:avLst/>
          </a:prstGeom>
          <a:noFill/>
          <a:ln/>
        </p:spPr>
        <p:txBody>
          <a:bodyPr wrap="square" lIns="254" tIns="254" rIns="254" bIns="254" rtlCol="0" anchor="t"/>
          <a:lstStyle/>
          <a:p>
            <a:pPr indent="0" marL="0">
              <a:buNone/>
            </a:pPr>
            <a:r>
              <a:rPr lang="en-US" sz="1900" dirty="0">
                <a:solidFill>
                  <a:schemeClr val="tx1"/>
                </a:solidFill>
              </a:rPr>
              <a:t>a) Interpreta cada resultado en una o dos líneas (qué implica y qué no). b) Ordena por prioridad tres recomendaciones y justifica cada una con un mecanismo. c) Explica por qué un resultado «normal» en ALDH2 no significa que el alcohol sea seguro para él. d) Menciona dos limitaciones de este tipo de reportes.</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B2-10 · Caso: reporte nutrigenético integrado</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2 · Respuesta modelo</a:t>
            </a:r>
            <a:endParaRPr lang="en-US" sz="1100" dirty="0"/>
          </a:p>
        </p:txBody>
      </p:sp>
      <p:sp>
        <p:nvSpPr>
          <p:cNvPr id="4" name="texto"/>
          <p:cNvSpPr txBox="1"/>
          <p:nvPr/>
        </p:nvSpPr>
        <p:spPr>
          <a:xfrm>
            <a:off x="548640" y="1371600"/>
            <a:ext cx="5364328" cy="2121408"/>
          </a:xfrm>
          <a:prstGeom prst="rect">
            <a:avLst/>
          </a:prstGeom>
          <a:noFill/>
          <a:ln/>
        </p:spPr>
        <p:txBody>
          <a:bodyPr wrap="square" lIns="254" tIns="254" rIns="254" bIns="254" rtlCol="0" anchor="t"/>
          <a:lstStyle/>
          <a:p>
            <a:pPr indent="0" marL="0">
              <a:buNone/>
            </a:pPr>
            <a:r>
              <a:rPr lang="en-US" sz="1500" b="1" dirty="0">
                <a:solidFill>
                  <a:schemeClr val="tx1"/>
                </a:solidFill>
              </a:rPr>
              <a:t>a) </a:t>
            </a:r>
            <a:pPr indent="0" marL="0">
              <a:buNone/>
            </a:pPr>
            <a:r>
              <a:rPr lang="en-US" sz="1500" dirty="0">
                <a:solidFill>
                  <a:schemeClr val="tx1"/>
                </a:solidFill>
              </a:rPr>
              <a:t>CYP1A2 A/C: portador del alelo C, metabolismo de cafeína más lento que A/A; con presión limítrofe conviene moderar el café. APOE ε3/ε4: mayor LDL y mayor respuesta del LDL a grasa y colesterol dietarios; además, en ε4 el alcohol se asocia con LDL más alto. ALDH2*1/*1: oxida el acetaldehído con normalidad; no tiene rubor que lo «avise». FTO A/T: un alelo de riesgo, efecto modesto y atenuable con actividad física. MTHFR C/C: sin la variante termolábil; no requiere medidas específicas.</a:t>
            </a:r>
            <a:endParaRPr lang="en-US" sz="1500" dirty="0"/>
          </a:p>
        </p:txBody>
      </p:sp>
      <p:sp>
        <p:nvSpPr>
          <p:cNvPr id="5" name="texto"/>
          <p:cNvSpPr txBox="1"/>
          <p:nvPr/>
        </p:nvSpPr>
        <p:spPr>
          <a:xfrm>
            <a:off x="548640" y="3566160"/>
            <a:ext cx="5364328" cy="1435608"/>
          </a:xfrm>
          <a:prstGeom prst="rect">
            <a:avLst/>
          </a:prstGeom>
          <a:noFill/>
          <a:ln/>
        </p:spPr>
        <p:txBody>
          <a:bodyPr wrap="square" lIns="254" tIns="254" rIns="254" bIns="254" rtlCol="0" anchor="t"/>
          <a:lstStyle/>
          <a:p>
            <a:pPr indent="0" marL="0">
              <a:buNone/>
            </a:pPr>
            <a:r>
              <a:rPr lang="en-US" sz="1500" b="1" dirty="0">
                <a:solidFill>
                  <a:schemeClr val="tx1"/>
                </a:solidFill>
              </a:rPr>
              <a:t>b) </a:t>
            </a:r>
            <a:pPr indent="0" marL="0">
              <a:buNone/>
            </a:pPr>
            <a:r>
              <a:rPr lang="en-US" sz="1500" dirty="0">
                <a:solidFill>
                  <a:schemeClr val="tx1"/>
                </a:solidFill>
              </a:rPr>
              <a:t>1) Reducir el alcohol: actúa sobre LDL (interacción con ε4), presión, peso y riesgo de cáncer. 2) Actividad física regular y patrón dietario con menos grasa saturada: baja LDL (relevante en ε4), atenúa el efecto de FTO y ayuda a la presión. 3) Bajar a 1–2 tazas de café: menor exposición a cafeína dada su metabolización más lenta y su presión limítrofe.</a:t>
            </a:r>
            <a:endParaRPr lang="en-US" sz="1500" dirty="0"/>
          </a:p>
        </p:txBody>
      </p:sp>
      <p:sp>
        <p:nvSpPr>
          <p:cNvPr id="6" name="texto"/>
          <p:cNvSpPr txBox="1"/>
          <p:nvPr/>
        </p:nvSpPr>
        <p:spPr>
          <a:xfrm>
            <a:off x="6278728" y="1371600"/>
            <a:ext cx="5364328" cy="978408"/>
          </a:xfrm>
          <a:prstGeom prst="rect">
            <a:avLst/>
          </a:prstGeom>
          <a:noFill/>
          <a:ln/>
        </p:spPr>
        <p:txBody>
          <a:bodyPr wrap="square" lIns="254" tIns="254" rIns="254" bIns="254" rtlCol="0" anchor="t"/>
          <a:lstStyle/>
          <a:p>
            <a:pPr indent="0" marL="0">
              <a:buNone/>
            </a:pPr>
            <a:r>
              <a:rPr lang="en-US" sz="1500" b="1" dirty="0">
                <a:solidFill>
                  <a:schemeClr val="tx1"/>
                </a:solidFill>
              </a:rPr>
              <a:t>c) </a:t>
            </a:r>
            <a:pPr indent="0" marL="0">
              <a:buNone/>
            </a:pPr>
            <a:r>
              <a:rPr lang="en-US" sz="1500" dirty="0">
                <a:solidFill>
                  <a:schemeClr val="tx1"/>
                </a:solidFill>
              </a:rPr>
              <a:t>Sin la variante, el acetaldehído no se acumula de forma aguda, pero el etanol sigue siendo tóxico (hígado, presión, cáncer, LDL en ε4) y la falta de rubor puede facilitar beber más.</a:t>
            </a:r>
            <a:endParaRPr lang="en-US" sz="1500" dirty="0"/>
          </a:p>
        </p:txBody>
      </p:sp>
      <p:sp>
        <p:nvSpPr>
          <p:cNvPr id="7" name="texto"/>
          <p:cNvSpPr txBox="1"/>
          <p:nvPr/>
        </p:nvSpPr>
        <p:spPr>
          <a:xfrm>
            <a:off x="6278728" y="2423160"/>
            <a:ext cx="5364328" cy="1435608"/>
          </a:xfrm>
          <a:prstGeom prst="rect">
            <a:avLst/>
          </a:prstGeom>
          <a:noFill/>
          <a:ln/>
        </p:spPr>
        <p:txBody>
          <a:bodyPr wrap="square" lIns="254" tIns="254" rIns="254" bIns="254" rtlCol="0" anchor="t"/>
          <a:lstStyle/>
          <a:p>
            <a:pPr indent="0" marL="0">
              <a:buNone/>
            </a:pPr>
            <a:r>
              <a:rPr lang="en-US" sz="1500" b="1" dirty="0">
                <a:solidFill>
                  <a:schemeClr val="tx1"/>
                </a:solidFill>
              </a:rPr>
              <a:t>d) </a:t>
            </a:r>
            <a:pPr indent="0" marL="0">
              <a:buNone/>
            </a:pPr>
            <a:r>
              <a:rPr lang="en-US" sz="1500" dirty="0">
                <a:solidFill>
                  <a:schemeClr val="tx1"/>
                </a:solidFill>
              </a:rPr>
              <a:t>Las variantes explican una fracción pequeña del riesgo y casi todas provienen de asociaciones (GWAS), no de pruebas de causalidad individual; la evidencia de que dietas guiadas por genotipo sean superiores a una dieta saludable estándar es limitada; y los reportes suelen no considerar la ascendencia de la persona.</a:t>
            </a:r>
            <a:endParaRPr lang="en-US" sz="1500" dirty="0"/>
          </a:p>
        </p:txBody>
      </p:sp>
      <p:sp>
        <p:nvSpPr>
          <p:cNvPr id="8" name="rubrica"/>
          <p:cNvSpPr/>
          <p:nvPr/>
        </p:nvSpPr>
        <p:spPr>
          <a:xfrm>
            <a:off x="548640" y="5666232"/>
            <a:ext cx="11094415" cy="551688"/>
          </a:xfrm>
          <a:prstGeom prst="roundRect">
            <a:avLst>
              <a:gd name="adj" fmla="val 16575"/>
            </a:avLst>
          </a:prstGeom>
          <a:solidFill>
            <a:schemeClr val="bg1"/>
          </a:solidFill>
          <a:ln w="15875">
            <a:solidFill>
              <a:schemeClr val="accent3"/>
            </a:solidFill>
            <a:prstDash val="solid"/>
          </a:ln>
        </p:spPr>
      </p:sp>
      <p:sp>
        <p:nvSpPr>
          <p:cNvPr id="9" name="rubrica texto"/>
          <p:cNvSpPr txBox="1"/>
          <p:nvPr/>
        </p:nvSpPr>
        <p:spPr>
          <a:xfrm>
            <a:off x="731520" y="5711952"/>
            <a:ext cx="10728655" cy="460248"/>
          </a:xfrm>
          <a:prstGeom prst="rect">
            <a:avLst/>
          </a:prstGeom>
          <a:noFill/>
          <a:ln/>
        </p:spPr>
        <p:txBody>
          <a:bodyPr wrap="square" lIns="0" tIns="0" rIns="0" bIns="0" rtlCol="0" anchor="ctr"/>
          <a:lstStyle/>
          <a:p>
            <a:pPr indent="0" marL="0">
              <a:buNone/>
            </a:pPr>
            <a:r>
              <a:rPr lang="en-US" sz="1300" b="1" dirty="0">
                <a:solidFill>
                  <a:schemeClr val="tx2"/>
                </a:solidFill>
              </a:rPr>
              <a:t>Rúbrica  </a:t>
            </a:r>
            <a:pPr indent="0" marL="0">
              <a:buNone/>
            </a:pPr>
            <a:r>
              <a:rPr lang="en-US" sz="1300" dirty="0">
                <a:solidFill>
                  <a:schemeClr val="tx1"/>
                </a:solidFill>
              </a:rPr>
              <a:t>2 interpretación correcta de los cinco genotipos; 2 priorización con mecanismo; 1 argumento sobre ALDH2 normal; 1 dos limitaciones pertinentes.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7680960" cy="1463040"/>
          </a:xfrm>
          <a:prstGeom prst="rect">
            <a:avLst/>
          </a:prstGeom>
          <a:noFill/>
          <a:ln/>
        </p:spPr>
        <p:txBody>
          <a:bodyPr wrap="square" rtlCol="0" anchor="b"/>
          <a:lstStyle/>
          <a:p>
            <a:pPr indent="0" marL="0">
              <a:buNone/>
            </a:pPr>
            <a:r>
              <a:rPr lang="en-US" sz="4000" b="1" dirty="0">
                <a:solidFill>
                  <a:schemeClr val="bg1"/>
                </a:solidFill>
                <a:latin typeface="Cambria" pitchFamily="34" charset="0"/>
                <a:ea typeface="Cambria" pitchFamily="34" charset="-122"/>
                <a:cs typeface="Cambria" pitchFamily="34" charset="-120"/>
              </a:rPr>
              <a:t>Bloque 3</a:t>
            </a:r>
            <a:endParaRPr lang="en-US" sz="4000" dirty="0"/>
          </a:p>
          <a:p>
            <a:pPr indent="0" marL="0">
              <a:buNone/>
            </a:pPr>
            <a:r>
              <a:rPr lang="en-US" sz="4000" b="1" dirty="0">
                <a:solidFill>
                  <a:schemeClr val="bg1"/>
                </a:solidFill>
                <a:latin typeface="Cambria" pitchFamily="34" charset="0"/>
                <a:ea typeface="Cambria" pitchFamily="34" charset="-122"/>
                <a:cs typeface="Cambria" pitchFamily="34" charset="-120"/>
              </a:rPr>
              <a:t>Bioinformática, PCR in silico e interpretación de geles</a:t>
            </a:r>
            <a:endParaRPr lang="en-US" sz="4000" dirty="0"/>
          </a:p>
        </p:txBody>
      </p:sp>
      <p:sp>
        <p:nvSpPr>
          <p:cNvPr id="3" name="Text 0"/>
          <p:cNvSpPr/>
          <p:nvPr>
            <p:ph idx="101" type="body" hasCustomPrompt="1"/>
          </p:nvPr>
        </p:nvSpPr>
        <p:spPr>
          <a:xfrm>
            <a:off x="548640" y="3108960"/>
            <a:ext cx="7315200" cy="2743200"/>
          </a:xfrm>
          <a:prstGeom prst="rect">
            <a:avLst/>
          </a:prstGeom>
          <a:noFill/>
          <a:ln/>
        </p:spPr>
        <p:txBody>
          <a:bodyPr wrap="square" rtlCol="0" anchor="t"/>
          <a:lstStyle/>
          <a:p>
            <a:pPr indent="0" marL="0">
              <a:buNone/>
            </a:pPr>
            <a:r>
              <a:rPr lang="en-US" sz="1800" dirty="0">
                <a:solidFill>
                  <a:schemeClr val="bg2"/>
                </a:solidFill>
              </a:rPr>
              <a:t>Lectura de secuencias · Gel de Alu PV92 · Ciclo de PCR · Columnas de sílice y extracción · UCSC, BLAST, Primer-BLAST · GWAS Catalog</a:t>
            </a:r>
            <a:endParaRPr lang="en-US" sz="1800" dirty="0"/>
          </a:p>
        </p:txBody>
      </p:sp>
      <p:sp>
        <p:nvSpPr>
          <p:cNvPr id="4" name="circulo bloque"/>
          <p:cNvSpPr/>
          <p:nvPr/>
        </p:nvSpPr>
        <p:spPr>
          <a:xfrm>
            <a:off x="8732520" y="1600200"/>
            <a:ext cx="2651760" cy="2651760"/>
          </a:xfrm>
          <a:prstGeom prst="ellipse">
            <a:avLst/>
          </a:prstGeom>
          <a:solidFill>
            <a:schemeClr val="accent1"/>
          </a:solidFill>
          <a:ln w="12700">
            <a:solidFill>
              <a:schemeClr val="accent1"/>
            </a:solidFill>
            <a:prstDash val="solid"/>
          </a:ln>
        </p:spPr>
      </p:sp>
      <p:pic>
        <p:nvPicPr>
          <p:cNvPr id="5" name="Image 0" descr="Bioinformática, PCR in silico e interpretación de geles">    </p:cNvPr>
          <p:cNvPicPr>
            <a:picLocks noChangeAspect="1"/>
          </p:cNvPicPr>
          <p:nvPr/>
        </p:nvPicPr>
        <p:blipFill>
          <a:blip r:embed="rId1"/>
          <a:stretch>
            <a:fillRect/>
          </a:stretch>
        </p:blipFill>
        <p:spPr>
          <a:xfrm>
            <a:off x="9464040" y="2331720"/>
            <a:ext cx="1188720" cy="1188720"/>
          </a:xfrm>
          <a:prstGeom prst="rect">
            <a:avLst/>
          </a:prstGeom>
        </p:spPr>
      </p:pic>
      <p:sp>
        <p:nvSpPr>
          <p:cNvPr id="6" name="peso"/>
          <p:cNvSpPr txBox="1"/>
          <p:nvPr/>
        </p:nvSpPr>
        <p:spPr>
          <a:xfrm>
            <a:off x="8458200" y="4434840"/>
            <a:ext cx="3200400" cy="1097280"/>
          </a:xfrm>
          <a:prstGeom prst="rect">
            <a:avLst/>
          </a:prstGeom>
          <a:noFill/>
          <a:ln/>
        </p:spPr>
        <p:txBody>
          <a:bodyPr wrap="square" lIns="0" tIns="0" rIns="0" bIns="0" rtlCol="0" anchor="t"/>
          <a:lstStyle/>
          <a:p>
            <a:pPr algn="ctr" indent="0" marL="0">
              <a:buNone/>
            </a:pPr>
            <a:r>
              <a:rPr lang="en-US" sz="4000" b="1" dirty="0">
                <a:solidFill>
                  <a:schemeClr val="bg1"/>
                </a:solidFill>
              </a:rPr>
              <a:t>20 %</a:t>
            </a:r>
            <a:endParaRPr lang="en-US" sz="4000" dirty="0"/>
          </a:p>
          <a:p>
            <a:pPr algn="ctr" indent="0" marL="0">
              <a:buNone/>
            </a:pPr>
            <a:r>
              <a:rPr lang="en-US" sz="1600" dirty="0">
                <a:solidFill>
                  <a:schemeClr val="bg1"/>
                </a:solidFill>
              </a:rPr>
              <a:t>9 reactivos</a:t>
            </a:r>
            <a:endParaRPr lang="en-US" sz="4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B3-1 · Leer una variante en la secuencia (MTHFR)</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3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673608"/>
          </a:xfrm>
          <a:prstGeom prst="rect">
            <a:avLst/>
          </a:prstGeom>
          <a:noFill/>
          <a:ln/>
        </p:spPr>
        <p:txBody>
          <a:bodyPr wrap="square" lIns="254" tIns="254" rIns="254" bIns="254" rtlCol="0" anchor="t"/>
          <a:lstStyle/>
          <a:p>
            <a:pPr indent="0" marL="0">
              <a:buNone/>
            </a:pPr>
            <a:r>
              <a:rPr lang="en-US" sz="2000" dirty="0">
                <a:solidFill>
                  <a:schemeClr val="tx1"/>
                </a:solidFill>
              </a:rPr>
              <a:t>Fragmento </a:t>
            </a:r>
            <a:pPr indent="0" marL="0">
              <a:buNone/>
            </a:pPr>
            <a:r>
              <a:rPr lang="en-US" sz="2000" b="1" dirty="0">
                <a:solidFill>
                  <a:schemeClr val="tx1"/>
                </a:solidFill>
              </a:rPr>
              <a:t>ilustrativo</a:t>
            </a:r>
            <a:pPr indent="0" marL="0">
              <a:buNone/>
            </a:pPr>
            <a:r>
              <a:rPr lang="en-US" sz="2000" dirty="0">
                <a:solidFill>
                  <a:schemeClr val="tx1"/>
                </a:solidFill>
              </a:rPr>
              <a:t> de la secuencia codificante de </a:t>
            </a:r>
            <a:pPr indent="0" marL="0">
              <a:buNone/>
            </a:pPr>
            <a:r>
              <a:rPr lang="en-US" sz="2000" i="1" dirty="0">
                <a:solidFill>
                  <a:schemeClr val="tx1"/>
                </a:solidFill>
              </a:rPr>
              <a:t>MTHFR</a:t>
            </a:r>
            <a:pPr indent="0" marL="0">
              <a:buNone/>
            </a:pPr>
            <a:r>
              <a:rPr lang="en-US" sz="2000" dirty="0">
                <a:solidFill>
                  <a:schemeClr val="tx1"/>
                </a:solidFill>
              </a:rPr>
              <a:t>, en marco de lectura, con el codón 222 entre corchetes:</a:t>
            </a:r>
            <a:endParaRPr lang="en-US" sz="2000" dirty="0"/>
          </a:p>
        </p:txBody>
      </p:sp>
      <p:sp>
        <p:nvSpPr>
          <p:cNvPr id="6" name="texto"/>
          <p:cNvSpPr txBox="1"/>
          <p:nvPr/>
        </p:nvSpPr>
        <p:spPr>
          <a:xfrm>
            <a:off x="548640" y="2118360"/>
            <a:ext cx="11094415" cy="368808"/>
          </a:xfrm>
          <a:prstGeom prst="rect">
            <a:avLst/>
          </a:prstGeom>
          <a:noFill/>
          <a:ln/>
        </p:spPr>
        <p:txBody>
          <a:bodyPr wrap="square" lIns="254" tIns="254" rIns="254" bIns="254" rtlCol="0" anchor="t"/>
          <a:lstStyle/>
          <a:p>
            <a:pPr indent="0" marL="0">
              <a:buNone/>
            </a:pPr>
            <a:r>
              <a:rPr lang="en-US" sz="2000" dirty="0">
                <a:solidFill>
                  <a:schemeClr val="tx1"/>
                </a:solidFill>
              </a:rPr>
              <a:t>Referencia: </a:t>
            </a:r>
            <a:pPr indent="0" marL="0">
              <a:buNone/>
            </a:pPr>
            <a:r>
              <a:rPr lang="en-US" sz="2000" dirty="0">
                <a:solidFill>
                  <a:schemeClr val="tx1"/>
                </a:solidFill>
                <a:latin typeface="Courier New" pitchFamily="34" charset="0"/>
                <a:ea typeface="Courier New" pitchFamily="34" charset="-122"/>
                <a:cs typeface="Courier New" pitchFamily="34" charset="-120"/>
              </a:rPr>
              <a:t>5′-… GGA [GCC] GAC …-3′</a:t>
            </a:r>
            <a:endParaRPr lang="en-US" sz="2000" dirty="0"/>
          </a:p>
        </p:txBody>
      </p:sp>
      <p:sp>
        <p:nvSpPr>
          <p:cNvPr id="7" name="texto"/>
          <p:cNvSpPr txBox="1"/>
          <p:nvPr/>
        </p:nvSpPr>
        <p:spPr>
          <a:xfrm>
            <a:off x="548640" y="2560320"/>
            <a:ext cx="11094415" cy="368808"/>
          </a:xfrm>
          <a:prstGeom prst="rect">
            <a:avLst/>
          </a:prstGeom>
          <a:noFill/>
          <a:ln/>
        </p:spPr>
        <p:txBody>
          <a:bodyPr wrap="square" lIns="254" tIns="254" rIns="254" bIns="254" rtlCol="0" anchor="t"/>
          <a:lstStyle/>
          <a:p>
            <a:pPr indent="0" marL="0">
              <a:buNone/>
            </a:pPr>
            <a:r>
              <a:rPr lang="en-US" sz="2000" dirty="0">
                <a:solidFill>
                  <a:schemeClr val="tx1"/>
                </a:solidFill>
              </a:rPr>
              <a:t>Paciente: </a:t>
            </a:r>
            <a:pPr indent="0" marL="0">
              <a:buNone/>
            </a:pPr>
            <a:r>
              <a:rPr lang="en-US" sz="2000" dirty="0">
                <a:solidFill>
                  <a:schemeClr val="tx1"/>
                </a:solidFill>
                <a:latin typeface="Courier New" pitchFamily="34" charset="0"/>
                <a:ea typeface="Courier New" pitchFamily="34" charset="-122"/>
                <a:cs typeface="Courier New" pitchFamily="34" charset="-120"/>
              </a:rPr>
              <a:t>5′-… GGA [GTC] GAC …-3′</a:t>
            </a:r>
            <a:endParaRPr lang="en-US" sz="2000" dirty="0"/>
          </a:p>
        </p:txBody>
      </p:sp>
      <p:sp>
        <p:nvSpPr>
          <p:cNvPr id="8" name="texto"/>
          <p:cNvSpPr txBox="1"/>
          <p:nvPr/>
        </p:nvSpPr>
        <p:spPr>
          <a:xfrm>
            <a:off x="548640" y="3002280"/>
            <a:ext cx="11094415" cy="368808"/>
          </a:xfrm>
          <a:prstGeom prst="rect">
            <a:avLst/>
          </a:prstGeom>
          <a:noFill/>
          <a:ln/>
        </p:spPr>
        <p:txBody>
          <a:bodyPr wrap="square" lIns="254" tIns="254" rIns="254" bIns="254" rtlCol="0" anchor="t"/>
          <a:lstStyle/>
          <a:p>
            <a:pPr indent="0" marL="0">
              <a:buNone/>
            </a:pPr>
            <a:r>
              <a:rPr lang="en-US" sz="2000" dirty="0">
                <a:solidFill>
                  <a:schemeClr val="tx1"/>
                </a:solidFill>
              </a:rPr>
              <a:t>¿Qué cambio ocurre y cómo se clasifica?</a:t>
            </a:r>
            <a:endParaRPr lang="en-US" sz="2000" dirty="0"/>
          </a:p>
        </p:txBody>
      </p:sp>
      <p:sp>
        <p:nvSpPr>
          <p:cNvPr id="9" name="circulo"/>
          <p:cNvSpPr/>
          <p:nvPr/>
        </p:nvSpPr>
        <p:spPr>
          <a:xfrm>
            <a:off x="548640" y="3535680"/>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353568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11" name="opcion"/>
          <p:cNvSpPr txBox="1"/>
          <p:nvPr/>
        </p:nvSpPr>
        <p:spPr>
          <a:xfrm>
            <a:off x="1097280" y="351739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C→T que crea un codón de paro; nonsense.</a:t>
            </a:r>
            <a:endParaRPr lang="en-US" sz="1900" dirty="0"/>
          </a:p>
        </p:txBody>
      </p:sp>
      <p:sp>
        <p:nvSpPr>
          <p:cNvPr id="12" name="circulo"/>
          <p:cNvSpPr/>
          <p:nvPr/>
        </p:nvSpPr>
        <p:spPr>
          <a:xfrm>
            <a:off x="548640" y="4047744"/>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404774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4" name="opcion"/>
          <p:cNvSpPr txBox="1"/>
          <p:nvPr/>
        </p:nvSpPr>
        <p:spPr>
          <a:xfrm>
            <a:off x="1097280" y="4029456"/>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C→T en la segunda posición; Ala→Ala; sinónimo.</a:t>
            </a:r>
            <a:endParaRPr lang="en-US" sz="1900" dirty="0"/>
          </a:p>
        </p:txBody>
      </p:sp>
      <p:sp>
        <p:nvSpPr>
          <p:cNvPr id="15" name="circulo"/>
          <p:cNvSpPr/>
          <p:nvPr/>
        </p:nvSpPr>
        <p:spPr>
          <a:xfrm>
            <a:off x="548640" y="4559808"/>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455980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7" name="opcion"/>
          <p:cNvSpPr txBox="1"/>
          <p:nvPr/>
        </p:nvSpPr>
        <p:spPr>
          <a:xfrm>
            <a:off x="1097280" y="4541520"/>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C→T en la segunda posición del codón; Ala→Val; missense (corresponde a C677T).</a:t>
            </a:r>
            <a:endParaRPr lang="en-US" sz="1900" dirty="0"/>
          </a:p>
        </p:txBody>
      </p:sp>
      <p:sp>
        <p:nvSpPr>
          <p:cNvPr id="18" name="circulo"/>
          <p:cNvSpPr/>
          <p:nvPr/>
        </p:nvSpPr>
        <p:spPr>
          <a:xfrm>
            <a:off x="548640" y="5071872"/>
            <a:ext cx="384048" cy="384048"/>
          </a:xfrm>
          <a:prstGeom prst="ellipse">
            <a:avLst/>
          </a:prstGeom>
          <a:solidFill>
            <a:schemeClr val="accent1"/>
          </a:solidFill>
          <a:ln w="12700">
            <a:solidFill>
              <a:schemeClr val="accent1"/>
            </a:solidFill>
            <a:prstDash val="solid"/>
          </a:ln>
        </p:spPr>
      </p:sp>
      <p:sp>
        <p:nvSpPr>
          <p:cNvPr id="19" name="letra"/>
          <p:cNvSpPr txBox="1"/>
          <p:nvPr/>
        </p:nvSpPr>
        <p:spPr>
          <a:xfrm>
            <a:off x="548640" y="507187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20" name="opcion"/>
          <p:cNvSpPr txBox="1"/>
          <p:nvPr/>
        </p:nvSpPr>
        <p:spPr>
          <a:xfrm>
            <a:off x="1097280" y="5053584"/>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C→T en la primera posición del codón; Ala→Ser; missense.</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B3-1 · Leer una variante en la secuencia (MTHFR)</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3 · Respuesta</a:t>
            </a:r>
            <a:endParaRPr lang="en-US" sz="1100" dirty="0"/>
          </a:p>
        </p:txBody>
      </p:sp>
      <p:sp>
        <p:nvSpPr>
          <p:cNvPr id="4" name="caja respuesta"/>
          <p:cNvSpPr/>
          <p:nvPr/>
        </p:nvSpPr>
        <p:spPr>
          <a:xfrm>
            <a:off x="548640" y="1371600"/>
            <a:ext cx="11094415" cy="685800"/>
          </a:xfrm>
          <a:prstGeom prst="roundRect">
            <a:avLst>
              <a:gd name="adj" fmla="val 16000"/>
            </a:avLst>
          </a:prstGeom>
          <a:solidFill>
            <a:schemeClr val="bg1"/>
          </a:solidFill>
          <a:ln w="19050">
            <a:solidFill>
              <a:schemeClr val="accent1"/>
            </a:solidFill>
            <a:prstDash val="solid"/>
          </a:ln>
        </p:spPr>
      </p:sp>
      <p:sp>
        <p:nvSpPr>
          <p:cNvPr id="5" name="circulo check"/>
          <p:cNvSpPr/>
          <p:nvPr/>
        </p:nvSpPr>
        <p:spPr>
          <a:xfrm>
            <a:off x="749808" y="148590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595628"/>
            <a:ext cx="237744" cy="237744"/>
          </a:xfrm>
          <a:prstGeom prst="rect">
            <a:avLst/>
          </a:prstGeom>
        </p:spPr>
      </p:pic>
      <p:sp>
        <p:nvSpPr>
          <p:cNvPr id="7" name="respuesta"/>
          <p:cNvSpPr txBox="1"/>
          <p:nvPr/>
        </p:nvSpPr>
        <p:spPr>
          <a:xfrm>
            <a:off x="1371600" y="1444752"/>
            <a:ext cx="10180015" cy="539496"/>
          </a:xfrm>
          <a:prstGeom prst="rect">
            <a:avLst/>
          </a:prstGeom>
          <a:noFill/>
          <a:ln/>
        </p:spPr>
        <p:txBody>
          <a:bodyPr wrap="square" lIns="254" tIns="254" rIns="254" bIns="254" rtlCol="0" anchor="ctr"/>
          <a:lstStyle/>
          <a:p>
            <a:pPr indent="0" marL="0">
              <a:buNone/>
            </a:pPr>
            <a:r>
              <a:rPr lang="en-US" sz="1600" b="1" dirty="0">
                <a:solidFill>
                  <a:schemeClr val="tx1"/>
                </a:solidFill>
              </a:rPr>
              <a:t>C)  </a:t>
            </a:r>
            <a:pPr indent="0" marL="0">
              <a:buNone/>
            </a:pPr>
            <a:r>
              <a:rPr lang="en-US" sz="1600" dirty="0">
                <a:solidFill>
                  <a:schemeClr val="tx1"/>
                </a:solidFill>
              </a:rPr>
              <a:t>C→T en la segunda posición del codón; Ala→Val; missense (corresponde a C677T).</a:t>
            </a:r>
            <a:endParaRPr lang="en-US" sz="1600" dirty="0"/>
          </a:p>
        </p:txBody>
      </p:sp>
      <p:sp>
        <p:nvSpPr>
          <p:cNvPr id="8" name="circulo icono"/>
          <p:cNvSpPr/>
          <p:nvPr/>
        </p:nvSpPr>
        <p:spPr>
          <a:xfrm>
            <a:off x="548640" y="228600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368296"/>
            <a:ext cx="164592" cy="164592"/>
          </a:xfrm>
          <a:prstGeom prst="rect">
            <a:avLst/>
          </a:prstGeom>
        </p:spPr>
      </p:pic>
      <p:sp>
        <p:nvSpPr>
          <p:cNvPr id="10" name="subtitulo"/>
          <p:cNvSpPr txBox="1"/>
          <p:nvPr/>
        </p:nvSpPr>
        <p:spPr>
          <a:xfrm>
            <a:off x="987552" y="22860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2743200"/>
            <a:ext cx="5364328" cy="1222248"/>
          </a:xfrm>
          <a:prstGeom prst="rect">
            <a:avLst/>
          </a:prstGeom>
          <a:noFill/>
          <a:ln/>
        </p:spPr>
        <p:txBody>
          <a:bodyPr wrap="square" lIns="254" tIns="254" rIns="254" bIns="254" rtlCol="0" anchor="t"/>
          <a:lstStyle/>
          <a:p>
            <a:pPr indent="0" marL="0">
              <a:buNone/>
            </a:pPr>
            <a:r>
              <a:rPr lang="en-US" sz="1900" b="1" dirty="0">
                <a:solidFill>
                  <a:schemeClr val="tx1"/>
                </a:solidFill>
              </a:rPr>
              <a:t>Correcta: GCC (Ala) → GTC (Val), cambio en la segunda base del codón: missense.</a:t>
            </a:r>
            <a:pPr indent="0" marL="0">
              <a:buNone/>
            </a:pPr>
            <a:r>
              <a:rPr lang="en-US" sz="1900" dirty="0">
                <a:solidFill>
                  <a:schemeClr val="tx1"/>
                </a:solidFill>
              </a:rPr>
              <a:t> Es la variante C677T: alanina 222 por valina, que vuelve termolábil a la enzima.</a:t>
            </a:r>
            <a:endParaRPr lang="en-US" sz="1900" dirty="0"/>
          </a:p>
        </p:txBody>
      </p:sp>
      <p:sp>
        <p:nvSpPr>
          <p:cNvPr id="12" name="circulo icono"/>
          <p:cNvSpPr/>
          <p:nvPr/>
        </p:nvSpPr>
        <p:spPr>
          <a:xfrm>
            <a:off x="6278728" y="228600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368296"/>
            <a:ext cx="164592" cy="164592"/>
          </a:xfrm>
          <a:prstGeom prst="rect">
            <a:avLst/>
          </a:prstGeom>
        </p:spPr>
      </p:pic>
      <p:sp>
        <p:nvSpPr>
          <p:cNvPr id="14" name="subtitulo"/>
          <p:cNvSpPr txBox="1"/>
          <p:nvPr/>
        </p:nvSpPr>
        <p:spPr>
          <a:xfrm>
            <a:off x="6717640" y="22860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287680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2743200"/>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«Primera posición, Ala→Ser»: la primera base (G) no cambió; Ser sería TCC o AGC.</a:t>
            </a:r>
            <a:endParaRPr lang="en-US" sz="1900" dirty="0"/>
          </a:p>
        </p:txBody>
      </p:sp>
      <p:sp>
        <p:nvSpPr>
          <p:cNvPr id="17" name="vineta"/>
          <p:cNvSpPr/>
          <p:nvPr/>
        </p:nvSpPr>
        <p:spPr>
          <a:xfrm>
            <a:off x="6333592" y="357479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441192"/>
            <a:ext cx="5108296" cy="353568"/>
          </a:xfrm>
          <a:prstGeom prst="rect">
            <a:avLst/>
          </a:prstGeom>
          <a:noFill/>
          <a:ln/>
        </p:spPr>
        <p:txBody>
          <a:bodyPr wrap="square" lIns="254" tIns="254" rIns="254" bIns="254" rtlCol="0" anchor="t"/>
          <a:lstStyle/>
          <a:p>
            <a:pPr indent="0" marL="0">
              <a:buNone/>
            </a:pPr>
            <a:r>
              <a:rPr lang="en-US" sz="1900" dirty="0">
                <a:solidFill>
                  <a:schemeClr val="tx1"/>
                </a:solidFill>
              </a:rPr>
              <a:t>«Sinónimo»: GTC codifica valina, no alanina.</a:t>
            </a:r>
            <a:endParaRPr lang="en-US" sz="1900" dirty="0"/>
          </a:p>
        </p:txBody>
      </p:sp>
      <p:sp>
        <p:nvSpPr>
          <p:cNvPr id="19" name="vineta"/>
          <p:cNvSpPr/>
          <p:nvPr/>
        </p:nvSpPr>
        <p:spPr>
          <a:xfrm>
            <a:off x="6333592" y="398322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3849624"/>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«Nonsense»: GTC no es codón de paro (TAA, TAG, TGA).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B3-2 · Clasificar variantes en una secuencia</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3 · 3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Completa cada espacio</a:t>
            </a:r>
            <a:endParaRPr lang="en-US" sz="1100" dirty="0"/>
          </a:p>
        </p:txBody>
      </p:sp>
      <p:sp>
        <p:nvSpPr>
          <p:cNvPr id="5" name="texto"/>
          <p:cNvSpPr txBox="1"/>
          <p:nvPr/>
        </p:nvSpPr>
        <p:spPr>
          <a:xfrm>
            <a:off x="548640" y="1371600"/>
            <a:ext cx="11094415" cy="292608"/>
          </a:xfrm>
          <a:prstGeom prst="rect">
            <a:avLst/>
          </a:prstGeom>
          <a:noFill/>
          <a:ln/>
        </p:spPr>
        <p:txBody>
          <a:bodyPr wrap="square" lIns="254" tIns="254" rIns="254" bIns="254" rtlCol="0" anchor="t"/>
          <a:lstStyle/>
          <a:p>
            <a:pPr indent="0" marL="0">
              <a:buNone/>
            </a:pPr>
            <a:r>
              <a:rPr lang="en-US" sz="1500" dirty="0">
                <a:solidFill>
                  <a:schemeClr val="tx1"/>
                </a:solidFill>
              </a:rPr>
              <a:t>Marco de lectura abierto ilustrativo (los números indican la posición del nucleótido desde la A del ATG):</a:t>
            </a:r>
            <a:endParaRPr lang="en-US" sz="1500" dirty="0"/>
          </a:p>
        </p:txBody>
      </p:sp>
      <p:sp>
        <p:nvSpPr>
          <p:cNvPr id="6" name="texto"/>
          <p:cNvSpPr txBox="1"/>
          <p:nvPr/>
        </p:nvSpPr>
        <p:spPr>
          <a:xfrm>
            <a:off x="548640" y="1737360"/>
            <a:ext cx="11094415" cy="292608"/>
          </a:xfrm>
          <a:prstGeom prst="rect">
            <a:avLst/>
          </a:prstGeom>
          <a:noFill/>
          <a:ln/>
        </p:spPr>
        <p:txBody>
          <a:bodyPr wrap="square" lIns="254" tIns="254" rIns="254" bIns="254" rtlCol="0" anchor="t"/>
          <a:lstStyle/>
          <a:p>
            <a:pPr indent="0" marL="0">
              <a:buNone/>
            </a:pPr>
            <a:r>
              <a:rPr lang="en-US" sz="1500" dirty="0">
                <a:solidFill>
                  <a:schemeClr val="tx1"/>
                </a:solidFill>
                <a:latin typeface="Courier New" pitchFamily="34" charset="0"/>
                <a:ea typeface="Courier New" pitchFamily="34" charset="-122"/>
                <a:cs typeface="Courier New" pitchFamily="34" charset="-120"/>
              </a:rPr>
              <a:t>5′-ATG GCT TGG CAG GAA CTG AAA TAA-3′</a:t>
            </a:r>
            <a:endParaRPr lang="en-US" sz="1500" dirty="0"/>
          </a:p>
        </p:txBody>
      </p:sp>
      <p:sp>
        <p:nvSpPr>
          <p:cNvPr id="7" name="texto"/>
          <p:cNvSpPr txBox="1"/>
          <p:nvPr/>
        </p:nvSpPr>
        <p:spPr>
          <a:xfrm>
            <a:off x="548640" y="2103120"/>
            <a:ext cx="11094415" cy="292608"/>
          </a:xfrm>
          <a:prstGeom prst="rect">
            <a:avLst/>
          </a:prstGeom>
          <a:noFill/>
          <a:ln/>
        </p:spPr>
        <p:txBody>
          <a:bodyPr wrap="square" lIns="254" tIns="254" rIns="254" bIns="254" rtlCol="0" anchor="t"/>
          <a:lstStyle/>
          <a:p>
            <a:pPr indent="0" marL="0">
              <a:buNone/>
            </a:pPr>
            <a:r>
              <a:rPr lang="en-US" sz="1500" dirty="0">
                <a:solidFill>
                  <a:schemeClr val="tx1"/>
                </a:solidFill>
              </a:rPr>
              <a:t>Proteína: Met-Ala-Trp-Gln-Glu-Leu-Lys-Stop</a:t>
            </a:r>
            <a:endParaRPr lang="en-US" sz="1500" dirty="0"/>
          </a:p>
        </p:txBody>
      </p:sp>
      <p:sp>
        <p:nvSpPr>
          <p:cNvPr id="8" name="texto"/>
          <p:cNvSpPr txBox="1"/>
          <p:nvPr/>
        </p:nvSpPr>
        <p:spPr>
          <a:xfrm>
            <a:off x="548640" y="2468880"/>
            <a:ext cx="11094415" cy="292608"/>
          </a:xfrm>
          <a:prstGeom prst="rect">
            <a:avLst/>
          </a:prstGeom>
          <a:noFill/>
          <a:ln/>
        </p:spPr>
        <p:txBody>
          <a:bodyPr wrap="square" lIns="254" tIns="254" rIns="254" bIns="254" rtlCol="0" anchor="t"/>
          <a:lstStyle/>
          <a:p>
            <a:pPr indent="0" marL="0">
              <a:buNone/>
            </a:pPr>
            <a:r>
              <a:rPr lang="en-US" sz="1500" dirty="0">
                <a:solidFill>
                  <a:schemeClr val="tx1"/>
                </a:solidFill>
              </a:rPr>
              <a:t>Clasifica cada variante:</a:t>
            </a:r>
            <a:endParaRPr lang="en-US" sz="1500" dirty="0"/>
          </a:p>
        </p:txBody>
      </p:sp>
      <p:sp>
        <p:nvSpPr>
          <p:cNvPr id="9" name="texto"/>
          <p:cNvSpPr txBox="1"/>
          <p:nvPr/>
        </p:nvSpPr>
        <p:spPr>
          <a:xfrm>
            <a:off x="548640" y="2834640"/>
            <a:ext cx="11094415" cy="292608"/>
          </a:xfrm>
          <a:prstGeom prst="rect">
            <a:avLst/>
          </a:prstGeom>
          <a:noFill/>
          <a:ln/>
        </p:spPr>
        <p:txBody>
          <a:bodyPr wrap="square" lIns="254" tIns="254" rIns="254" bIns="254" rtlCol="0" anchor="t"/>
          <a:lstStyle/>
          <a:p>
            <a:pPr indent="0" marL="0">
              <a:buNone/>
            </a:pPr>
            <a:r>
              <a:rPr lang="en-US" sz="1500" dirty="0">
                <a:solidFill>
                  <a:schemeClr val="tx1"/>
                </a:solidFill>
              </a:rPr>
              <a:t>c.6T&gt;C → [v1]</a:t>
            </a:r>
            <a:endParaRPr lang="en-US" sz="1500" dirty="0"/>
          </a:p>
        </p:txBody>
      </p:sp>
      <p:sp>
        <p:nvSpPr>
          <p:cNvPr id="10" name="texto"/>
          <p:cNvSpPr txBox="1"/>
          <p:nvPr/>
        </p:nvSpPr>
        <p:spPr>
          <a:xfrm>
            <a:off x="548640" y="3200400"/>
            <a:ext cx="11094415" cy="292608"/>
          </a:xfrm>
          <a:prstGeom prst="rect">
            <a:avLst/>
          </a:prstGeom>
          <a:noFill/>
          <a:ln/>
        </p:spPr>
        <p:txBody>
          <a:bodyPr wrap="square" lIns="254" tIns="254" rIns="254" bIns="254" rtlCol="0" anchor="t"/>
          <a:lstStyle/>
          <a:p>
            <a:pPr indent="0" marL="0">
              <a:buNone/>
            </a:pPr>
            <a:r>
              <a:rPr lang="en-US" sz="1500" dirty="0">
                <a:solidFill>
                  <a:schemeClr val="tx1"/>
                </a:solidFill>
              </a:rPr>
              <a:t>c.9G&gt;A → [v2]</a:t>
            </a:r>
            <a:endParaRPr lang="en-US" sz="1500" dirty="0"/>
          </a:p>
        </p:txBody>
      </p:sp>
      <p:sp>
        <p:nvSpPr>
          <p:cNvPr id="11" name="texto"/>
          <p:cNvSpPr txBox="1"/>
          <p:nvPr/>
        </p:nvSpPr>
        <p:spPr>
          <a:xfrm>
            <a:off x="548640" y="3566160"/>
            <a:ext cx="11094415" cy="292608"/>
          </a:xfrm>
          <a:prstGeom prst="rect">
            <a:avLst/>
          </a:prstGeom>
          <a:noFill/>
          <a:ln/>
        </p:spPr>
        <p:txBody>
          <a:bodyPr wrap="square" lIns="254" tIns="254" rIns="254" bIns="254" rtlCol="0" anchor="t"/>
          <a:lstStyle/>
          <a:p>
            <a:pPr indent="0" marL="0">
              <a:buNone/>
            </a:pPr>
            <a:r>
              <a:rPr lang="en-US" sz="1500" dirty="0">
                <a:solidFill>
                  <a:schemeClr val="tx1"/>
                </a:solidFill>
              </a:rPr>
              <a:t>c.14A&gt;T → [v3]</a:t>
            </a:r>
            <a:endParaRPr lang="en-US" sz="1500" dirty="0"/>
          </a:p>
        </p:txBody>
      </p:sp>
      <p:sp>
        <p:nvSpPr>
          <p:cNvPr id="12" name="texto"/>
          <p:cNvSpPr txBox="1"/>
          <p:nvPr/>
        </p:nvSpPr>
        <p:spPr>
          <a:xfrm>
            <a:off x="548640" y="3931920"/>
            <a:ext cx="11094415" cy="292608"/>
          </a:xfrm>
          <a:prstGeom prst="rect">
            <a:avLst/>
          </a:prstGeom>
          <a:noFill/>
          <a:ln/>
        </p:spPr>
        <p:txBody>
          <a:bodyPr wrap="square" lIns="254" tIns="254" rIns="254" bIns="254" rtlCol="0" anchor="t"/>
          <a:lstStyle/>
          <a:p>
            <a:pPr indent="0" marL="0">
              <a:buNone/>
            </a:pPr>
            <a:r>
              <a:rPr lang="en-US" sz="1500" dirty="0">
                <a:solidFill>
                  <a:schemeClr val="tx1"/>
                </a:solidFill>
              </a:rPr>
              <a:t>c.17delT → [v4]</a:t>
            </a:r>
            <a:endParaRPr lang="en-US" sz="1500" dirty="0"/>
          </a:p>
        </p:txBody>
      </p:sp>
      <p:sp>
        <p:nvSpPr>
          <p:cNvPr id="13" name="texto"/>
          <p:cNvSpPr txBox="1"/>
          <p:nvPr/>
        </p:nvSpPr>
        <p:spPr>
          <a:xfrm>
            <a:off x="548640" y="4297680"/>
            <a:ext cx="11094415" cy="292608"/>
          </a:xfrm>
          <a:prstGeom prst="rect">
            <a:avLst/>
          </a:prstGeom>
          <a:noFill/>
          <a:ln/>
        </p:spPr>
        <p:txBody>
          <a:bodyPr wrap="square" lIns="254" tIns="254" rIns="254" bIns="254" rtlCol="0" anchor="t"/>
          <a:lstStyle/>
          <a:p>
            <a:pPr indent="0" marL="0">
              <a:buNone/>
            </a:pPr>
            <a:r>
              <a:rPr lang="en-US" sz="1500" dirty="0">
                <a:solidFill>
                  <a:schemeClr val="tx1"/>
                </a:solidFill>
              </a:rPr>
              <a:t>c.10_12delCAG → [v5]</a:t>
            </a:r>
            <a:endParaRPr lang="en-US" sz="1500" dirty="0"/>
          </a:p>
        </p:txBody>
      </p:sp>
      <p:sp>
        <p:nvSpPr>
          <p:cNvPr id="14" name="opciones"/>
          <p:cNvSpPr txBox="1"/>
          <p:nvPr/>
        </p:nvSpPr>
        <p:spPr>
          <a:xfrm>
            <a:off x="548640" y="4663440"/>
            <a:ext cx="11094415" cy="262128"/>
          </a:xfrm>
          <a:prstGeom prst="rect">
            <a:avLst/>
          </a:prstGeom>
          <a:noFill/>
          <a:ln/>
        </p:spPr>
        <p:txBody>
          <a:bodyPr wrap="square" lIns="254" tIns="254" rIns="254" bIns="254" rtlCol="0" anchor="ctr"/>
          <a:lstStyle/>
          <a:p>
            <a:pPr indent="0" marL="0">
              <a:buNone/>
            </a:pPr>
            <a:r>
              <a:rPr lang="en-US" sz="1300" b="1" dirty="0">
                <a:solidFill>
                  <a:schemeClr val="accent4"/>
                </a:solidFill>
              </a:rPr>
              <a:t>[v1]  </a:t>
            </a:r>
            <a:pPr indent="0" marL="0">
              <a:buNone/>
            </a:pPr>
            <a:r>
              <a:rPr lang="en-US" sz="1300" dirty="0">
                <a:solidFill>
                  <a:schemeClr val="tx1"/>
                </a:solidFill>
              </a:rPr>
              <a:t>sinónima (Ala→Ala)   ·   missense (Ala→Pro)   ·   nonsense   ·   indel con corrimiento del marco</a:t>
            </a:r>
            <a:endParaRPr lang="en-US" sz="1300" dirty="0"/>
          </a:p>
        </p:txBody>
      </p:sp>
      <p:sp>
        <p:nvSpPr>
          <p:cNvPr id="15" name="opciones"/>
          <p:cNvSpPr txBox="1"/>
          <p:nvPr/>
        </p:nvSpPr>
        <p:spPr>
          <a:xfrm>
            <a:off x="548640" y="4962144"/>
            <a:ext cx="11094415" cy="262128"/>
          </a:xfrm>
          <a:prstGeom prst="rect">
            <a:avLst/>
          </a:prstGeom>
          <a:noFill/>
          <a:ln/>
        </p:spPr>
        <p:txBody>
          <a:bodyPr wrap="square" lIns="254" tIns="254" rIns="254" bIns="254" rtlCol="0" anchor="ctr"/>
          <a:lstStyle/>
          <a:p>
            <a:pPr indent="0" marL="0">
              <a:buNone/>
            </a:pPr>
            <a:r>
              <a:rPr lang="en-US" sz="1300" b="1" dirty="0">
                <a:solidFill>
                  <a:schemeClr val="accent4"/>
                </a:solidFill>
              </a:rPr>
              <a:t>[v2]  </a:t>
            </a:r>
            <a:pPr indent="0" marL="0">
              <a:buNone/>
            </a:pPr>
            <a:r>
              <a:rPr lang="en-US" sz="1300" dirty="0">
                <a:solidFill>
                  <a:schemeClr val="tx1"/>
                </a:solidFill>
              </a:rPr>
              <a:t>nonsense (Trp→Stop)   ·   sinónima (Trp→Trp)   ·   missense (Trp→Cys)   ·   indel sin corrimiento del marco</a:t>
            </a:r>
            <a:endParaRPr lang="en-US" sz="1300" dirty="0"/>
          </a:p>
        </p:txBody>
      </p:sp>
      <p:sp>
        <p:nvSpPr>
          <p:cNvPr id="16" name="opciones"/>
          <p:cNvSpPr txBox="1"/>
          <p:nvPr/>
        </p:nvSpPr>
        <p:spPr>
          <a:xfrm>
            <a:off x="548640" y="5260848"/>
            <a:ext cx="11094415" cy="262128"/>
          </a:xfrm>
          <a:prstGeom prst="rect">
            <a:avLst/>
          </a:prstGeom>
          <a:noFill/>
          <a:ln/>
        </p:spPr>
        <p:txBody>
          <a:bodyPr wrap="square" lIns="254" tIns="254" rIns="254" bIns="254" rtlCol="0" anchor="ctr"/>
          <a:lstStyle/>
          <a:p>
            <a:pPr indent="0" marL="0">
              <a:buNone/>
            </a:pPr>
            <a:r>
              <a:rPr lang="en-US" sz="1300" b="1" dirty="0">
                <a:solidFill>
                  <a:schemeClr val="accent4"/>
                </a:solidFill>
              </a:rPr>
              <a:t>[v3]  </a:t>
            </a:r>
            <a:pPr indent="0" marL="0">
              <a:buNone/>
            </a:pPr>
            <a:r>
              <a:rPr lang="en-US" sz="1300" dirty="0">
                <a:solidFill>
                  <a:schemeClr val="tx1"/>
                </a:solidFill>
              </a:rPr>
              <a:t>missense (Glu→Val)   ·   sinónima (Glu→Glu)   ·   nonsense   ·   missense (Glu→Asp)</a:t>
            </a:r>
            <a:endParaRPr lang="en-US" sz="1300" dirty="0"/>
          </a:p>
        </p:txBody>
      </p:sp>
      <p:sp>
        <p:nvSpPr>
          <p:cNvPr id="17" name="opciones"/>
          <p:cNvSpPr txBox="1"/>
          <p:nvPr/>
        </p:nvSpPr>
        <p:spPr>
          <a:xfrm>
            <a:off x="548640" y="5559552"/>
            <a:ext cx="11094415" cy="262128"/>
          </a:xfrm>
          <a:prstGeom prst="rect">
            <a:avLst/>
          </a:prstGeom>
          <a:noFill/>
          <a:ln/>
        </p:spPr>
        <p:txBody>
          <a:bodyPr wrap="square" lIns="254" tIns="254" rIns="254" bIns="254" rtlCol="0" anchor="ctr"/>
          <a:lstStyle/>
          <a:p>
            <a:pPr indent="0" marL="0">
              <a:buNone/>
            </a:pPr>
            <a:r>
              <a:rPr lang="en-US" sz="1300" b="1" dirty="0">
                <a:solidFill>
                  <a:schemeClr val="accent4"/>
                </a:solidFill>
              </a:rPr>
              <a:t>[v4]  </a:t>
            </a:r>
            <a:pPr indent="0" marL="0">
              <a:buNone/>
            </a:pPr>
            <a:r>
              <a:rPr lang="en-US" sz="1300" dirty="0">
                <a:solidFill>
                  <a:schemeClr val="tx1"/>
                </a:solidFill>
              </a:rPr>
              <a:t>indel con corrimiento del marco   ·   indel sin corrimiento del marco   ·   sinónima   ·   nonsense directo en ese codón</a:t>
            </a:r>
            <a:endParaRPr lang="en-US" sz="1300" dirty="0"/>
          </a:p>
        </p:txBody>
      </p:sp>
      <p:sp>
        <p:nvSpPr>
          <p:cNvPr id="18" name="opciones"/>
          <p:cNvSpPr txBox="1"/>
          <p:nvPr/>
        </p:nvSpPr>
        <p:spPr>
          <a:xfrm>
            <a:off x="548640" y="5858256"/>
            <a:ext cx="11094415" cy="262128"/>
          </a:xfrm>
          <a:prstGeom prst="rect">
            <a:avLst/>
          </a:prstGeom>
          <a:noFill/>
          <a:ln/>
        </p:spPr>
        <p:txBody>
          <a:bodyPr wrap="square" lIns="254" tIns="254" rIns="254" bIns="254" rtlCol="0" anchor="ctr"/>
          <a:lstStyle/>
          <a:p>
            <a:pPr indent="0" marL="0">
              <a:buNone/>
            </a:pPr>
            <a:r>
              <a:rPr lang="en-US" sz="1300" b="1" dirty="0">
                <a:solidFill>
                  <a:schemeClr val="accent4"/>
                </a:solidFill>
              </a:rPr>
              <a:t>[v5]  </a:t>
            </a:r>
            <a:pPr indent="0" marL="0">
              <a:buNone/>
            </a:pPr>
            <a:r>
              <a:rPr lang="en-US" sz="1300" dirty="0">
                <a:solidFill>
                  <a:schemeClr val="tx1"/>
                </a:solidFill>
              </a:rPr>
              <a:t>indel sin corrimiento del marco (pierde Gln)   ·   indel con corrimiento del marco   ·   nonsense   ·   CNV</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B3-2 · Clasificar variantes en una secuencia</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3 · Respuesta</a:t>
            </a:r>
            <a:endParaRPr lang="en-US" sz="1100" dirty="0"/>
          </a:p>
        </p:txBody>
      </p:sp>
      <p:sp>
        <p:nvSpPr>
          <p:cNvPr id="4" name="caja respuesta"/>
          <p:cNvSpPr/>
          <p:nvPr/>
        </p:nvSpPr>
        <p:spPr>
          <a:xfrm>
            <a:off x="548640" y="1371600"/>
            <a:ext cx="11094415" cy="1341120"/>
          </a:xfrm>
          <a:prstGeom prst="roundRect">
            <a:avLst>
              <a:gd name="adj" fmla="val 8182"/>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1194816"/>
          </a:xfrm>
          <a:prstGeom prst="rect">
            <a:avLst/>
          </a:prstGeom>
          <a:noFill/>
          <a:ln/>
        </p:spPr>
        <p:txBody>
          <a:bodyPr wrap="square" lIns="254" tIns="254" rIns="254" bIns="254" rtlCol="0" anchor="ctr"/>
          <a:lstStyle/>
          <a:p>
            <a:pPr indent="0" marL="0">
              <a:buNone/>
            </a:pPr>
            <a:r>
              <a:rPr lang="en-US" sz="1400" b="1" dirty="0">
                <a:solidFill>
                  <a:schemeClr val="tx1"/>
                </a:solidFill>
              </a:rPr>
              <a:t>[v1]  </a:t>
            </a:r>
            <a:pPr indent="0" marL="0">
              <a:buNone/>
            </a:pPr>
            <a:r>
              <a:rPr lang="en-US" sz="1400" dirty="0">
                <a:solidFill>
                  <a:schemeClr val="tx1"/>
                </a:solidFill>
              </a:rPr>
              <a:t>sinónima (Ala→Ala)</a:t>
            </a:r>
            <a:endParaRPr lang="en-US" sz="1400" dirty="0"/>
          </a:p>
          <a:p>
            <a:pPr indent="0" marL="0">
              <a:buNone/>
            </a:pPr>
            <a:r>
              <a:rPr lang="en-US" sz="1400" b="1" dirty="0">
                <a:solidFill>
                  <a:schemeClr val="tx1"/>
                </a:solidFill>
              </a:rPr>
              <a:t>[v2]  </a:t>
            </a:r>
            <a:pPr indent="0" marL="0">
              <a:buNone/>
            </a:pPr>
            <a:r>
              <a:rPr lang="en-US" sz="1400" dirty="0">
                <a:solidFill>
                  <a:schemeClr val="tx1"/>
                </a:solidFill>
              </a:rPr>
              <a:t>nonsense (Trp→Stop)</a:t>
            </a:r>
            <a:endParaRPr lang="en-US" sz="1400" dirty="0"/>
          </a:p>
          <a:p>
            <a:pPr indent="0" marL="0">
              <a:buNone/>
            </a:pPr>
            <a:r>
              <a:rPr lang="en-US" sz="1400" b="1" dirty="0">
                <a:solidFill>
                  <a:schemeClr val="tx1"/>
                </a:solidFill>
              </a:rPr>
              <a:t>[v3]  </a:t>
            </a:r>
            <a:pPr indent="0" marL="0">
              <a:buNone/>
            </a:pPr>
            <a:r>
              <a:rPr lang="en-US" sz="1400" dirty="0">
                <a:solidFill>
                  <a:schemeClr val="tx1"/>
                </a:solidFill>
              </a:rPr>
              <a:t>missense (Glu→Val)</a:t>
            </a:r>
            <a:endParaRPr lang="en-US" sz="1400" dirty="0"/>
          </a:p>
          <a:p>
            <a:pPr indent="0" marL="0">
              <a:buNone/>
            </a:pPr>
            <a:r>
              <a:rPr lang="en-US" sz="1400" b="1" dirty="0">
                <a:solidFill>
                  <a:schemeClr val="tx1"/>
                </a:solidFill>
              </a:rPr>
              <a:t>[v4]  </a:t>
            </a:r>
            <a:pPr indent="0" marL="0">
              <a:buNone/>
            </a:pPr>
            <a:r>
              <a:rPr lang="en-US" sz="1400" dirty="0">
                <a:solidFill>
                  <a:schemeClr val="tx1"/>
                </a:solidFill>
              </a:rPr>
              <a:t>indel con corrimiento del marco</a:t>
            </a:r>
            <a:endParaRPr lang="en-US" sz="1400" dirty="0"/>
          </a:p>
          <a:p>
            <a:pPr indent="0" marL="0">
              <a:buNone/>
            </a:pPr>
            <a:r>
              <a:rPr lang="en-US" sz="1400" b="1" dirty="0">
                <a:solidFill>
                  <a:schemeClr val="tx1"/>
                </a:solidFill>
              </a:rPr>
              <a:t>[v5]  </a:t>
            </a:r>
            <a:pPr indent="0" marL="0">
              <a:buNone/>
            </a:pPr>
            <a:r>
              <a:rPr lang="en-US" sz="1400" dirty="0">
                <a:solidFill>
                  <a:schemeClr val="tx1"/>
                </a:solidFill>
              </a:rPr>
              <a:t>indel sin corrimiento del marco (pierde Gln)</a:t>
            </a:r>
            <a:endParaRPr lang="en-US" sz="1400" dirty="0"/>
          </a:p>
        </p:txBody>
      </p:sp>
      <p:sp>
        <p:nvSpPr>
          <p:cNvPr id="8" name="circulo icono"/>
          <p:cNvSpPr/>
          <p:nvPr/>
        </p:nvSpPr>
        <p:spPr>
          <a:xfrm>
            <a:off x="548640" y="2941320"/>
            <a:ext cx="329184" cy="329184"/>
          </a:xfrm>
          <a:prstGeom prst="ellipse">
            <a:avLst/>
          </a:prstGeom>
          <a:solidFill>
            <a:schemeClr val="accent4"/>
          </a:solidFill>
          <a:ln w="12700">
            <a:solidFill>
              <a:schemeClr val="accent4"/>
            </a:solidFill>
            <a:prstDash val="solid"/>
          </a:ln>
        </p:spPr>
      </p:sp>
      <p:pic>
        <p:nvPicPr>
          <p:cNvPr id="9" name="Image 1" descr="Explicación">    </p:cNvPr>
          <p:cNvPicPr>
            <a:picLocks noChangeAspect="1"/>
          </p:cNvPicPr>
          <p:nvPr/>
        </p:nvPicPr>
        <p:blipFill>
          <a:blip r:embed="rId2"/>
          <a:stretch>
            <a:fillRect/>
          </a:stretch>
        </p:blipFill>
        <p:spPr>
          <a:xfrm>
            <a:off x="630936" y="3023616"/>
            <a:ext cx="164592" cy="164592"/>
          </a:xfrm>
          <a:prstGeom prst="rect">
            <a:avLst/>
          </a:prstGeom>
        </p:spPr>
      </p:pic>
      <p:sp>
        <p:nvSpPr>
          <p:cNvPr id="10" name="subtitulo"/>
          <p:cNvSpPr txBox="1"/>
          <p:nvPr/>
        </p:nvSpPr>
        <p:spPr>
          <a:xfrm>
            <a:off x="987552" y="2941320"/>
            <a:ext cx="10655503" cy="329184"/>
          </a:xfrm>
          <a:prstGeom prst="rect">
            <a:avLst/>
          </a:prstGeom>
          <a:noFill/>
          <a:ln/>
        </p:spPr>
        <p:txBody>
          <a:bodyPr wrap="square" lIns="0" tIns="0" rIns="0" bIns="0" rtlCol="0" anchor="ctr"/>
          <a:lstStyle/>
          <a:p>
            <a:pPr indent="0" marL="0">
              <a:buNone/>
            </a:pPr>
            <a:r>
              <a:rPr lang="en-US" sz="1600" b="1" dirty="0">
                <a:solidFill>
                  <a:schemeClr val="tx2"/>
                </a:solidFill>
              </a:rPr>
              <a:t>Explicación</a:t>
            </a:r>
            <a:endParaRPr lang="en-US" sz="1600" dirty="0"/>
          </a:p>
        </p:txBody>
      </p:sp>
      <p:sp>
        <p:nvSpPr>
          <p:cNvPr id="11" name="texto"/>
          <p:cNvSpPr txBox="1"/>
          <p:nvPr/>
        </p:nvSpPr>
        <p:spPr>
          <a:xfrm>
            <a:off x="548640" y="3398520"/>
            <a:ext cx="11094415" cy="932688"/>
          </a:xfrm>
          <a:prstGeom prst="rect">
            <a:avLst/>
          </a:prstGeom>
          <a:noFill/>
          <a:ln/>
        </p:spPr>
        <p:txBody>
          <a:bodyPr wrap="square" lIns="254" tIns="254" rIns="254" bIns="254" rtlCol="0" anchor="t"/>
          <a:lstStyle/>
          <a:p>
            <a:pPr indent="0" marL="0">
              <a:buNone/>
            </a:pPr>
            <a:r>
              <a:rPr lang="en-US" sz="1900" b="1" dirty="0">
                <a:solidFill>
                  <a:schemeClr val="tx1"/>
                </a:solidFill>
              </a:rPr>
              <a:t>Clave:</a:t>
            </a:r>
            <a:pPr indent="0" marL="0">
              <a:buNone/>
            </a:pPr>
            <a:r>
              <a:rPr lang="en-US" sz="1900" dirty="0">
                <a:solidFill>
                  <a:schemeClr val="tx1"/>
                </a:solidFill>
              </a:rPr>
              <a:t> c.6T&gt;C: GCT→GCC, ambos Ala (sinónima). c.9G&gt;A: TGG→TGA, paro (nonsense). c.14A&gt;T: GAA→GTA, Glu→Val (missense). c.17delT: se pierde 1 nt de CTG y se corre el marco desde el codón 6. c.10_12delCAG: se pierde el codón 4 completo (Gln) sin correr el marco.</a:t>
            </a:r>
            <a:endParaRPr lang="en-US" sz="1900" dirty="0"/>
          </a:p>
        </p:txBody>
      </p:sp>
      <p:sp>
        <p:nvSpPr>
          <p:cNvPr id="12" name="texto"/>
          <p:cNvSpPr txBox="1"/>
          <p:nvPr/>
        </p:nvSpPr>
        <p:spPr>
          <a:xfrm>
            <a:off x="548640" y="4404360"/>
            <a:ext cx="11094415" cy="932688"/>
          </a:xfrm>
          <a:prstGeom prst="rect">
            <a:avLst/>
          </a:prstGeom>
          <a:noFill/>
          <a:ln/>
        </p:spPr>
        <p:txBody>
          <a:bodyPr wrap="square" lIns="254" tIns="254" rIns="254" bIns="254" rtlCol="0" anchor="t"/>
          <a:lstStyle/>
          <a:p>
            <a:pPr indent="0" marL="0">
              <a:buNone/>
            </a:pPr>
            <a:r>
              <a:rPr lang="en-US" sz="1900" b="1" dirty="0">
                <a:solidFill>
                  <a:schemeClr val="tx1"/>
                </a:solidFill>
              </a:rPr>
              <a:t>Distractores:</a:t>
            </a:r>
            <a:pPr indent="0" marL="0">
              <a:buNone/>
            </a:pPr>
            <a:r>
              <a:rPr lang="en-US" sz="1900" dirty="0">
                <a:solidFill>
                  <a:schemeClr val="tx1"/>
                </a:solidFill>
              </a:rPr>
              <a:t> Ala→Pro requeriría CCT; Trp tiene un solo codón (TGG), así que no hay cambio sinónimo posible; Glu→Asp requeriría GAT o GAC; una CNV es un cambio en el número de copias de un segmento grande, no la pérdida de 3 nt.</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B3-3 · Lectura de gel: Alu PV92</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3 · 3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Relaciona columnas</a:t>
            </a:r>
            <a:endParaRPr lang="en-US" sz="1100" dirty="0"/>
          </a:p>
        </p:txBody>
      </p:sp>
      <p:sp>
        <p:nvSpPr>
          <p:cNvPr id="5" name="texto"/>
          <p:cNvSpPr txBox="1"/>
          <p:nvPr/>
        </p:nvSpPr>
        <p:spPr>
          <a:xfrm>
            <a:off x="548640" y="1371600"/>
            <a:ext cx="6583680" cy="704088"/>
          </a:xfrm>
          <a:prstGeom prst="rect">
            <a:avLst/>
          </a:prstGeom>
          <a:noFill/>
          <a:ln/>
        </p:spPr>
        <p:txBody>
          <a:bodyPr wrap="square" lIns="254" tIns="254" rIns="254" bIns="254" rtlCol="0" anchor="t"/>
          <a:lstStyle/>
          <a:p>
            <a:pPr indent="0" marL="0">
              <a:buNone/>
            </a:pPr>
            <a:r>
              <a:rPr lang="en-US" sz="1400" dirty="0">
                <a:solidFill>
                  <a:schemeClr val="tx1"/>
                </a:solidFill>
              </a:rPr>
              <a:t>Gel de agarosa al 2 % con productos de PCR de PV92 (alelo + con Alu ≈ 731 pb; alelo − sin Alu ≈ 416 pb). M = marcador de 100 pb. «▬» indica banda y «▬ tenue» una banda débil.</a:t>
            </a:r>
            <a:endParaRPr lang="en-US" sz="1400" dirty="0"/>
          </a:p>
        </p:txBody>
      </p:sp>
      <p:graphicFrame>
        <p:nvGraphicFramePr>
          <p:cNvPr id="60" name="tabla"/>
          <p:cNvGraphicFramePr>
            <a:graphicFrameLocks noGrp="1"/>
          </p:cNvGraphicFramePr>
          <p:nvPr>
            <p:extLst>
              <p:ext uri="{D42A27DB-BD31-4B8C-83A1-F6EECF244321}">
                <p14:modId xmlns:p14="http://schemas.microsoft.com/office/powerpoint/2010/main" val="1579011935"/>
              </p:ext>
            </p:extLst>
          </p:nvPr>
        </p:nvGraphicFramePr>
        <p:xfrm>
          <a:off x="548640" y="2148840"/>
          <a:ext cx="6583680" cy="914400"/>
        </p:xfrm>
        <a:graphic>
          <a:graphicData uri="http://schemas.openxmlformats.org/drawingml/2006/table">
            <a:tbl>
              <a:tblPr/>
              <a:tblGrid>
                <a:gridCol w="822960"/>
                <a:gridCol w="822960"/>
                <a:gridCol w="822960"/>
                <a:gridCol w="822960"/>
                <a:gridCol w="822960"/>
                <a:gridCol w="822960"/>
                <a:gridCol w="822960"/>
                <a:gridCol w="822960"/>
              </a:tblGrid>
              <a:tr h="0">
                <a:tc>
                  <a:txBody>
                    <a:bodyPr/>
                    <a:lstStyle/>
                    <a:p>
                      <a:pPr indent="0" marL="0">
                        <a:buNone/>
                      </a:pPr>
                      <a:r>
                        <a:rPr lang="en-US" sz="1300" b="1" dirty="0">
                          <a:solidFill>
                            <a:schemeClr val="tx1"/>
                          </a:solidFill>
                        </a:rPr>
                        <a:t>Tamaño (pb)</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EEF4F3"/>
                    </a:solidFill>
                  </a:tcPr>
                </a:tc>
                <a:tc>
                  <a:txBody>
                    <a:bodyPr/>
                    <a:lstStyle/>
                    <a:p>
                      <a:pPr indent="0" marL="0">
                        <a:buNone/>
                      </a:pPr>
                      <a:r>
                        <a:rPr lang="en-US" sz="1300" b="1" dirty="0">
                          <a:solidFill>
                            <a:schemeClr val="tx1"/>
                          </a:solidFill>
                        </a:rPr>
                        <a:t>M</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EEF4F3"/>
                    </a:solidFill>
                  </a:tcPr>
                </a:tc>
                <a:tc>
                  <a:txBody>
                    <a:bodyPr/>
                    <a:lstStyle/>
                    <a:p>
                      <a:pPr indent="0" marL="0">
                        <a:buNone/>
                      </a:pPr>
                      <a:r>
                        <a:rPr lang="en-US" sz="1300" b="1" dirty="0">
                          <a:solidFill>
                            <a:schemeClr val="tx1"/>
                          </a:solidFill>
                        </a:rPr>
                        <a:t>Carril 1</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EEF4F3"/>
                    </a:solidFill>
                  </a:tcPr>
                </a:tc>
                <a:tc>
                  <a:txBody>
                    <a:bodyPr/>
                    <a:lstStyle/>
                    <a:p>
                      <a:pPr indent="0" marL="0">
                        <a:buNone/>
                      </a:pPr>
                      <a:r>
                        <a:rPr lang="en-US" sz="1300" b="1" dirty="0">
                          <a:solidFill>
                            <a:schemeClr val="tx1"/>
                          </a:solidFill>
                        </a:rPr>
                        <a:t>Carril 2</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EEF4F3"/>
                    </a:solidFill>
                  </a:tcPr>
                </a:tc>
                <a:tc>
                  <a:txBody>
                    <a:bodyPr/>
                    <a:lstStyle/>
                    <a:p>
                      <a:pPr indent="0" marL="0">
                        <a:buNone/>
                      </a:pPr>
                      <a:r>
                        <a:rPr lang="en-US" sz="1300" b="1" dirty="0">
                          <a:solidFill>
                            <a:schemeClr val="tx1"/>
                          </a:solidFill>
                        </a:rPr>
                        <a:t>Carril 3</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EEF4F3"/>
                    </a:solidFill>
                  </a:tcPr>
                </a:tc>
                <a:tc>
                  <a:txBody>
                    <a:bodyPr/>
                    <a:lstStyle/>
                    <a:p>
                      <a:pPr indent="0" marL="0">
                        <a:buNone/>
                      </a:pPr>
                      <a:r>
                        <a:rPr lang="en-US" sz="1300" b="1" dirty="0">
                          <a:solidFill>
                            <a:schemeClr val="tx1"/>
                          </a:solidFill>
                        </a:rPr>
                        <a:t>Carril 4</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EEF4F3"/>
                    </a:solidFill>
                  </a:tcPr>
                </a:tc>
                <a:tc>
                  <a:txBody>
                    <a:bodyPr/>
                    <a:lstStyle/>
                    <a:p>
                      <a:pPr indent="0" marL="0">
                        <a:buNone/>
                      </a:pPr>
                      <a:r>
                        <a:rPr lang="en-US" sz="1300" b="1" dirty="0">
                          <a:solidFill>
                            <a:schemeClr val="tx1"/>
                          </a:solidFill>
                        </a:rPr>
                        <a:t>Carril 5</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EEF4F3"/>
                    </a:solidFill>
                  </a:tcPr>
                </a:tc>
                <a:tc>
                  <a:txBody>
                    <a:bodyPr/>
                    <a:lstStyle/>
                    <a:p>
                      <a:pPr indent="0" marL="0">
                        <a:buNone/>
                      </a:pPr>
                      <a:r>
                        <a:rPr lang="en-US" sz="1300" b="1" dirty="0">
                          <a:solidFill>
                            <a:schemeClr val="tx1"/>
                          </a:solidFill>
                        </a:rPr>
                        <a:t>Carril 6</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EEF4F3"/>
                    </a:solidFill>
                  </a:tcPr>
                </a:tc>
              </a:tr>
              <a:tr h="0">
                <a:tc>
                  <a:txBody>
                    <a:bodyPr/>
                    <a:lstStyle/>
                    <a:p>
                      <a:pPr indent="0" marL="0">
                        <a:buNone/>
                      </a:pPr>
                      <a:r>
                        <a:rPr lang="en-US" sz="1300" dirty="0">
                          <a:solidFill>
                            <a:schemeClr val="tx1"/>
                          </a:solidFill>
                        </a:rPr>
                        <a:t>1000</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r h="0">
                <a:tc>
                  <a:txBody>
                    <a:bodyPr/>
                    <a:lstStyle/>
                    <a:p>
                      <a:pPr indent="0" marL="0">
                        <a:buNone/>
                      </a:pPr>
                      <a:r>
                        <a:rPr lang="en-US" sz="1300" dirty="0">
                          <a:solidFill>
                            <a:schemeClr val="tx1"/>
                          </a:solidFill>
                        </a:rPr>
                        <a:t>≈ 730</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 (700)</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r h="0">
                <a:tc>
                  <a:txBody>
                    <a:bodyPr/>
                    <a:lstStyle/>
                    <a:p>
                      <a:pPr indent="0" marL="0">
                        <a:buNone/>
                      </a:pPr>
                      <a:r>
                        <a:rPr lang="en-US" sz="1300" dirty="0">
                          <a:solidFill>
                            <a:schemeClr val="tx1"/>
                          </a:solidFill>
                        </a:rPr>
                        <a:t>500</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r h="0">
                <a:tc>
                  <a:txBody>
                    <a:bodyPr/>
                    <a:lstStyle/>
                    <a:p>
                      <a:pPr indent="0" marL="0">
                        <a:buNone/>
                      </a:pPr>
                      <a:r>
                        <a:rPr lang="en-US" sz="1300" dirty="0">
                          <a:solidFill>
                            <a:schemeClr val="tx1"/>
                          </a:solidFill>
                        </a:rPr>
                        <a:t>≈ 420</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 (400)</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r h="0">
                <a:tc>
                  <a:txBody>
                    <a:bodyPr/>
                    <a:lstStyle/>
                    <a:p>
                      <a:pPr indent="0" marL="0">
                        <a:buNone/>
                      </a:pPr>
                      <a:r>
                        <a:rPr lang="en-US" sz="1300" dirty="0">
                          <a:solidFill>
                            <a:schemeClr val="tx1"/>
                          </a:solidFill>
                        </a:rPr>
                        <a:t>100</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r h="0">
                <a:tc>
                  <a:txBody>
                    <a:bodyPr/>
                    <a:lstStyle/>
                    <a:p>
                      <a:pPr indent="0" marL="0">
                        <a:buNone/>
                      </a:pPr>
                      <a:r>
                        <a:rPr lang="en-US" sz="1300" dirty="0">
                          <a:solidFill>
                            <a:schemeClr val="tx1"/>
                          </a:solidFill>
                        </a:rPr>
                        <a:t>&lt; 80</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 tenue</a:t>
                      </a:r>
                      <a:endParaRPr lang="en-US" sz="13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endParaRPr/>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bl>
          </a:graphicData>
        </a:graphic>
      </p:graphicFrame>
      <p:sp>
        <p:nvSpPr>
          <p:cNvPr id="7" name="texto"/>
          <p:cNvSpPr txBox="1"/>
          <p:nvPr/>
        </p:nvSpPr>
        <p:spPr>
          <a:xfrm>
            <a:off x="548640" y="4959096"/>
            <a:ext cx="6583680" cy="277368"/>
          </a:xfrm>
          <a:prstGeom prst="rect">
            <a:avLst/>
          </a:prstGeom>
          <a:noFill/>
          <a:ln/>
        </p:spPr>
        <p:txBody>
          <a:bodyPr wrap="square" lIns="254" tIns="254" rIns="254" bIns="254" rtlCol="0" anchor="t"/>
          <a:lstStyle/>
          <a:p>
            <a:pPr indent="0" marL="0">
              <a:buNone/>
            </a:pPr>
            <a:r>
              <a:rPr lang="en-US" sz="1400" dirty="0">
                <a:solidFill>
                  <a:schemeClr val="tx1"/>
                </a:solidFill>
              </a:rPr>
              <a:t>El carril 6 es el control sin DNA.</a:t>
            </a:r>
            <a:endParaRPr lang="en-US" sz="1400" dirty="0"/>
          </a:p>
        </p:txBody>
      </p:sp>
      <p:sp>
        <p:nvSpPr>
          <p:cNvPr id="8" name="texto"/>
          <p:cNvSpPr txBox="1"/>
          <p:nvPr/>
        </p:nvSpPr>
        <p:spPr>
          <a:xfrm>
            <a:off x="548640" y="5309616"/>
            <a:ext cx="6583680" cy="277368"/>
          </a:xfrm>
          <a:prstGeom prst="rect">
            <a:avLst/>
          </a:prstGeom>
          <a:noFill/>
          <a:ln/>
        </p:spPr>
        <p:txBody>
          <a:bodyPr wrap="square" lIns="254" tIns="254" rIns="254" bIns="254" rtlCol="0" anchor="t"/>
          <a:lstStyle/>
          <a:p>
            <a:pPr indent="0" marL="0">
              <a:buNone/>
            </a:pPr>
            <a:r>
              <a:rPr lang="en-US" sz="1400" dirty="0">
                <a:solidFill>
                  <a:schemeClr val="tx1"/>
                </a:solidFill>
              </a:rPr>
              <a:t>Asigna el genotipo o la interpretación de cada carril.</a:t>
            </a:r>
            <a:endParaRPr lang="en-US" sz="1400" dirty="0"/>
          </a:p>
        </p:txBody>
      </p:sp>
      <p:sp>
        <p:nvSpPr>
          <p:cNvPr id="9" name="columna"/>
          <p:cNvSpPr txBox="1"/>
          <p:nvPr/>
        </p:nvSpPr>
        <p:spPr>
          <a:xfrm>
            <a:off x="7498080" y="1371600"/>
            <a:ext cx="4144975" cy="262128"/>
          </a:xfrm>
          <a:prstGeom prst="rect">
            <a:avLst/>
          </a:prstGeom>
          <a:noFill/>
          <a:ln/>
        </p:spPr>
        <p:txBody>
          <a:bodyPr wrap="square" lIns="254" tIns="254" rIns="254" bIns="254" rtlCol="0" anchor="t"/>
          <a:lstStyle/>
          <a:p>
            <a:pPr indent="0" marL="0">
              <a:buNone/>
            </a:pPr>
            <a:r>
              <a:rPr lang="en-US" sz="1300" b="1" dirty="0">
                <a:solidFill>
                  <a:schemeClr val="tx2"/>
                </a:solidFill>
              </a:rPr>
              <a:t>Columna A</a:t>
            </a:r>
            <a:endParaRPr lang="en-US" sz="1300" dirty="0"/>
          </a:p>
        </p:txBody>
      </p:sp>
      <p:sp>
        <p:nvSpPr>
          <p:cNvPr id="10" name="columna"/>
          <p:cNvSpPr txBox="1"/>
          <p:nvPr/>
        </p:nvSpPr>
        <p:spPr>
          <a:xfrm>
            <a:off x="7498080" y="1652016"/>
            <a:ext cx="4144975" cy="262128"/>
          </a:xfrm>
          <a:prstGeom prst="rect">
            <a:avLst/>
          </a:prstGeom>
          <a:noFill/>
          <a:ln/>
        </p:spPr>
        <p:txBody>
          <a:bodyPr wrap="square" lIns="254" tIns="254" rIns="254" bIns="254" rtlCol="0" anchor="t"/>
          <a:lstStyle/>
          <a:p>
            <a:pPr indent="0" marL="0">
              <a:buNone/>
            </a:pPr>
            <a:r>
              <a:rPr lang="en-US" sz="1300" dirty="0">
                <a:solidFill>
                  <a:schemeClr val="tx1"/>
                </a:solidFill>
              </a:rPr>
              <a:t>1. Carril 1</a:t>
            </a:r>
            <a:endParaRPr lang="en-US" sz="1300" dirty="0"/>
          </a:p>
        </p:txBody>
      </p:sp>
      <p:sp>
        <p:nvSpPr>
          <p:cNvPr id="11" name="columna"/>
          <p:cNvSpPr txBox="1"/>
          <p:nvPr/>
        </p:nvSpPr>
        <p:spPr>
          <a:xfrm>
            <a:off x="7498080" y="1932432"/>
            <a:ext cx="4144975" cy="262128"/>
          </a:xfrm>
          <a:prstGeom prst="rect">
            <a:avLst/>
          </a:prstGeom>
          <a:noFill/>
          <a:ln/>
        </p:spPr>
        <p:txBody>
          <a:bodyPr wrap="square" lIns="254" tIns="254" rIns="254" bIns="254" rtlCol="0" anchor="t"/>
          <a:lstStyle/>
          <a:p>
            <a:pPr indent="0" marL="0">
              <a:buNone/>
            </a:pPr>
            <a:r>
              <a:rPr lang="en-US" sz="1300" dirty="0">
                <a:solidFill>
                  <a:schemeClr val="tx1"/>
                </a:solidFill>
              </a:rPr>
              <a:t>2. Carril 2</a:t>
            </a:r>
            <a:endParaRPr lang="en-US" sz="1300" dirty="0"/>
          </a:p>
        </p:txBody>
      </p:sp>
      <p:sp>
        <p:nvSpPr>
          <p:cNvPr id="12" name="columna"/>
          <p:cNvSpPr txBox="1"/>
          <p:nvPr/>
        </p:nvSpPr>
        <p:spPr>
          <a:xfrm>
            <a:off x="7498080" y="2212848"/>
            <a:ext cx="4144975" cy="262128"/>
          </a:xfrm>
          <a:prstGeom prst="rect">
            <a:avLst/>
          </a:prstGeom>
          <a:noFill/>
          <a:ln/>
        </p:spPr>
        <p:txBody>
          <a:bodyPr wrap="square" lIns="254" tIns="254" rIns="254" bIns="254" rtlCol="0" anchor="t"/>
          <a:lstStyle/>
          <a:p>
            <a:pPr indent="0" marL="0">
              <a:buNone/>
            </a:pPr>
            <a:r>
              <a:rPr lang="en-US" sz="1300" dirty="0">
                <a:solidFill>
                  <a:schemeClr val="tx1"/>
                </a:solidFill>
              </a:rPr>
              <a:t>3. Carril 3</a:t>
            </a:r>
            <a:endParaRPr lang="en-US" sz="1300" dirty="0"/>
          </a:p>
        </p:txBody>
      </p:sp>
      <p:sp>
        <p:nvSpPr>
          <p:cNvPr id="13" name="columna"/>
          <p:cNvSpPr txBox="1"/>
          <p:nvPr/>
        </p:nvSpPr>
        <p:spPr>
          <a:xfrm>
            <a:off x="7498080" y="2493264"/>
            <a:ext cx="4144975" cy="262128"/>
          </a:xfrm>
          <a:prstGeom prst="rect">
            <a:avLst/>
          </a:prstGeom>
          <a:noFill/>
          <a:ln/>
        </p:spPr>
        <p:txBody>
          <a:bodyPr wrap="square" lIns="254" tIns="254" rIns="254" bIns="254" rtlCol="0" anchor="t"/>
          <a:lstStyle/>
          <a:p>
            <a:pPr indent="0" marL="0">
              <a:buNone/>
            </a:pPr>
            <a:r>
              <a:rPr lang="en-US" sz="1300" dirty="0">
                <a:solidFill>
                  <a:schemeClr val="tx1"/>
                </a:solidFill>
              </a:rPr>
              <a:t>4. Carril 4</a:t>
            </a:r>
            <a:endParaRPr lang="en-US" sz="1300" dirty="0"/>
          </a:p>
        </p:txBody>
      </p:sp>
      <p:sp>
        <p:nvSpPr>
          <p:cNvPr id="14" name="columna"/>
          <p:cNvSpPr txBox="1"/>
          <p:nvPr/>
        </p:nvSpPr>
        <p:spPr>
          <a:xfrm>
            <a:off x="7498080" y="2773680"/>
            <a:ext cx="4144975" cy="262128"/>
          </a:xfrm>
          <a:prstGeom prst="rect">
            <a:avLst/>
          </a:prstGeom>
          <a:noFill/>
          <a:ln/>
        </p:spPr>
        <p:txBody>
          <a:bodyPr wrap="square" lIns="254" tIns="254" rIns="254" bIns="254" rtlCol="0" anchor="t"/>
          <a:lstStyle/>
          <a:p>
            <a:pPr indent="0" marL="0">
              <a:buNone/>
            </a:pPr>
            <a:r>
              <a:rPr lang="en-US" sz="1300" dirty="0">
                <a:solidFill>
                  <a:schemeClr val="tx1"/>
                </a:solidFill>
              </a:rPr>
              <a:t>5. Carril 5</a:t>
            </a:r>
            <a:endParaRPr lang="en-US" sz="1300" dirty="0"/>
          </a:p>
        </p:txBody>
      </p:sp>
      <p:sp>
        <p:nvSpPr>
          <p:cNvPr id="15" name="columna"/>
          <p:cNvSpPr txBox="1"/>
          <p:nvPr/>
        </p:nvSpPr>
        <p:spPr>
          <a:xfrm>
            <a:off x="7498080" y="3054096"/>
            <a:ext cx="4144975" cy="262128"/>
          </a:xfrm>
          <a:prstGeom prst="rect">
            <a:avLst/>
          </a:prstGeom>
          <a:noFill/>
          <a:ln/>
        </p:spPr>
        <p:txBody>
          <a:bodyPr wrap="square" lIns="254" tIns="254" rIns="254" bIns="254" rtlCol="0" anchor="t"/>
          <a:lstStyle/>
          <a:p>
            <a:pPr indent="0" marL="0">
              <a:buNone/>
            </a:pPr>
            <a:r>
              <a:rPr lang="en-US" sz="1300" dirty="0">
                <a:solidFill>
                  <a:schemeClr val="tx1"/>
                </a:solidFill>
              </a:rPr>
              <a:t>6. Carril 6</a:t>
            </a:r>
            <a:endParaRPr lang="en-US" sz="1300" dirty="0"/>
          </a:p>
        </p:txBody>
      </p:sp>
      <p:sp>
        <p:nvSpPr>
          <p:cNvPr id="16" name="columna"/>
          <p:cNvSpPr txBox="1"/>
          <p:nvPr/>
        </p:nvSpPr>
        <p:spPr>
          <a:xfrm>
            <a:off x="7498080" y="3471672"/>
            <a:ext cx="4144975" cy="262128"/>
          </a:xfrm>
          <a:prstGeom prst="rect">
            <a:avLst/>
          </a:prstGeom>
          <a:noFill/>
          <a:ln/>
        </p:spPr>
        <p:txBody>
          <a:bodyPr wrap="square" lIns="254" tIns="254" rIns="254" bIns="254" rtlCol="0" anchor="t"/>
          <a:lstStyle/>
          <a:p>
            <a:pPr indent="0" marL="0">
              <a:buNone/>
            </a:pPr>
            <a:r>
              <a:rPr lang="en-US" sz="1300" b="1" dirty="0">
                <a:solidFill>
                  <a:schemeClr val="tx2"/>
                </a:solidFill>
              </a:rPr>
              <a:t>Columna B (una opción sobra)</a:t>
            </a:r>
            <a:endParaRPr lang="en-US" sz="1300" dirty="0"/>
          </a:p>
        </p:txBody>
      </p:sp>
      <p:sp>
        <p:nvSpPr>
          <p:cNvPr id="17" name="columna"/>
          <p:cNvSpPr txBox="1"/>
          <p:nvPr/>
        </p:nvSpPr>
        <p:spPr>
          <a:xfrm>
            <a:off x="7498080" y="3752088"/>
            <a:ext cx="4144975" cy="262128"/>
          </a:xfrm>
          <a:prstGeom prst="rect">
            <a:avLst/>
          </a:prstGeom>
          <a:noFill/>
          <a:ln/>
        </p:spPr>
        <p:txBody>
          <a:bodyPr wrap="square" lIns="254" tIns="254" rIns="254" bIns="254" rtlCol="0" anchor="t"/>
          <a:lstStyle/>
          <a:p>
            <a:pPr indent="0" marL="0">
              <a:buNone/>
            </a:pPr>
            <a:r>
              <a:rPr lang="en-US" sz="1300" dirty="0">
                <a:solidFill>
                  <a:schemeClr val="tx1"/>
                </a:solidFill>
              </a:rPr>
              <a:t>A) Homocigoto −/− (sin inserción)</a:t>
            </a:r>
            <a:endParaRPr lang="en-US" sz="1300" dirty="0"/>
          </a:p>
        </p:txBody>
      </p:sp>
      <p:sp>
        <p:nvSpPr>
          <p:cNvPr id="18" name="columna"/>
          <p:cNvSpPr txBox="1"/>
          <p:nvPr/>
        </p:nvSpPr>
        <p:spPr>
          <a:xfrm>
            <a:off x="7498080" y="4032504"/>
            <a:ext cx="4144975" cy="262128"/>
          </a:xfrm>
          <a:prstGeom prst="rect">
            <a:avLst/>
          </a:prstGeom>
          <a:noFill/>
          <a:ln/>
        </p:spPr>
        <p:txBody>
          <a:bodyPr wrap="square" lIns="254" tIns="254" rIns="254" bIns="254" rtlCol="0" anchor="t"/>
          <a:lstStyle/>
          <a:p>
            <a:pPr indent="0" marL="0">
              <a:buNone/>
            </a:pPr>
            <a:r>
              <a:rPr lang="en-US" sz="1300" dirty="0">
                <a:solidFill>
                  <a:schemeClr val="tx1"/>
                </a:solidFill>
              </a:rPr>
              <a:t>B) Heterocigoto +/−</a:t>
            </a:r>
            <a:endParaRPr lang="en-US" sz="1300" dirty="0"/>
          </a:p>
        </p:txBody>
      </p:sp>
      <p:sp>
        <p:nvSpPr>
          <p:cNvPr id="19" name="columna"/>
          <p:cNvSpPr txBox="1"/>
          <p:nvPr/>
        </p:nvSpPr>
        <p:spPr>
          <a:xfrm>
            <a:off x="7498080" y="4312920"/>
            <a:ext cx="4144975" cy="262128"/>
          </a:xfrm>
          <a:prstGeom prst="rect">
            <a:avLst/>
          </a:prstGeom>
          <a:noFill/>
          <a:ln/>
        </p:spPr>
        <p:txBody>
          <a:bodyPr wrap="square" lIns="254" tIns="254" rIns="254" bIns="254" rtlCol="0" anchor="t"/>
          <a:lstStyle/>
          <a:p>
            <a:pPr indent="0" marL="0">
              <a:buNone/>
            </a:pPr>
            <a:r>
              <a:rPr lang="en-US" sz="1300" dirty="0">
                <a:solidFill>
                  <a:schemeClr val="tx1"/>
                </a:solidFill>
              </a:rPr>
              <a:t>C) Homocigoto +/+ (inserción en ambos cromosomas)</a:t>
            </a:r>
            <a:endParaRPr lang="en-US" sz="1300" dirty="0"/>
          </a:p>
        </p:txBody>
      </p:sp>
      <p:sp>
        <p:nvSpPr>
          <p:cNvPr id="20" name="columna"/>
          <p:cNvSpPr txBox="1"/>
          <p:nvPr/>
        </p:nvSpPr>
        <p:spPr>
          <a:xfrm>
            <a:off x="7498080" y="4593336"/>
            <a:ext cx="4144975" cy="262128"/>
          </a:xfrm>
          <a:prstGeom prst="rect">
            <a:avLst/>
          </a:prstGeom>
          <a:noFill/>
          <a:ln/>
        </p:spPr>
        <p:txBody>
          <a:bodyPr wrap="square" lIns="254" tIns="254" rIns="254" bIns="254" rtlCol="0" anchor="t"/>
          <a:lstStyle/>
          <a:p>
            <a:pPr indent="0" marL="0">
              <a:buNone/>
            </a:pPr>
            <a:r>
              <a:rPr lang="en-US" sz="1300" dirty="0">
                <a:solidFill>
                  <a:schemeClr val="tx1"/>
                </a:solidFill>
              </a:rPr>
              <a:t>D) Heterocigoto con dos inserciones Alu distintas</a:t>
            </a:r>
            <a:endParaRPr lang="en-US" sz="1300" dirty="0"/>
          </a:p>
        </p:txBody>
      </p:sp>
      <p:sp>
        <p:nvSpPr>
          <p:cNvPr id="21" name="columna"/>
          <p:cNvSpPr txBox="1"/>
          <p:nvPr/>
        </p:nvSpPr>
        <p:spPr>
          <a:xfrm>
            <a:off x="7498080" y="4873752"/>
            <a:ext cx="4144975" cy="460248"/>
          </a:xfrm>
          <a:prstGeom prst="rect">
            <a:avLst/>
          </a:prstGeom>
          <a:noFill/>
          <a:ln/>
        </p:spPr>
        <p:txBody>
          <a:bodyPr wrap="square" lIns="254" tIns="254" rIns="254" bIns="254" rtlCol="0" anchor="t"/>
          <a:lstStyle/>
          <a:p>
            <a:pPr indent="0" marL="0">
              <a:buNone/>
            </a:pPr>
            <a:r>
              <a:rPr lang="en-US" sz="1300" dirty="0">
                <a:solidFill>
                  <a:schemeClr val="tx1"/>
                </a:solidFill>
              </a:rPr>
              <a:t>E) Control negativo correcto: confirma que no hubo contaminación</a:t>
            </a:r>
            <a:endParaRPr lang="en-US" sz="1300" dirty="0"/>
          </a:p>
        </p:txBody>
      </p:sp>
      <p:sp>
        <p:nvSpPr>
          <p:cNvPr id="22" name="columna"/>
          <p:cNvSpPr txBox="1"/>
          <p:nvPr/>
        </p:nvSpPr>
        <p:spPr>
          <a:xfrm>
            <a:off x="7498080" y="5352288"/>
            <a:ext cx="4144975" cy="460248"/>
          </a:xfrm>
          <a:prstGeom prst="rect">
            <a:avLst/>
          </a:prstGeom>
          <a:noFill/>
          <a:ln/>
        </p:spPr>
        <p:txBody>
          <a:bodyPr wrap="square" lIns="254" tIns="254" rIns="254" bIns="254" rtlCol="0" anchor="t"/>
          <a:lstStyle/>
          <a:p>
            <a:pPr indent="0" marL="0">
              <a:buNone/>
            </a:pPr>
            <a:r>
              <a:rPr lang="en-US" sz="1300" dirty="0">
                <a:solidFill>
                  <a:schemeClr val="tx1"/>
                </a:solidFill>
              </a:rPr>
              <a:t>F) Homocigoto −/−; la banda menor de 80 pb son dímeros de cebador</a:t>
            </a:r>
            <a:endParaRPr lang="en-US" sz="1300" dirty="0"/>
          </a:p>
        </p:txBody>
      </p:sp>
      <p:sp>
        <p:nvSpPr>
          <p:cNvPr id="23" name="columna"/>
          <p:cNvSpPr txBox="1"/>
          <p:nvPr/>
        </p:nvSpPr>
        <p:spPr>
          <a:xfrm>
            <a:off x="7498080" y="5830824"/>
            <a:ext cx="4144975" cy="262128"/>
          </a:xfrm>
          <a:prstGeom prst="rect">
            <a:avLst/>
          </a:prstGeom>
          <a:noFill/>
          <a:ln/>
        </p:spPr>
        <p:txBody>
          <a:bodyPr wrap="square" lIns="254" tIns="254" rIns="254" bIns="254" rtlCol="0" anchor="t"/>
          <a:lstStyle/>
          <a:p>
            <a:pPr indent="0" marL="0">
              <a:buNone/>
            </a:pPr>
            <a:r>
              <a:rPr lang="en-US" sz="1300" dirty="0">
                <a:solidFill>
                  <a:schemeClr val="tx1"/>
                </a:solidFill>
              </a:rPr>
              <a:t>G) Sin producto: no se puede genotipar; repetir la PCR</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B3-3 · Lectura de gel: Alu PV92</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3 · Respuesta</a:t>
            </a:r>
            <a:endParaRPr lang="en-US" sz="1100" dirty="0"/>
          </a:p>
        </p:txBody>
      </p:sp>
      <p:sp>
        <p:nvSpPr>
          <p:cNvPr id="4" name="caja respuesta"/>
          <p:cNvSpPr/>
          <p:nvPr/>
        </p:nvSpPr>
        <p:spPr>
          <a:xfrm>
            <a:off x="548640" y="1371600"/>
            <a:ext cx="11094415" cy="1554480"/>
          </a:xfrm>
          <a:prstGeom prst="roundRect">
            <a:avLst>
              <a:gd name="adj" fmla="val 7059"/>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1408176"/>
          </a:xfrm>
          <a:prstGeom prst="rect">
            <a:avLst/>
          </a:prstGeom>
          <a:noFill/>
          <a:ln/>
        </p:spPr>
        <p:txBody>
          <a:bodyPr wrap="square" lIns="254" tIns="254" rIns="254" bIns="254" rtlCol="0" anchor="ctr"/>
          <a:lstStyle/>
          <a:p>
            <a:pPr indent="0" marL="0">
              <a:buNone/>
            </a:pPr>
            <a:r>
              <a:rPr lang="en-US" sz="1400" b="1" dirty="0">
                <a:solidFill>
                  <a:schemeClr val="tx1"/>
                </a:solidFill>
              </a:rPr>
              <a:t>1–C  </a:t>
            </a:r>
            <a:pPr indent="0" marL="0">
              <a:buNone/>
            </a:pPr>
            <a:r>
              <a:rPr lang="en-US" sz="1400" dirty="0">
                <a:solidFill>
                  <a:schemeClr val="tx1"/>
                </a:solidFill>
              </a:rPr>
              <a:t>Carril 1 → Homocigoto +/+ (inserción en ambos cromosomas)</a:t>
            </a:r>
            <a:endParaRPr lang="en-US" sz="1400" dirty="0"/>
          </a:p>
          <a:p>
            <a:pPr indent="0" marL="0">
              <a:buNone/>
            </a:pPr>
            <a:r>
              <a:rPr lang="en-US" sz="1400" b="1" dirty="0">
                <a:solidFill>
                  <a:schemeClr val="tx1"/>
                </a:solidFill>
              </a:rPr>
              <a:t>2–B  </a:t>
            </a:r>
            <a:pPr indent="0" marL="0">
              <a:buNone/>
            </a:pPr>
            <a:r>
              <a:rPr lang="en-US" sz="1400" dirty="0">
                <a:solidFill>
                  <a:schemeClr val="tx1"/>
                </a:solidFill>
              </a:rPr>
              <a:t>Carril 2 → Heterocigoto +/−</a:t>
            </a:r>
            <a:endParaRPr lang="en-US" sz="1400" dirty="0"/>
          </a:p>
          <a:p>
            <a:pPr indent="0" marL="0">
              <a:buNone/>
            </a:pPr>
            <a:r>
              <a:rPr lang="en-US" sz="1400" b="1" dirty="0">
                <a:solidFill>
                  <a:schemeClr val="tx1"/>
                </a:solidFill>
              </a:rPr>
              <a:t>3–A  </a:t>
            </a:r>
            <a:pPr indent="0" marL="0">
              <a:buNone/>
            </a:pPr>
            <a:r>
              <a:rPr lang="en-US" sz="1400" dirty="0">
                <a:solidFill>
                  <a:schemeClr val="tx1"/>
                </a:solidFill>
              </a:rPr>
              <a:t>Carril 3 → Homocigoto −/− (sin inserción)</a:t>
            </a:r>
            <a:endParaRPr lang="en-US" sz="1400" dirty="0"/>
          </a:p>
          <a:p>
            <a:pPr indent="0" marL="0">
              <a:buNone/>
            </a:pPr>
            <a:r>
              <a:rPr lang="en-US" sz="1400" b="1" dirty="0">
                <a:solidFill>
                  <a:schemeClr val="tx1"/>
                </a:solidFill>
              </a:rPr>
              <a:t>4–G  </a:t>
            </a:r>
            <a:pPr indent="0" marL="0">
              <a:buNone/>
            </a:pPr>
            <a:r>
              <a:rPr lang="en-US" sz="1400" dirty="0">
                <a:solidFill>
                  <a:schemeClr val="tx1"/>
                </a:solidFill>
              </a:rPr>
              <a:t>Carril 4 → Sin producto: no se puede genotipar; repetir la PCR</a:t>
            </a:r>
            <a:endParaRPr lang="en-US" sz="1400" dirty="0"/>
          </a:p>
          <a:p>
            <a:pPr indent="0" marL="0">
              <a:buNone/>
            </a:pPr>
            <a:r>
              <a:rPr lang="en-US" sz="1400" b="1" dirty="0">
                <a:solidFill>
                  <a:schemeClr val="tx1"/>
                </a:solidFill>
              </a:rPr>
              <a:t>5–F  </a:t>
            </a:r>
            <a:pPr indent="0" marL="0">
              <a:buNone/>
            </a:pPr>
            <a:r>
              <a:rPr lang="en-US" sz="1400" dirty="0">
                <a:solidFill>
                  <a:schemeClr val="tx1"/>
                </a:solidFill>
              </a:rPr>
              <a:t>Carril 5 → Homocigoto −/−; la banda menor de 80 pb son dímeros de cebador</a:t>
            </a:r>
            <a:endParaRPr lang="en-US" sz="1400" dirty="0"/>
          </a:p>
          <a:p>
            <a:pPr indent="0" marL="0">
              <a:buNone/>
            </a:pPr>
            <a:r>
              <a:rPr lang="en-US" sz="1400" b="1" dirty="0">
                <a:solidFill>
                  <a:schemeClr val="tx1"/>
                </a:solidFill>
              </a:rPr>
              <a:t>6–E  </a:t>
            </a:r>
            <a:pPr indent="0" marL="0">
              <a:buNone/>
            </a:pPr>
            <a:r>
              <a:rPr lang="en-US" sz="1400" dirty="0">
                <a:solidFill>
                  <a:schemeClr val="tx1"/>
                </a:solidFill>
              </a:rPr>
              <a:t>Carril 6 → Control negativo correcto: confirma que no hubo contaminación</a:t>
            </a:r>
            <a:endParaRPr lang="en-US" sz="1400" dirty="0"/>
          </a:p>
        </p:txBody>
      </p:sp>
      <p:sp>
        <p:nvSpPr>
          <p:cNvPr id="8" name="circulo icono"/>
          <p:cNvSpPr/>
          <p:nvPr/>
        </p:nvSpPr>
        <p:spPr>
          <a:xfrm>
            <a:off x="548640" y="3154680"/>
            <a:ext cx="329184" cy="329184"/>
          </a:xfrm>
          <a:prstGeom prst="ellipse">
            <a:avLst/>
          </a:prstGeom>
          <a:solidFill>
            <a:schemeClr val="accent4"/>
          </a:solidFill>
          <a:ln w="12700">
            <a:solidFill>
              <a:schemeClr val="accent4"/>
            </a:solidFill>
            <a:prstDash val="solid"/>
          </a:ln>
        </p:spPr>
      </p:sp>
      <p:pic>
        <p:nvPicPr>
          <p:cNvPr id="9" name="Image 1" descr="Explicación">    </p:cNvPr>
          <p:cNvPicPr>
            <a:picLocks noChangeAspect="1"/>
          </p:cNvPicPr>
          <p:nvPr/>
        </p:nvPicPr>
        <p:blipFill>
          <a:blip r:embed="rId2"/>
          <a:stretch>
            <a:fillRect/>
          </a:stretch>
        </p:blipFill>
        <p:spPr>
          <a:xfrm>
            <a:off x="630936" y="3236976"/>
            <a:ext cx="164592" cy="164592"/>
          </a:xfrm>
          <a:prstGeom prst="rect">
            <a:avLst/>
          </a:prstGeom>
        </p:spPr>
      </p:pic>
      <p:sp>
        <p:nvSpPr>
          <p:cNvPr id="10" name="subtitulo"/>
          <p:cNvSpPr txBox="1"/>
          <p:nvPr/>
        </p:nvSpPr>
        <p:spPr>
          <a:xfrm>
            <a:off x="987552" y="3154680"/>
            <a:ext cx="10655503" cy="329184"/>
          </a:xfrm>
          <a:prstGeom prst="rect">
            <a:avLst/>
          </a:prstGeom>
          <a:noFill/>
          <a:ln/>
        </p:spPr>
        <p:txBody>
          <a:bodyPr wrap="square" lIns="0" tIns="0" rIns="0" bIns="0" rtlCol="0" anchor="ctr"/>
          <a:lstStyle/>
          <a:p>
            <a:pPr indent="0" marL="0">
              <a:buNone/>
            </a:pPr>
            <a:r>
              <a:rPr lang="en-US" sz="1600" b="1" dirty="0">
                <a:solidFill>
                  <a:schemeClr val="tx2"/>
                </a:solidFill>
              </a:rPr>
              <a:t>Explicación</a:t>
            </a:r>
            <a:endParaRPr lang="en-US" sz="1600" dirty="0"/>
          </a:p>
        </p:txBody>
      </p:sp>
      <p:sp>
        <p:nvSpPr>
          <p:cNvPr id="11" name="texto"/>
          <p:cNvSpPr txBox="1"/>
          <p:nvPr/>
        </p:nvSpPr>
        <p:spPr>
          <a:xfrm>
            <a:off x="548640" y="3611880"/>
            <a:ext cx="11094415" cy="1511808"/>
          </a:xfrm>
          <a:prstGeom prst="rect">
            <a:avLst/>
          </a:prstGeom>
          <a:noFill/>
          <a:ln/>
        </p:spPr>
        <p:txBody>
          <a:bodyPr wrap="square" lIns="254" tIns="254" rIns="254" bIns="254" rtlCol="0" anchor="t"/>
          <a:lstStyle/>
          <a:p>
            <a:pPr indent="0" marL="0">
              <a:buNone/>
            </a:pPr>
            <a:r>
              <a:rPr lang="en-US" sz="1900" b="1" dirty="0">
                <a:solidFill>
                  <a:schemeClr val="tx1"/>
                </a:solidFill>
              </a:rPr>
              <a:t>Clave:</a:t>
            </a:r>
            <a:pPr indent="0" marL="0">
              <a:buNone/>
            </a:pPr>
            <a:r>
              <a:rPr lang="en-US" sz="1900" dirty="0">
                <a:solidFill>
                  <a:schemeClr val="tx1"/>
                </a:solidFill>
              </a:rPr>
              <a:t> 1 = +/+ (solo 731); 2 = +/− (731 y 416); 3 = −/− (solo 416); 4 = sin banda en una muestra: falla de extracción o de PCR, no se asigna genotipo; 5 = −/− con dímeros de cebador (artefacto de &lt; 100 pb que no corresponde a ningún alelo); 6 = control sin DNA limpio. El distractor no tiene sentido: en un locus hay a lo sumo un sitio de inserción por cromosoma, y el gel solo muestra dos tamaños posibles.</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B3-4 · Frecuencia alélica a partir del gel del grupo</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3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Cálculo</a:t>
            </a:r>
            <a:endParaRPr lang="en-US" sz="1100" dirty="0"/>
          </a:p>
        </p:txBody>
      </p:sp>
      <p:sp>
        <p:nvSpPr>
          <p:cNvPr id="5" name="texto"/>
          <p:cNvSpPr txBox="1"/>
          <p:nvPr/>
        </p:nvSpPr>
        <p:spPr>
          <a:xfrm>
            <a:off x="548640" y="1371600"/>
            <a:ext cx="11094415" cy="673608"/>
          </a:xfrm>
          <a:prstGeom prst="rect">
            <a:avLst/>
          </a:prstGeom>
          <a:noFill/>
          <a:ln/>
        </p:spPr>
        <p:txBody>
          <a:bodyPr wrap="square" lIns="254" tIns="254" rIns="254" bIns="254" rtlCol="0" anchor="t"/>
          <a:lstStyle/>
          <a:p>
            <a:pPr indent="0" marL="0">
              <a:buNone/>
            </a:pPr>
            <a:r>
              <a:rPr lang="en-US" sz="2000" dirty="0">
                <a:solidFill>
                  <a:schemeClr val="tx1"/>
                </a:solidFill>
              </a:rPr>
              <a:t>El grupo completo (30 estudiantes) genotipó PV92: 12 son +/+, 10 son +/− y 8 son −/−. Calcula la frecuencia del alelo + (dos cifras decimales).</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B3-4 · Frecuencia alélica a partir del gel del grupo</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3 · Respuesta</a:t>
            </a:r>
            <a:endParaRPr lang="en-US" sz="1100" dirty="0"/>
          </a:p>
        </p:txBody>
      </p:sp>
      <p:sp>
        <p:nvSpPr>
          <p:cNvPr id="4" name="caja respuesta"/>
          <p:cNvSpPr/>
          <p:nvPr/>
        </p:nvSpPr>
        <p:spPr>
          <a:xfrm>
            <a:off x="548640" y="1371600"/>
            <a:ext cx="11094415" cy="868680"/>
          </a:xfrm>
          <a:prstGeom prst="roundRect">
            <a:avLst>
              <a:gd name="adj" fmla="val 12632"/>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722376"/>
          </a:xfrm>
          <a:prstGeom prst="rect">
            <a:avLst/>
          </a:prstGeom>
          <a:noFill/>
          <a:ln/>
        </p:spPr>
        <p:txBody>
          <a:bodyPr wrap="square" lIns="254" tIns="254" rIns="254" bIns="254" rtlCol="0" anchor="ctr"/>
          <a:lstStyle/>
          <a:p>
            <a:pPr indent="0" marL="0">
              <a:buNone/>
            </a:pPr>
            <a:r>
              <a:rPr lang="en-US" sz="3600" b="1" dirty="0">
                <a:solidFill>
                  <a:schemeClr val="tx1"/>
                </a:solidFill>
              </a:rPr>
              <a:t>0.57</a:t>
            </a:r>
            <a:pPr indent="0" marL="0">
              <a:buNone/>
            </a:pPr>
            <a:r>
              <a:rPr lang="en-US" sz="1400" dirty="0">
                <a:solidFill>
                  <a:schemeClr val="accent6"/>
                </a:solidFill>
              </a:rPr>
              <a:t>   (se acepta ± 0.01)</a:t>
            </a:r>
            <a:endParaRPr lang="en-US" sz="3600" dirty="0"/>
          </a:p>
        </p:txBody>
      </p:sp>
      <p:sp>
        <p:nvSpPr>
          <p:cNvPr id="8" name="circulo icono"/>
          <p:cNvSpPr/>
          <p:nvPr/>
        </p:nvSpPr>
        <p:spPr>
          <a:xfrm>
            <a:off x="548640" y="2468880"/>
            <a:ext cx="329184" cy="329184"/>
          </a:xfrm>
          <a:prstGeom prst="ellipse">
            <a:avLst/>
          </a:prstGeom>
          <a:solidFill>
            <a:schemeClr val="accent4"/>
          </a:solidFill>
          <a:ln w="12700">
            <a:solidFill>
              <a:schemeClr val="accent4"/>
            </a:solidFill>
            <a:prstDash val="solid"/>
          </a:ln>
        </p:spPr>
      </p:sp>
      <p:pic>
        <p:nvPicPr>
          <p:cNvPr id="9" name="Image 1" descr="Explicación">    </p:cNvPr>
          <p:cNvPicPr>
            <a:picLocks noChangeAspect="1"/>
          </p:cNvPicPr>
          <p:nvPr/>
        </p:nvPicPr>
        <p:blipFill>
          <a:blip r:embed="rId2"/>
          <a:stretch>
            <a:fillRect/>
          </a:stretch>
        </p:blipFill>
        <p:spPr>
          <a:xfrm>
            <a:off x="630936" y="2551176"/>
            <a:ext cx="164592" cy="164592"/>
          </a:xfrm>
          <a:prstGeom prst="rect">
            <a:avLst/>
          </a:prstGeom>
        </p:spPr>
      </p:pic>
      <p:sp>
        <p:nvSpPr>
          <p:cNvPr id="10" name="subtitulo"/>
          <p:cNvSpPr txBox="1"/>
          <p:nvPr/>
        </p:nvSpPr>
        <p:spPr>
          <a:xfrm>
            <a:off x="987552" y="2468880"/>
            <a:ext cx="10655503" cy="329184"/>
          </a:xfrm>
          <a:prstGeom prst="rect">
            <a:avLst/>
          </a:prstGeom>
          <a:noFill/>
          <a:ln/>
        </p:spPr>
        <p:txBody>
          <a:bodyPr wrap="square" lIns="0" tIns="0" rIns="0" bIns="0" rtlCol="0" anchor="ctr"/>
          <a:lstStyle/>
          <a:p>
            <a:pPr indent="0" marL="0">
              <a:buNone/>
            </a:pPr>
            <a:r>
              <a:rPr lang="en-US" sz="1600" b="1" dirty="0">
                <a:solidFill>
                  <a:schemeClr val="tx2"/>
                </a:solidFill>
              </a:rPr>
              <a:t>Explicación</a:t>
            </a:r>
            <a:endParaRPr lang="en-US" sz="1600" dirty="0"/>
          </a:p>
        </p:txBody>
      </p:sp>
      <p:sp>
        <p:nvSpPr>
          <p:cNvPr id="11" name="texto"/>
          <p:cNvSpPr txBox="1"/>
          <p:nvPr/>
        </p:nvSpPr>
        <p:spPr>
          <a:xfrm>
            <a:off x="548640" y="2926080"/>
            <a:ext cx="11094415" cy="932688"/>
          </a:xfrm>
          <a:prstGeom prst="rect">
            <a:avLst/>
          </a:prstGeom>
          <a:noFill/>
          <a:ln/>
        </p:spPr>
        <p:txBody>
          <a:bodyPr wrap="square" lIns="254" tIns="254" rIns="254" bIns="254" rtlCol="0" anchor="t"/>
          <a:lstStyle/>
          <a:p>
            <a:pPr indent="0" marL="0">
              <a:buNone/>
            </a:pPr>
            <a:r>
              <a:rPr lang="en-US" sz="1900" dirty="0">
                <a:solidFill>
                  <a:schemeClr val="tx1"/>
                </a:solidFill>
              </a:rPr>
              <a:t>Alelos + = 2 × 12 + 10 = 34 de 60 alelos → p = 34/60 = </a:t>
            </a:r>
            <a:pPr indent="0" marL="0">
              <a:buNone/>
            </a:pPr>
            <a:r>
              <a:rPr lang="en-US" sz="1900" b="1" dirty="0">
                <a:solidFill>
                  <a:schemeClr val="tx1"/>
                </a:solidFill>
              </a:rPr>
              <a:t>0.57</a:t>
            </a:r>
            <a:pPr indent="0" marL="0">
              <a:buNone/>
            </a:pPr>
            <a:r>
              <a:rPr lang="en-US" sz="1900" dirty="0">
                <a:solidFill>
                  <a:schemeClr val="tx1"/>
                </a:solidFill>
              </a:rPr>
              <a:t>. Con Hardy–Weinberg se esperarían 2pq × 30 ≈ 14.7 heterocigotos y se observaron 10: hay un déficit que con n = 30 puede ser azar, pero que también podría indicar heterocigotos mal leídos (amplificación preferencial del alelo corto).</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B3-5 · El ciclo térmico de la PCR</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3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Completa cada espacio</a:t>
            </a:r>
            <a:endParaRPr lang="en-US" sz="1100" dirty="0"/>
          </a:p>
        </p:txBody>
      </p:sp>
      <p:sp>
        <p:nvSpPr>
          <p:cNvPr id="5" name="texto"/>
          <p:cNvSpPr txBox="1"/>
          <p:nvPr/>
        </p:nvSpPr>
        <p:spPr>
          <a:xfrm>
            <a:off x="548640" y="1371600"/>
            <a:ext cx="11094415" cy="978408"/>
          </a:xfrm>
          <a:prstGeom prst="rect">
            <a:avLst/>
          </a:prstGeom>
          <a:noFill/>
          <a:ln/>
        </p:spPr>
        <p:txBody>
          <a:bodyPr wrap="square" lIns="254" tIns="254" rIns="254" bIns="254" rtlCol="0" anchor="t"/>
          <a:lstStyle/>
          <a:p>
            <a:pPr indent="0" marL="0">
              <a:buNone/>
            </a:pPr>
            <a:r>
              <a:rPr lang="en-US" sz="2000" dirty="0">
                <a:solidFill>
                  <a:schemeClr val="tx1"/>
                </a:solidFill>
              </a:rPr>
              <a:t>En cada ciclo, la mezcla se calienta a [p1] para separar las hebras; luego se baja a una temperatura de alineamiento que se elige [p2]; finalmente se sube a [p3], donde la [p4] extiende los cebadores en dirección [p5].</a:t>
            </a:r>
            <a:endParaRPr lang="en-US" sz="2000" dirty="0"/>
          </a:p>
        </p:txBody>
      </p:sp>
      <p:sp>
        <p:nvSpPr>
          <p:cNvPr id="6" name="opciones"/>
          <p:cNvSpPr txBox="1"/>
          <p:nvPr/>
        </p:nvSpPr>
        <p:spPr>
          <a:xfrm>
            <a:off x="548640" y="2423160"/>
            <a:ext cx="11094415" cy="338328"/>
          </a:xfrm>
          <a:prstGeom prst="rect">
            <a:avLst/>
          </a:prstGeom>
          <a:noFill/>
          <a:ln/>
        </p:spPr>
        <p:txBody>
          <a:bodyPr wrap="square" lIns="254" tIns="254" rIns="254" bIns="254" rtlCol="0" anchor="ctr"/>
          <a:lstStyle/>
          <a:p>
            <a:pPr indent="0" marL="0">
              <a:buNone/>
            </a:pPr>
            <a:r>
              <a:rPr lang="en-US" sz="1800" b="1" dirty="0">
                <a:solidFill>
                  <a:schemeClr val="accent4"/>
                </a:solidFill>
              </a:rPr>
              <a:t>[p1]  </a:t>
            </a:r>
            <a:pPr indent="0" marL="0">
              <a:buNone/>
            </a:pPr>
            <a:r>
              <a:rPr lang="en-US" sz="1800" dirty="0">
                <a:solidFill>
                  <a:schemeClr val="tx1"/>
                </a:solidFill>
              </a:rPr>
              <a:t>94–95 °C   ·   72 °C   ·   55 °C   ·   37 °C</a:t>
            </a:r>
            <a:endParaRPr lang="en-US" sz="1800" dirty="0"/>
          </a:p>
        </p:txBody>
      </p:sp>
      <p:sp>
        <p:nvSpPr>
          <p:cNvPr id="7" name="opciones"/>
          <p:cNvSpPr txBox="1"/>
          <p:nvPr/>
        </p:nvSpPr>
        <p:spPr>
          <a:xfrm>
            <a:off x="548640" y="2798064"/>
            <a:ext cx="11094415" cy="612648"/>
          </a:xfrm>
          <a:prstGeom prst="rect">
            <a:avLst/>
          </a:prstGeom>
          <a:noFill/>
          <a:ln/>
        </p:spPr>
        <p:txBody>
          <a:bodyPr wrap="square" lIns="254" tIns="254" rIns="254" bIns="254" rtlCol="0" anchor="ctr"/>
          <a:lstStyle/>
          <a:p>
            <a:pPr indent="0" marL="0">
              <a:buNone/>
            </a:pPr>
            <a:r>
              <a:rPr lang="en-US" sz="1800" b="1" dirty="0">
                <a:solidFill>
                  <a:schemeClr val="accent4"/>
                </a:solidFill>
              </a:rPr>
              <a:t>[p2]  </a:t>
            </a:r>
            <a:pPr indent="0" marL="0">
              <a:buNone/>
            </a:pPr>
            <a:r>
              <a:rPr lang="en-US" sz="1800" dirty="0">
                <a:solidFill>
                  <a:schemeClr val="tx1"/>
                </a:solidFill>
              </a:rPr>
              <a:t>unos grados por debajo de la Tm de los cebadores   ·   siempre a 72 °C   ·   por encima de 95 °C   ·   igual a la temperatura ambiente</a:t>
            </a:r>
            <a:endParaRPr lang="en-US" sz="1800" dirty="0"/>
          </a:p>
        </p:txBody>
      </p:sp>
      <p:sp>
        <p:nvSpPr>
          <p:cNvPr id="8" name="opciones"/>
          <p:cNvSpPr txBox="1"/>
          <p:nvPr/>
        </p:nvSpPr>
        <p:spPr>
          <a:xfrm>
            <a:off x="548640" y="3447288"/>
            <a:ext cx="11094415" cy="338328"/>
          </a:xfrm>
          <a:prstGeom prst="rect">
            <a:avLst/>
          </a:prstGeom>
          <a:noFill/>
          <a:ln/>
        </p:spPr>
        <p:txBody>
          <a:bodyPr wrap="square" lIns="254" tIns="254" rIns="254" bIns="254" rtlCol="0" anchor="ctr"/>
          <a:lstStyle/>
          <a:p>
            <a:pPr indent="0" marL="0">
              <a:buNone/>
            </a:pPr>
            <a:r>
              <a:rPr lang="en-US" sz="1800" b="1" dirty="0">
                <a:solidFill>
                  <a:schemeClr val="accent4"/>
                </a:solidFill>
              </a:rPr>
              <a:t>[p3]  </a:t>
            </a:r>
            <a:pPr indent="0" marL="0">
              <a:buNone/>
            </a:pPr>
            <a:r>
              <a:rPr lang="en-US" sz="1800" dirty="0">
                <a:solidFill>
                  <a:schemeClr val="tx1"/>
                </a:solidFill>
              </a:rPr>
              <a:t>72 °C   ·   95 °C   ·   4 °C   ·   60 °C fijos para cualquier enzima</a:t>
            </a:r>
            <a:endParaRPr lang="en-US" sz="1800" dirty="0"/>
          </a:p>
        </p:txBody>
      </p:sp>
      <p:sp>
        <p:nvSpPr>
          <p:cNvPr id="9" name="opciones"/>
          <p:cNvSpPr txBox="1"/>
          <p:nvPr/>
        </p:nvSpPr>
        <p:spPr>
          <a:xfrm>
            <a:off x="548640" y="3822192"/>
            <a:ext cx="11094415" cy="338328"/>
          </a:xfrm>
          <a:prstGeom prst="rect">
            <a:avLst/>
          </a:prstGeom>
          <a:noFill/>
          <a:ln/>
        </p:spPr>
        <p:txBody>
          <a:bodyPr wrap="square" lIns="254" tIns="254" rIns="254" bIns="254" rtlCol="0" anchor="ctr"/>
          <a:lstStyle/>
          <a:p>
            <a:pPr indent="0" marL="0">
              <a:buNone/>
            </a:pPr>
            <a:r>
              <a:rPr lang="en-US" sz="1800" b="1" dirty="0">
                <a:solidFill>
                  <a:schemeClr val="accent4"/>
                </a:solidFill>
              </a:rPr>
              <a:t>[p4]  </a:t>
            </a:r>
            <a:pPr indent="0" marL="0">
              <a:buNone/>
            </a:pPr>
            <a:r>
              <a:rPr lang="en-US" sz="1800" dirty="0">
                <a:solidFill>
                  <a:schemeClr val="tx1"/>
                </a:solidFill>
              </a:rPr>
              <a:t>Taq polimerasa   ·   transcriptasa reversa   ·   ligasa   ·   enzima de restricción</a:t>
            </a:r>
            <a:endParaRPr lang="en-US" sz="1800" dirty="0"/>
          </a:p>
        </p:txBody>
      </p:sp>
      <p:sp>
        <p:nvSpPr>
          <p:cNvPr id="10" name="opciones"/>
          <p:cNvSpPr txBox="1"/>
          <p:nvPr/>
        </p:nvSpPr>
        <p:spPr>
          <a:xfrm>
            <a:off x="548640" y="4197096"/>
            <a:ext cx="11094415" cy="612648"/>
          </a:xfrm>
          <a:prstGeom prst="rect">
            <a:avLst/>
          </a:prstGeom>
          <a:noFill/>
          <a:ln/>
        </p:spPr>
        <p:txBody>
          <a:bodyPr wrap="square" lIns="254" tIns="254" rIns="254" bIns="254" rtlCol="0" anchor="ctr"/>
          <a:lstStyle/>
          <a:p>
            <a:pPr indent="0" marL="0">
              <a:buNone/>
            </a:pPr>
            <a:r>
              <a:rPr lang="en-US" sz="1800" b="1" dirty="0">
                <a:solidFill>
                  <a:schemeClr val="accent4"/>
                </a:solidFill>
              </a:rPr>
              <a:t>[p5]  </a:t>
            </a:r>
            <a:pPr indent="0" marL="0">
              <a:buNone/>
            </a:pPr>
            <a:r>
              <a:rPr lang="en-US" sz="1800" dirty="0">
                <a:solidFill>
                  <a:schemeClr val="tx1"/>
                </a:solidFill>
              </a:rPr>
              <a:t>5′→3′   ·   3′→5′   ·   en ambas direcciones a la vez   ·   del extremo 3′ del molde al 5′ del cebador</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B3-5 · El ciclo térmico de la PCR</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3 · Respuesta</a:t>
            </a:r>
            <a:endParaRPr lang="en-US" sz="1100" dirty="0"/>
          </a:p>
        </p:txBody>
      </p:sp>
      <p:sp>
        <p:nvSpPr>
          <p:cNvPr id="4" name="caja respuesta"/>
          <p:cNvSpPr/>
          <p:nvPr/>
        </p:nvSpPr>
        <p:spPr>
          <a:xfrm>
            <a:off x="548640" y="1371600"/>
            <a:ext cx="11094415" cy="1341120"/>
          </a:xfrm>
          <a:prstGeom prst="roundRect">
            <a:avLst>
              <a:gd name="adj" fmla="val 8182"/>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1194816"/>
          </a:xfrm>
          <a:prstGeom prst="rect">
            <a:avLst/>
          </a:prstGeom>
          <a:noFill/>
          <a:ln/>
        </p:spPr>
        <p:txBody>
          <a:bodyPr wrap="square" lIns="254" tIns="254" rIns="254" bIns="254" rtlCol="0" anchor="ctr"/>
          <a:lstStyle/>
          <a:p>
            <a:pPr indent="0" marL="0">
              <a:buNone/>
            </a:pPr>
            <a:r>
              <a:rPr lang="en-US" sz="1400" b="1" dirty="0">
                <a:solidFill>
                  <a:schemeClr val="tx1"/>
                </a:solidFill>
              </a:rPr>
              <a:t>[p1]  </a:t>
            </a:r>
            <a:pPr indent="0" marL="0">
              <a:buNone/>
            </a:pPr>
            <a:r>
              <a:rPr lang="en-US" sz="1400" dirty="0">
                <a:solidFill>
                  <a:schemeClr val="tx1"/>
                </a:solidFill>
              </a:rPr>
              <a:t>94–95 °C</a:t>
            </a:r>
            <a:endParaRPr lang="en-US" sz="1400" dirty="0"/>
          </a:p>
          <a:p>
            <a:pPr indent="0" marL="0">
              <a:buNone/>
            </a:pPr>
            <a:r>
              <a:rPr lang="en-US" sz="1400" b="1" dirty="0">
                <a:solidFill>
                  <a:schemeClr val="tx1"/>
                </a:solidFill>
              </a:rPr>
              <a:t>[p2]  </a:t>
            </a:r>
            <a:pPr indent="0" marL="0">
              <a:buNone/>
            </a:pPr>
            <a:r>
              <a:rPr lang="en-US" sz="1400" dirty="0">
                <a:solidFill>
                  <a:schemeClr val="tx1"/>
                </a:solidFill>
              </a:rPr>
              <a:t>unos grados por debajo de la Tm de los cebadores</a:t>
            </a:r>
            <a:endParaRPr lang="en-US" sz="1400" dirty="0"/>
          </a:p>
          <a:p>
            <a:pPr indent="0" marL="0">
              <a:buNone/>
            </a:pPr>
            <a:r>
              <a:rPr lang="en-US" sz="1400" b="1" dirty="0">
                <a:solidFill>
                  <a:schemeClr val="tx1"/>
                </a:solidFill>
              </a:rPr>
              <a:t>[p3]  </a:t>
            </a:r>
            <a:pPr indent="0" marL="0">
              <a:buNone/>
            </a:pPr>
            <a:r>
              <a:rPr lang="en-US" sz="1400" dirty="0">
                <a:solidFill>
                  <a:schemeClr val="tx1"/>
                </a:solidFill>
              </a:rPr>
              <a:t>72 °C</a:t>
            </a:r>
            <a:endParaRPr lang="en-US" sz="1400" dirty="0"/>
          </a:p>
          <a:p>
            <a:pPr indent="0" marL="0">
              <a:buNone/>
            </a:pPr>
            <a:r>
              <a:rPr lang="en-US" sz="1400" b="1" dirty="0">
                <a:solidFill>
                  <a:schemeClr val="tx1"/>
                </a:solidFill>
              </a:rPr>
              <a:t>[p4]  </a:t>
            </a:r>
            <a:pPr indent="0" marL="0">
              <a:buNone/>
            </a:pPr>
            <a:r>
              <a:rPr lang="en-US" sz="1400" dirty="0">
                <a:solidFill>
                  <a:schemeClr val="tx1"/>
                </a:solidFill>
              </a:rPr>
              <a:t>Taq polimerasa</a:t>
            </a:r>
            <a:endParaRPr lang="en-US" sz="1400" dirty="0"/>
          </a:p>
          <a:p>
            <a:pPr indent="0" marL="0">
              <a:buNone/>
            </a:pPr>
            <a:r>
              <a:rPr lang="en-US" sz="1400" b="1" dirty="0">
                <a:solidFill>
                  <a:schemeClr val="tx1"/>
                </a:solidFill>
              </a:rPr>
              <a:t>[p5]  </a:t>
            </a:r>
            <a:pPr indent="0" marL="0">
              <a:buNone/>
            </a:pPr>
            <a:r>
              <a:rPr lang="en-US" sz="1400" dirty="0">
                <a:solidFill>
                  <a:schemeClr val="tx1"/>
                </a:solidFill>
              </a:rPr>
              <a:t>5′→3′</a:t>
            </a:r>
            <a:endParaRPr lang="en-US" sz="1400" dirty="0"/>
          </a:p>
        </p:txBody>
      </p:sp>
      <p:sp>
        <p:nvSpPr>
          <p:cNvPr id="8" name="circulo icono"/>
          <p:cNvSpPr/>
          <p:nvPr/>
        </p:nvSpPr>
        <p:spPr>
          <a:xfrm>
            <a:off x="548640" y="2941320"/>
            <a:ext cx="329184" cy="329184"/>
          </a:xfrm>
          <a:prstGeom prst="ellipse">
            <a:avLst/>
          </a:prstGeom>
          <a:solidFill>
            <a:schemeClr val="accent4"/>
          </a:solidFill>
          <a:ln w="12700">
            <a:solidFill>
              <a:schemeClr val="accent4"/>
            </a:solidFill>
            <a:prstDash val="solid"/>
          </a:ln>
        </p:spPr>
      </p:sp>
      <p:pic>
        <p:nvPicPr>
          <p:cNvPr id="9" name="Image 1" descr="Explicación">    </p:cNvPr>
          <p:cNvPicPr>
            <a:picLocks noChangeAspect="1"/>
          </p:cNvPicPr>
          <p:nvPr/>
        </p:nvPicPr>
        <p:blipFill>
          <a:blip r:embed="rId2"/>
          <a:stretch>
            <a:fillRect/>
          </a:stretch>
        </p:blipFill>
        <p:spPr>
          <a:xfrm>
            <a:off x="630936" y="3023616"/>
            <a:ext cx="164592" cy="164592"/>
          </a:xfrm>
          <a:prstGeom prst="rect">
            <a:avLst/>
          </a:prstGeom>
        </p:spPr>
      </p:pic>
      <p:sp>
        <p:nvSpPr>
          <p:cNvPr id="10" name="subtitulo"/>
          <p:cNvSpPr txBox="1"/>
          <p:nvPr/>
        </p:nvSpPr>
        <p:spPr>
          <a:xfrm>
            <a:off x="987552" y="2941320"/>
            <a:ext cx="10655503" cy="329184"/>
          </a:xfrm>
          <a:prstGeom prst="rect">
            <a:avLst/>
          </a:prstGeom>
          <a:noFill/>
          <a:ln/>
        </p:spPr>
        <p:txBody>
          <a:bodyPr wrap="square" lIns="0" tIns="0" rIns="0" bIns="0" rtlCol="0" anchor="ctr"/>
          <a:lstStyle/>
          <a:p>
            <a:pPr indent="0" marL="0">
              <a:buNone/>
            </a:pPr>
            <a:r>
              <a:rPr lang="en-US" sz="1600" b="1" dirty="0">
                <a:solidFill>
                  <a:schemeClr val="tx2"/>
                </a:solidFill>
              </a:rPr>
              <a:t>Explicación</a:t>
            </a:r>
            <a:endParaRPr lang="en-US" sz="1600" dirty="0"/>
          </a:p>
        </p:txBody>
      </p:sp>
      <p:sp>
        <p:nvSpPr>
          <p:cNvPr id="11" name="texto"/>
          <p:cNvSpPr txBox="1"/>
          <p:nvPr/>
        </p:nvSpPr>
        <p:spPr>
          <a:xfrm>
            <a:off x="548640" y="3398520"/>
            <a:ext cx="11094415" cy="932688"/>
          </a:xfrm>
          <a:prstGeom prst="rect">
            <a:avLst/>
          </a:prstGeom>
          <a:noFill/>
          <a:ln/>
        </p:spPr>
        <p:txBody>
          <a:bodyPr wrap="square" lIns="254" tIns="254" rIns="254" bIns="254" rtlCol="0" anchor="t"/>
          <a:lstStyle/>
          <a:p>
            <a:pPr indent="0" marL="0">
              <a:buNone/>
            </a:pPr>
            <a:r>
              <a:rPr lang="en-US" sz="1900" b="1" dirty="0">
                <a:solidFill>
                  <a:schemeClr val="tx1"/>
                </a:solidFill>
              </a:rPr>
              <a:t>Clave:</a:t>
            </a:r>
            <a:pPr indent="0" marL="0">
              <a:buNone/>
            </a:pPr>
            <a:r>
              <a:rPr lang="en-US" sz="1900" dirty="0">
                <a:solidFill>
                  <a:schemeClr val="tx1"/>
                </a:solidFill>
              </a:rPr>
              <a:t> 94–95 °C (desnaturalización) → alineamiento unos grados bajo la Tm de los cebadores → 72 °C, temperatura óptima de la Taq, que sintetiza 5′→3′. Si el alineamiento es demasiado bajo aparecen productos inespecíficos y dímeros; si es demasiado alto, el cebador no se une y no hay producto.</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B3-6 · Columna de sílice: bind-wash-elute</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3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Completa cada espacio</a:t>
            </a:r>
            <a:endParaRPr lang="en-US" sz="1100" dirty="0"/>
          </a:p>
        </p:txBody>
      </p:sp>
      <p:sp>
        <p:nvSpPr>
          <p:cNvPr id="5" name="texto"/>
          <p:cNvSpPr txBox="1"/>
          <p:nvPr/>
        </p:nvSpPr>
        <p:spPr>
          <a:xfrm>
            <a:off x="548640" y="1371600"/>
            <a:ext cx="11094415" cy="1283208"/>
          </a:xfrm>
          <a:prstGeom prst="rect">
            <a:avLst/>
          </a:prstGeom>
          <a:noFill/>
          <a:ln/>
        </p:spPr>
        <p:txBody>
          <a:bodyPr wrap="square" lIns="254" tIns="254" rIns="254" bIns="254" rtlCol="0" anchor="t"/>
          <a:lstStyle/>
          <a:p>
            <a:pPr indent="0" marL="0">
              <a:buNone/>
            </a:pPr>
            <a:r>
              <a:rPr lang="en-US" sz="2000" dirty="0">
                <a:solidFill>
                  <a:schemeClr val="tx1"/>
                </a:solidFill>
              </a:rPr>
              <a:t>El lisado se mezcla con un buffer que contiene sales caotrópicas de [s1] y se agrega [s2]; en esas condiciones el DNA se une a la sílice. Los lavados con buffer etanólico eliminan [s3]. Antes de eluir se hace un [s4], porque el etanol residual [s5]. Finalmente el DNA se eluye con [s6].</a:t>
            </a:r>
            <a:endParaRPr lang="en-US" sz="2000" dirty="0"/>
          </a:p>
        </p:txBody>
      </p:sp>
      <p:sp>
        <p:nvSpPr>
          <p:cNvPr id="6" name="opciones"/>
          <p:cNvSpPr txBox="1"/>
          <p:nvPr/>
        </p:nvSpPr>
        <p:spPr>
          <a:xfrm>
            <a:off x="548640" y="2727960"/>
            <a:ext cx="11094415" cy="338328"/>
          </a:xfrm>
          <a:prstGeom prst="rect">
            <a:avLst/>
          </a:prstGeom>
          <a:noFill/>
          <a:ln/>
        </p:spPr>
        <p:txBody>
          <a:bodyPr wrap="square" lIns="254" tIns="254" rIns="254" bIns="254" rtlCol="0" anchor="ctr"/>
          <a:lstStyle/>
          <a:p>
            <a:pPr indent="0" marL="0">
              <a:buNone/>
            </a:pPr>
            <a:r>
              <a:rPr lang="en-US" sz="1800" b="1" dirty="0">
                <a:solidFill>
                  <a:schemeClr val="accent4"/>
                </a:solidFill>
              </a:rPr>
              <a:t>[s1]  </a:t>
            </a:r>
            <a:pPr indent="0" marL="0">
              <a:buNone/>
            </a:pPr>
            <a:r>
              <a:rPr lang="en-US" sz="1800" dirty="0">
                <a:solidFill>
                  <a:schemeClr val="tx1"/>
                </a:solidFill>
              </a:rPr>
              <a:t>guanidina   ·   sodio a baja concentración   ·   magnesio   ·   Tris</a:t>
            </a:r>
            <a:endParaRPr lang="en-US" sz="1800" dirty="0"/>
          </a:p>
        </p:txBody>
      </p:sp>
      <p:sp>
        <p:nvSpPr>
          <p:cNvPr id="7" name="opciones"/>
          <p:cNvSpPr txBox="1"/>
          <p:nvPr/>
        </p:nvSpPr>
        <p:spPr>
          <a:xfrm>
            <a:off x="548640" y="3102864"/>
            <a:ext cx="11094415" cy="338328"/>
          </a:xfrm>
          <a:prstGeom prst="rect">
            <a:avLst/>
          </a:prstGeom>
          <a:noFill/>
          <a:ln/>
        </p:spPr>
        <p:txBody>
          <a:bodyPr wrap="square" lIns="254" tIns="254" rIns="254" bIns="254" rtlCol="0" anchor="ctr"/>
          <a:lstStyle/>
          <a:p>
            <a:pPr indent="0" marL="0">
              <a:buNone/>
            </a:pPr>
            <a:r>
              <a:rPr lang="en-US" sz="1800" b="1" dirty="0">
                <a:solidFill>
                  <a:schemeClr val="accent4"/>
                </a:solidFill>
              </a:rPr>
              <a:t>[s2]  </a:t>
            </a:r>
            <a:pPr indent="0" marL="0">
              <a:buNone/>
            </a:pPr>
            <a:r>
              <a:rPr lang="en-US" sz="1800" dirty="0">
                <a:solidFill>
                  <a:schemeClr val="tx1"/>
                </a:solidFill>
              </a:rPr>
              <a:t>etanol   ·   fenol   ·   agua destilada   ·   SDS</a:t>
            </a:r>
            <a:endParaRPr lang="en-US" sz="1800" dirty="0"/>
          </a:p>
        </p:txBody>
      </p:sp>
      <p:sp>
        <p:nvSpPr>
          <p:cNvPr id="8" name="opciones"/>
          <p:cNvSpPr txBox="1"/>
          <p:nvPr/>
        </p:nvSpPr>
        <p:spPr>
          <a:xfrm>
            <a:off x="548640" y="3477768"/>
            <a:ext cx="11094415" cy="612648"/>
          </a:xfrm>
          <a:prstGeom prst="rect">
            <a:avLst/>
          </a:prstGeom>
          <a:noFill/>
          <a:ln/>
        </p:spPr>
        <p:txBody>
          <a:bodyPr wrap="square" lIns="254" tIns="254" rIns="254" bIns="254" rtlCol="0" anchor="ctr"/>
          <a:lstStyle/>
          <a:p>
            <a:pPr indent="0" marL="0">
              <a:buNone/>
            </a:pPr>
            <a:r>
              <a:rPr lang="en-US" sz="1800" b="1" dirty="0">
                <a:solidFill>
                  <a:schemeClr val="accent4"/>
                </a:solidFill>
              </a:rPr>
              <a:t>[s3]  </a:t>
            </a:r>
            <a:pPr indent="0" marL="0">
              <a:buNone/>
            </a:pPr>
            <a:r>
              <a:rPr lang="en-US" sz="1800" dirty="0">
                <a:solidFill>
                  <a:schemeClr val="tx1"/>
                </a:solidFill>
              </a:rPr>
              <a:t>sales, proteínas y otros contaminantes   ·   el DNA unido   ·   la sílice   ·   los cebadores de PCR</a:t>
            </a:r>
            <a:endParaRPr lang="en-US" sz="1800" dirty="0"/>
          </a:p>
        </p:txBody>
      </p:sp>
      <p:sp>
        <p:nvSpPr>
          <p:cNvPr id="9" name="opciones"/>
          <p:cNvSpPr txBox="1"/>
          <p:nvPr/>
        </p:nvSpPr>
        <p:spPr>
          <a:xfrm>
            <a:off x="548640" y="4126992"/>
            <a:ext cx="11094415" cy="612648"/>
          </a:xfrm>
          <a:prstGeom prst="rect">
            <a:avLst/>
          </a:prstGeom>
          <a:noFill/>
          <a:ln/>
        </p:spPr>
        <p:txBody>
          <a:bodyPr wrap="square" lIns="254" tIns="254" rIns="254" bIns="254" rtlCol="0" anchor="ctr"/>
          <a:lstStyle/>
          <a:p>
            <a:pPr indent="0" marL="0">
              <a:buNone/>
            </a:pPr>
            <a:r>
              <a:rPr lang="en-US" sz="1800" b="1" dirty="0">
                <a:solidFill>
                  <a:schemeClr val="accent4"/>
                </a:solidFill>
              </a:rPr>
              <a:t>[s4]  </a:t>
            </a:r>
            <a:pPr indent="0" marL="0">
              <a:buNone/>
            </a:pPr>
            <a:r>
              <a:rPr lang="en-US" sz="1800" dirty="0">
                <a:solidFill>
                  <a:schemeClr val="tx1"/>
                </a:solidFill>
              </a:rPr>
              <a:t>centrifugado en seco (dry spin)   ·   lavado con agua   ·   calentamiento a 95 °C   ·   agregado de fenol</a:t>
            </a:r>
            <a:endParaRPr lang="en-US" sz="1800" dirty="0"/>
          </a:p>
        </p:txBody>
      </p:sp>
      <p:sp>
        <p:nvSpPr>
          <p:cNvPr id="10" name="opciones"/>
          <p:cNvSpPr txBox="1"/>
          <p:nvPr/>
        </p:nvSpPr>
        <p:spPr>
          <a:xfrm>
            <a:off x="548640" y="4776216"/>
            <a:ext cx="11094415" cy="612648"/>
          </a:xfrm>
          <a:prstGeom prst="rect">
            <a:avLst/>
          </a:prstGeom>
          <a:noFill/>
          <a:ln/>
        </p:spPr>
        <p:txBody>
          <a:bodyPr wrap="square" lIns="254" tIns="254" rIns="254" bIns="254" rtlCol="0" anchor="ctr"/>
          <a:lstStyle/>
          <a:p>
            <a:pPr indent="0" marL="0">
              <a:buNone/>
            </a:pPr>
            <a:r>
              <a:rPr lang="en-US" sz="1800" b="1" dirty="0">
                <a:solidFill>
                  <a:schemeClr val="accent4"/>
                </a:solidFill>
              </a:rPr>
              <a:t>[s5]  </a:t>
            </a:r>
            <a:pPr indent="0" marL="0">
              <a:buNone/>
            </a:pPr>
            <a:r>
              <a:rPr lang="en-US" sz="1800" dirty="0">
                <a:solidFill>
                  <a:schemeClr val="tx1"/>
                </a:solidFill>
              </a:rPr>
              <a:t>inhibe la PCR y dificulta la elución   ·   mejora el rendimiento   ·   es necesario para la elución   ·   protege al DNA de las nucleasas</a:t>
            </a:r>
            <a:endParaRPr lang="en-US" sz="1800" dirty="0"/>
          </a:p>
        </p:txBody>
      </p:sp>
      <p:sp>
        <p:nvSpPr>
          <p:cNvPr id="11" name="opciones"/>
          <p:cNvSpPr txBox="1"/>
          <p:nvPr/>
        </p:nvSpPr>
        <p:spPr>
          <a:xfrm>
            <a:off x="548640" y="5425440"/>
            <a:ext cx="11094415" cy="612648"/>
          </a:xfrm>
          <a:prstGeom prst="rect">
            <a:avLst/>
          </a:prstGeom>
          <a:noFill/>
          <a:ln/>
        </p:spPr>
        <p:txBody>
          <a:bodyPr wrap="square" lIns="254" tIns="254" rIns="254" bIns="254" rtlCol="0" anchor="ctr"/>
          <a:lstStyle/>
          <a:p>
            <a:pPr indent="0" marL="0">
              <a:buNone/>
            </a:pPr>
            <a:r>
              <a:rPr lang="en-US" sz="1800" b="1" dirty="0">
                <a:solidFill>
                  <a:schemeClr val="accent4"/>
                </a:solidFill>
              </a:rPr>
              <a:t>[s6]  </a:t>
            </a:r>
            <a:pPr indent="0" marL="0">
              <a:buNone/>
            </a:pPr>
            <a:r>
              <a:rPr lang="en-US" sz="1800" dirty="0">
                <a:solidFill>
                  <a:schemeClr val="tx1"/>
                </a:solidFill>
              </a:rPr>
              <a:t>buffer de baja fuerza iónica (TE o agua, pH ≈ 8)   ·   buffer con guanidina concentrada   ·   etanol al 70 %   ·   cloroformo</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B3-6 · Columna de sílice: bind-wash-elute</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3 · Respuesta</a:t>
            </a:r>
            <a:endParaRPr lang="en-US" sz="1100" dirty="0"/>
          </a:p>
        </p:txBody>
      </p:sp>
      <p:sp>
        <p:nvSpPr>
          <p:cNvPr id="4" name="caja respuesta"/>
          <p:cNvSpPr/>
          <p:nvPr/>
        </p:nvSpPr>
        <p:spPr>
          <a:xfrm>
            <a:off x="548640" y="1371600"/>
            <a:ext cx="11094415" cy="1554480"/>
          </a:xfrm>
          <a:prstGeom prst="roundRect">
            <a:avLst>
              <a:gd name="adj" fmla="val 7059"/>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1408176"/>
          </a:xfrm>
          <a:prstGeom prst="rect">
            <a:avLst/>
          </a:prstGeom>
          <a:noFill/>
          <a:ln/>
        </p:spPr>
        <p:txBody>
          <a:bodyPr wrap="square" lIns="254" tIns="254" rIns="254" bIns="254" rtlCol="0" anchor="ctr"/>
          <a:lstStyle/>
          <a:p>
            <a:pPr indent="0" marL="0">
              <a:buNone/>
            </a:pPr>
            <a:r>
              <a:rPr lang="en-US" sz="1400" b="1" dirty="0">
                <a:solidFill>
                  <a:schemeClr val="tx1"/>
                </a:solidFill>
              </a:rPr>
              <a:t>[s1]  </a:t>
            </a:r>
            <a:pPr indent="0" marL="0">
              <a:buNone/>
            </a:pPr>
            <a:r>
              <a:rPr lang="en-US" sz="1400" dirty="0">
                <a:solidFill>
                  <a:schemeClr val="tx1"/>
                </a:solidFill>
              </a:rPr>
              <a:t>guanidina</a:t>
            </a:r>
            <a:endParaRPr lang="en-US" sz="1400" dirty="0"/>
          </a:p>
          <a:p>
            <a:pPr indent="0" marL="0">
              <a:buNone/>
            </a:pPr>
            <a:r>
              <a:rPr lang="en-US" sz="1400" b="1" dirty="0">
                <a:solidFill>
                  <a:schemeClr val="tx1"/>
                </a:solidFill>
              </a:rPr>
              <a:t>[s2]  </a:t>
            </a:r>
            <a:pPr indent="0" marL="0">
              <a:buNone/>
            </a:pPr>
            <a:r>
              <a:rPr lang="en-US" sz="1400" dirty="0">
                <a:solidFill>
                  <a:schemeClr val="tx1"/>
                </a:solidFill>
              </a:rPr>
              <a:t>etanol</a:t>
            </a:r>
            <a:endParaRPr lang="en-US" sz="1400" dirty="0"/>
          </a:p>
          <a:p>
            <a:pPr indent="0" marL="0">
              <a:buNone/>
            </a:pPr>
            <a:r>
              <a:rPr lang="en-US" sz="1400" b="1" dirty="0">
                <a:solidFill>
                  <a:schemeClr val="tx1"/>
                </a:solidFill>
              </a:rPr>
              <a:t>[s3]  </a:t>
            </a:r>
            <a:pPr indent="0" marL="0">
              <a:buNone/>
            </a:pPr>
            <a:r>
              <a:rPr lang="en-US" sz="1400" dirty="0">
                <a:solidFill>
                  <a:schemeClr val="tx1"/>
                </a:solidFill>
              </a:rPr>
              <a:t>sales, proteínas y otros contaminantes</a:t>
            </a:r>
            <a:endParaRPr lang="en-US" sz="1400" dirty="0"/>
          </a:p>
          <a:p>
            <a:pPr indent="0" marL="0">
              <a:buNone/>
            </a:pPr>
            <a:r>
              <a:rPr lang="en-US" sz="1400" b="1" dirty="0">
                <a:solidFill>
                  <a:schemeClr val="tx1"/>
                </a:solidFill>
              </a:rPr>
              <a:t>[s4]  </a:t>
            </a:r>
            <a:pPr indent="0" marL="0">
              <a:buNone/>
            </a:pPr>
            <a:r>
              <a:rPr lang="en-US" sz="1400" dirty="0">
                <a:solidFill>
                  <a:schemeClr val="tx1"/>
                </a:solidFill>
              </a:rPr>
              <a:t>centrifugado en seco (dry spin)</a:t>
            </a:r>
            <a:endParaRPr lang="en-US" sz="1400" dirty="0"/>
          </a:p>
          <a:p>
            <a:pPr indent="0" marL="0">
              <a:buNone/>
            </a:pPr>
            <a:r>
              <a:rPr lang="en-US" sz="1400" b="1" dirty="0">
                <a:solidFill>
                  <a:schemeClr val="tx1"/>
                </a:solidFill>
              </a:rPr>
              <a:t>[s5]  </a:t>
            </a:r>
            <a:pPr indent="0" marL="0">
              <a:buNone/>
            </a:pPr>
            <a:r>
              <a:rPr lang="en-US" sz="1400" dirty="0">
                <a:solidFill>
                  <a:schemeClr val="tx1"/>
                </a:solidFill>
              </a:rPr>
              <a:t>inhibe la PCR y dificulta la elución</a:t>
            </a:r>
            <a:endParaRPr lang="en-US" sz="1400" dirty="0"/>
          </a:p>
          <a:p>
            <a:pPr indent="0" marL="0">
              <a:buNone/>
            </a:pPr>
            <a:r>
              <a:rPr lang="en-US" sz="1400" b="1" dirty="0">
                <a:solidFill>
                  <a:schemeClr val="tx1"/>
                </a:solidFill>
              </a:rPr>
              <a:t>[s6]  </a:t>
            </a:r>
            <a:pPr indent="0" marL="0">
              <a:buNone/>
            </a:pPr>
            <a:r>
              <a:rPr lang="en-US" sz="1400" dirty="0">
                <a:solidFill>
                  <a:schemeClr val="tx1"/>
                </a:solidFill>
              </a:rPr>
              <a:t>buffer de baja fuerza iónica (TE o agua, pH ≈ 8)</a:t>
            </a:r>
            <a:endParaRPr lang="en-US" sz="1400" dirty="0"/>
          </a:p>
        </p:txBody>
      </p:sp>
      <p:sp>
        <p:nvSpPr>
          <p:cNvPr id="8" name="circulo icono"/>
          <p:cNvSpPr/>
          <p:nvPr/>
        </p:nvSpPr>
        <p:spPr>
          <a:xfrm>
            <a:off x="548640" y="3154680"/>
            <a:ext cx="329184" cy="329184"/>
          </a:xfrm>
          <a:prstGeom prst="ellipse">
            <a:avLst/>
          </a:prstGeom>
          <a:solidFill>
            <a:schemeClr val="accent4"/>
          </a:solidFill>
          <a:ln w="12700">
            <a:solidFill>
              <a:schemeClr val="accent4"/>
            </a:solidFill>
            <a:prstDash val="solid"/>
          </a:ln>
        </p:spPr>
      </p:sp>
      <p:pic>
        <p:nvPicPr>
          <p:cNvPr id="9" name="Image 1" descr="Explicación">    </p:cNvPr>
          <p:cNvPicPr>
            <a:picLocks noChangeAspect="1"/>
          </p:cNvPicPr>
          <p:nvPr/>
        </p:nvPicPr>
        <p:blipFill>
          <a:blip r:embed="rId2"/>
          <a:stretch>
            <a:fillRect/>
          </a:stretch>
        </p:blipFill>
        <p:spPr>
          <a:xfrm>
            <a:off x="630936" y="3236976"/>
            <a:ext cx="164592" cy="164592"/>
          </a:xfrm>
          <a:prstGeom prst="rect">
            <a:avLst/>
          </a:prstGeom>
        </p:spPr>
      </p:pic>
      <p:sp>
        <p:nvSpPr>
          <p:cNvPr id="10" name="subtitulo"/>
          <p:cNvSpPr txBox="1"/>
          <p:nvPr/>
        </p:nvSpPr>
        <p:spPr>
          <a:xfrm>
            <a:off x="987552" y="3154680"/>
            <a:ext cx="10655503" cy="329184"/>
          </a:xfrm>
          <a:prstGeom prst="rect">
            <a:avLst/>
          </a:prstGeom>
          <a:noFill/>
          <a:ln/>
        </p:spPr>
        <p:txBody>
          <a:bodyPr wrap="square" lIns="0" tIns="0" rIns="0" bIns="0" rtlCol="0" anchor="ctr"/>
          <a:lstStyle/>
          <a:p>
            <a:pPr indent="0" marL="0">
              <a:buNone/>
            </a:pPr>
            <a:r>
              <a:rPr lang="en-US" sz="1600" b="1" dirty="0">
                <a:solidFill>
                  <a:schemeClr val="tx2"/>
                </a:solidFill>
              </a:rPr>
              <a:t>Explicación</a:t>
            </a:r>
            <a:endParaRPr lang="en-US" sz="1600" dirty="0"/>
          </a:p>
        </p:txBody>
      </p:sp>
      <p:sp>
        <p:nvSpPr>
          <p:cNvPr id="11" name="texto"/>
          <p:cNvSpPr txBox="1"/>
          <p:nvPr/>
        </p:nvSpPr>
        <p:spPr>
          <a:xfrm>
            <a:off x="548640" y="3611880"/>
            <a:ext cx="11094415" cy="1222248"/>
          </a:xfrm>
          <a:prstGeom prst="rect">
            <a:avLst/>
          </a:prstGeom>
          <a:noFill/>
          <a:ln/>
        </p:spPr>
        <p:txBody>
          <a:bodyPr wrap="square" lIns="254" tIns="254" rIns="254" bIns="254" rtlCol="0" anchor="t"/>
          <a:lstStyle/>
          <a:p>
            <a:pPr indent="0" marL="0">
              <a:buNone/>
            </a:pPr>
            <a:r>
              <a:rPr lang="en-US" sz="1900" b="1" dirty="0">
                <a:solidFill>
                  <a:schemeClr val="tx1"/>
                </a:solidFill>
              </a:rPr>
              <a:t>Clave:</a:t>
            </a:r>
            <a:pPr indent="0" marL="0">
              <a:buNone/>
            </a:pPr>
            <a:r>
              <a:rPr lang="en-US" sz="1900" dirty="0">
                <a:solidFill>
                  <a:schemeClr val="tx1"/>
                </a:solidFill>
              </a:rPr>
              <a:t> las sales de guanidina deshidratan el DNA y rompen la capa de agua de la sílice, y el etanol favorece la unión; el lavado etanólico quita sales y proteínas sin despegar el DNA; el dry spin elimina el etanol, que inhibe la polimerasa y evita que el DNA se rehidrate; un buffer de baja fuerza iónica a pH ligeramente básico rehidrata el DNA y lo libera.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B3-7 · Comparar métodos de extracción</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3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673608"/>
          </a:xfrm>
          <a:prstGeom prst="rect">
            <a:avLst/>
          </a:prstGeom>
          <a:noFill/>
          <a:ln/>
        </p:spPr>
        <p:txBody>
          <a:bodyPr wrap="square" lIns="254" tIns="254" rIns="254" bIns="254" rtlCol="0" anchor="t"/>
          <a:lstStyle/>
          <a:p>
            <a:pPr indent="0" marL="0">
              <a:buNone/>
            </a:pPr>
            <a:r>
              <a:rPr lang="en-US" sz="2000" dirty="0">
                <a:solidFill>
                  <a:schemeClr val="tx1"/>
                </a:solidFill>
              </a:rPr>
              <a:t>Un DNA extraído con columna de sílice da A</a:t>
            </a:r>
            <a:pPr indent="0" marL="0">
              <a:buNone/>
            </a:pPr>
            <a:r>
              <a:rPr lang="en-US" sz="2000" baseline="-40000" dirty="0">
                <a:solidFill>
                  <a:schemeClr val="tx1"/>
                </a:solidFill>
              </a:rPr>
              <a:t>260/280</a:t>
            </a:r>
            <a:pPr indent="0" marL="0">
              <a:buNone/>
            </a:pPr>
            <a:r>
              <a:rPr lang="en-US" sz="2000" dirty="0">
                <a:solidFill>
                  <a:schemeClr val="tx1"/>
                </a:solidFill>
              </a:rPr>
              <a:t> = 1.84 y A</a:t>
            </a:r>
            <a:pPr indent="0" marL="0">
              <a:buNone/>
            </a:pPr>
            <a:r>
              <a:rPr lang="en-US" sz="2000" baseline="-40000" dirty="0">
                <a:solidFill>
                  <a:schemeClr val="tx1"/>
                </a:solidFill>
              </a:rPr>
              <a:t>260/230</a:t>
            </a:r>
            <a:pPr indent="0" marL="0">
              <a:buNone/>
            </a:pPr>
            <a:r>
              <a:rPr lang="en-US" sz="2000" dirty="0">
                <a:solidFill>
                  <a:schemeClr val="tx1"/>
                </a:solidFill>
              </a:rPr>
              <a:t> = 0.55, y la PCR falla. ¿Cuál es la explicación más probable y qué harías?</a:t>
            </a:r>
            <a:endParaRPr lang="en-US" sz="2000" dirty="0"/>
          </a:p>
        </p:txBody>
      </p:sp>
      <p:sp>
        <p:nvSpPr>
          <p:cNvPr id="6" name="circulo"/>
          <p:cNvSpPr/>
          <p:nvPr/>
        </p:nvSpPr>
        <p:spPr>
          <a:xfrm>
            <a:off x="548640" y="22098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2098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1915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Contaminación con proteínas; repetir con fenol-cloroformo.</a:t>
            </a:r>
            <a:endParaRPr lang="en-US" sz="1900" dirty="0"/>
          </a:p>
        </p:txBody>
      </p:sp>
      <p:sp>
        <p:nvSpPr>
          <p:cNvPr id="9" name="circulo"/>
          <p:cNvSpPr/>
          <p:nvPr/>
        </p:nvSpPr>
        <p:spPr>
          <a:xfrm>
            <a:off x="548640" y="27218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27218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2703576"/>
            <a:ext cx="10545775" cy="643128"/>
          </a:xfrm>
          <a:prstGeom prst="rect">
            <a:avLst/>
          </a:prstGeom>
          <a:noFill/>
          <a:ln/>
        </p:spPr>
        <p:txBody>
          <a:bodyPr wrap="square" lIns="254" tIns="254" rIns="254" bIns="254" rtlCol="0" anchor="ctr"/>
          <a:lstStyle/>
          <a:p>
            <a:pPr indent="0" marL="0">
              <a:buNone/>
            </a:pPr>
            <a:r>
              <a:rPr lang="en-US" sz="1900" dirty="0">
                <a:solidFill>
                  <a:schemeClr val="tx1"/>
                </a:solidFill>
              </a:rPr>
              <a:t>Arrastre de sales de guanidina (absorben cerca de 230 nm) por un lavado insuficiente; repetir el lavado etanólico, hacer el dry spin y volver a eluir, o purificar con perlas SPRI.</a:t>
            </a:r>
            <a:endParaRPr lang="en-US" sz="1900" dirty="0"/>
          </a:p>
        </p:txBody>
      </p:sp>
      <p:sp>
        <p:nvSpPr>
          <p:cNvPr id="12" name="circulo"/>
          <p:cNvSpPr/>
          <p:nvPr/>
        </p:nvSpPr>
        <p:spPr>
          <a:xfrm>
            <a:off x="548640" y="3456432"/>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45643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438144"/>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Contaminación con RNA; agregar RNasa y la PCR funcionará.</a:t>
            </a:r>
            <a:endParaRPr lang="en-US" sz="1900" dirty="0"/>
          </a:p>
        </p:txBody>
      </p:sp>
      <p:sp>
        <p:nvSpPr>
          <p:cNvPr id="15" name="circulo"/>
          <p:cNvSpPr/>
          <p:nvPr/>
        </p:nvSpPr>
        <p:spPr>
          <a:xfrm>
            <a:off x="548640" y="3968496"/>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396849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3950208"/>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El DNA está demasiado puro; diluirlo en agua.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B3-7 · Comparar métodos de extracción</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3 · Respuesta</a:t>
            </a:r>
            <a:endParaRPr lang="en-US" sz="1100" dirty="0"/>
          </a:p>
        </p:txBody>
      </p:sp>
      <p:sp>
        <p:nvSpPr>
          <p:cNvPr id="4" name="caja respuesta"/>
          <p:cNvSpPr/>
          <p:nvPr/>
        </p:nvSpPr>
        <p:spPr>
          <a:xfrm>
            <a:off x="548640" y="1371600"/>
            <a:ext cx="11094415" cy="762000"/>
          </a:xfrm>
          <a:prstGeom prst="roundRect">
            <a:avLst>
              <a:gd name="adj" fmla="val 14400"/>
            </a:avLst>
          </a:prstGeom>
          <a:solidFill>
            <a:schemeClr val="bg1"/>
          </a:solidFill>
          <a:ln w="19050">
            <a:solidFill>
              <a:schemeClr val="accent1"/>
            </a:solidFill>
            <a:prstDash val="solid"/>
          </a:ln>
        </p:spPr>
      </p:sp>
      <p:sp>
        <p:nvSpPr>
          <p:cNvPr id="5" name="circulo check"/>
          <p:cNvSpPr/>
          <p:nvPr/>
        </p:nvSpPr>
        <p:spPr>
          <a:xfrm>
            <a:off x="749808" y="152400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33728"/>
            <a:ext cx="237744" cy="237744"/>
          </a:xfrm>
          <a:prstGeom prst="rect">
            <a:avLst/>
          </a:prstGeom>
        </p:spPr>
      </p:pic>
      <p:sp>
        <p:nvSpPr>
          <p:cNvPr id="7" name="respuesta"/>
          <p:cNvSpPr txBox="1"/>
          <p:nvPr/>
        </p:nvSpPr>
        <p:spPr>
          <a:xfrm>
            <a:off x="1371600" y="1444752"/>
            <a:ext cx="10180015" cy="615696"/>
          </a:xfrm>
          <a:prstGeom prst="rect">
            <a:avLst/>
          </a:prstGeom>
          <a:noFill/>
          <a:ln/>
        </p:spPr>
        <p:txBody>
          <a:bodyPr wrap="square" lIns="254" tIns="254" rIns="254" bIns="254" rtlCol="0" anchor="ctr"/>
          <a:lstStyle/>
          <a:p>
            <a:pPr indent="0" marL="0">
              <a:buNone/>
            </a:pPr>
            <a:r>
              <a:rPr lang="en-US" sz="1600" b="1" dirty="0">
                <a:solidFill>
                  <a:schemeClr val="tx1"/>
                </a:solidFill>
              </a:rPr>
              <a:t>B)  </a:t>
            </a:r>
            <a:pPr indent="0" marL="0">
              <a:buNone/>
            </a:pPr>
            <a:r>
              <a:rPr lang="en-US" sz="1600" dirty="0">
                <a:solidFill>
                  <a:schemeClr val="tx1"/>
                </a:solidFill>
              </a:rPr>
              <a:t>Arrastre de sales de guanidina (absorben cerca de 230 nm) por un lavado insuficiente; repetir el lavado etanólico, hacer el dry spin y volver a eluir, o purificar con perlas SPRI.</a:t>
            </a:r>
            <a:endParaRPr lang="en-US" sz="1600" dirty="0"/>
          </a:p>
        </p:txBody>
      </p:sp>
      <p:sp>
        <p:nvSpPr>
          <p:cNvPr id="8" name="circulo icono"/>
          <p:cNvSpPr/>
          <p:nvPr/>
        </p:nvSpPr>
        <p:spPr>
          <a:xfrm>
            <a:off x="548640" y="236220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444496"/>
            <a:ext cx="164592" cy="164592"/>
          </a:xfrm>
          <a:prstGeom prst="rect">
            <a:avLst/>
          </a:prstGeom>
        </p:spPr>
      </p:pic>
      <p:sp>
        <p:nvSpPr>
          <p:cNvPr id="10" name="subtitulo"/>
          <p:cNvSpPr txBox="1"/>
          <p:nvPr/>
        </p:nvSpPr>
        <p:spPr>
          <a:xfrm>
            <a:off x="987552"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2819400"/>
            <a:ext cx="5364328" cy="1511808"/>
          </a:xfrm>
          <a:prstGeom prst="rect">
            <a:avLst/>
          </a:prstGeom>
          <a:noFill/>
          <a:ln/>
        </p:spPr>
        <p:txBody>
          <a:bodyPr wrap="square" lIns="254" tIns="254" rIns="254" bIns="254" rtlCol="0" anchor="t"/>
          <a:lstStyle/>
          <a:p>
            <a:pPr indent="0" marL="0">
              <a:buNone/>
            </a:pPr>
            <a:r>
              <a:rPr lang="en-US" sz="1900" b="1" dirty="0">
                <a:solidFill>
                  <a:schemeClr val="tx1"/>
                </a:solidFill>
              </a:rPr>
              <a:t>Correcta: arrastre de guanidina.</a:t>
            </a:r>
            <a:pPr indent="0" marL="0">
              <a:buNone/>
            </a:pPr>
            <a:r>
              <a:rPr lang="en-US" sz="1900" dirty="0">
                <a:solidFill>
                  <a:schemeClr val="tx1"/>
                </a:solidFill>
              </a:rPr>
              <a:t> Una relación 260/280 cercana a 1.8 indica poca proteína; la relación 260/230 muy baja señala sales caotrópicas u otros compuestos que absorben a 230 nm y que inhiben la polimerasa.</a:t>
            </a:r>
            <a:endParaRPr lang="en-US" sz="1900" dirty="0"/>
          </a:p>
        </p:txBody>
      </p:sp>
      <p:sp>
        <p:nvSpPr>
          <p:cNvPr id="12" name="circulo icono"/>
          <p:cNvSpPr/>
          <p:nvPr/>
        </p:nvSpPr>
        <p:spPr>
          <a:xfrm>
            <a:off x="6278728" y="236220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444496"/>
            <a:ext cx="164592" cy="164592"/>
          </a:xfrm>
          <a:prstGeom prst="rect">
            <a:avLst/>
          </a:prstGeom>
        </p:spPr>
      </p:pic>
      <p:sp>
        <p:nvSpPr>
          <p:cNvPr id="14" name="subtitulo"/>
          <p:cNvSpPr txBox="1"/>
          <p:nvPr/>
        </p:nvSpPr>
        <p:spPr>
          <a:xfrm>
            <a:off x="6717640"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295300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2819400"/>
            <a:ext cx="5108296" cy="1222248"/>
          </a:xfrm>
          <a:prstGeom prst="rect">
            <a:avLst/>
          </a:prstGeom>
          <a:noFill/>
          <a:ln/>
        </p:spPr>
        <p:txBody>
          <a:bodyPr wrap="square" lIns="254" tIns="254" rIns="254" bIns="254" rtlCol="0" anchor="t"/>
          <a:lstStyle/>
          <a:p>
            <a:pPr indent="0" marL="0">
              <a:buNone/>
            </a:pPr>
            <a:r>
              <a:rPr lang="en-US" sz="1900" dirty="0">
                <a:solidFill>
                  <a:schemeClr val="tx1"/>
                </a:solidFill>
              </a:rPr>
              <a:t>«Proteínas»: bajarían la relación 260/280 (por debajo de ~1.7). Fenol-cloroformo, además, añade el riesgo de arrastrar fenol (absorbe ~270 nm).</a:t>
            </a:r>
            <a:endParaRPr lang="en-US" sz="1900" dirty="0"/>
          </a:p>
        </p:txBody>
      </p:sp>
      <p:sp>
        <p:nvSpPr>
          <p:cNvPr id="17" name="vineta"/>
          <p:cNvSpPr/>
          <p:nvPr/>
        </p:nvSpPr>
        <p:spPr>
          <a:xfrm>
            <a:off x="6333592" y="423011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4096512"/>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«RNA»: subiría la relación 260/280 hacia ~2.0 y no explica el 260/230 bajo.</a:t>
            </a:r>
            <a:endParaRPr lang="en-US" sz="1900" dirty="0"/>
          </a:p>
        </p:txBody>
      </p:sp>
      <p:sp>
        <p:nvSpPr>
          <p:cNvPr id="19" name="vineta"/>
          <p:cNvSpPr/>
          <p:nvPr/>
        </p:nvSpPr>
        <p:spPr>
          <a:xfrm>
            <a:off x="6333592" y="492810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794504"/>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«Demasiado puro»: no existe ese problema; los valores indican contaminación.</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B3-8 · Herramientas in silico</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3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978408"/>
          </a:xfrm>
          <a:prstGeom prst="rect">
            <a:avLst/>
          </a:prstGeom>
          <a:noFill/>
          <a:ln/>
        </p:spPr>
        <p:txBody>
          <a:bodyPr wrap="square" lIns="254" tIns="254" rIns="254" bIns="254" rtlCol="0" anchor="t"/>
          <a:lstStyle/>
          <a:p>
            <a:pPr indent="0" marL="0">
              <a:buNone/>
            </a:pPr>
            <a:r>
              <a:rPr lang="en-US" sz="2000" dirty="0">
                <a:solidFill>
                  <a:schemeClr val="tx1"/>
                </a:solidFill>
              </a:rPr>
              <a:t>Un equipo diseña cebadores para genotipar </a:t>
            </a:r>
            <a:pPr indent="0" marL="0">
              <a:buNone/>
            </a:pPr>
            <a:r>
              <a:rPr lang="en-US" sz="2000" i="1" dirty="0">
                <a:solidFill>
                  <a:schemeClr val="tx1"/>
                </a:solidFill>
              </a:rPr>
              <a:t>ALDH2</a:t>
            </a:r>
            <a:pPr indent="0" marL="0">
              <a:buNone/>
            </a:pPr>
            <a:r>
              <a:rPr lang="en-US" sz="2000" dirty="0">
                <a:solidFill>
                  <a:schemeClr val="tx1"/>
                </a:solidFill>
              </a:rPr>
              <a:t> rs671. UCSC In-Silico PCR da un producto de 214 pb en el cromosoma 12, pero Primer-BLAST con el genoma de referencia reporta además un segundo producto de 214 pb en otro cromosoma. ¿Qué interpretación y acción son correctas?</a:t>
            </a:r>
            <a:endParaRPr lang="en-US" sz="2000" dirty="0"/>
          </a:p>
        </p:txBody>
      </p:sp>
      <p:sp>
        <p:nvSpPr>
          <p:cNvPr id="6" name="circulo"/>
          <p:cNvSpPr/>
          <p:nvPr/>
        </p:nvSpPr>
        <p:spPr>
          <a:xfrm>
            <a:off x="548640" y="25146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5146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4963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El segundo producto es el alelo variante de rs671.</a:t>
            </a:r>
            <a:endParaRPr lang="en-US" sz="1900" dirty="0"/>
          </a:p>
        </p:txBody>
      </p:sp>
      <p:sp>
        <p:nvSpPr>
          <p:cNvPr id="9" name="circulo"/>
          <p:cNvSpPr/>
          <p:nvPr/>
        </p:nvSpPr>
        <p:spPr>
          <a:xfrm>
            <a:off x="548640" y="30266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30266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3008376"/>
            <a:ext cx="10545775" cy="932688"/>
          </a:xfrm>
          <a:prstGeom prst="rect">
            <a:avLst/>
          </a:prstGeom>
          <a:noFill/>
          <a:ln/>
        </p:spPr>
        <p:txBody>
          <a:bodyPr wrap="square" lIns="254" tIns="254" rIns="254" bIns="254" rtlCol="0" anchor="ctr"/>
          <a:lstStyle/>
          <a:p>
            <a:pPr indent="0" marL="0">
              <a:buNone/>
            </a:pPr>
            <a:r>
              <a:rPr lang="en-US" sz="1900" dirty="0">
                <a:solidFill>
                  <a:schemeClr val="tx1"/>
                </a:solidFill>
              </a:rPr>
              <a:t>Los cebadores pueden amplificar también una secuencia muy parecida (un parálogo o pseudogén); como el producto es del mismo tamaño, el gel no lo distinguiría y podría falsear el genotipo. Hay que rediseñar al menos un cebador en una región única y verificarlo con BLAST.</a:t>
            </a:r>
            <a:endParaRPr lang="en-US" sz="1900" dirty="0"/>
          </a:p>
        </p:txBody>
      </p:sp>
      <p:sp>
        <p:nvSpPr>
          <p:cNvPr id="12" name="circulo"/>
          <p:cNvSpPr/>
          <p:nvPr/>
        </p:nvSpPr>
        <p:spPr>
          <a:xfrm>
            <a:off x="548640" y="4050792"/>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40507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4032504"/>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Primer-BLAST solo funciona con mRNA, así que hay que ignorarlo.</a:t>
            </a:r>
            <a:endParaRPr lang="en-US" sz="1900" dirty="0"/>
          </a:p>
        </p:txBody>
      </p:sp>
      <p:sp>
        <p:nvSpPr>
          <p:cNvPr id="15" name="circulo"/>
          <p:cNvSpPr/>
          <p:nvPr/>
        </p:nvSpPr>
        <p:spPr>
          <a:xfrm>
            <a:off x="548640" y="4562856"/>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456285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4544568"/>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Ningún problema: UCSC ya confirmó el producto, así que Primer-BLAST se equivoca.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B3-8 · Herramientas in silico</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3 · Respuesta</a:t>
            </a:r>
            <a:endParaRPr lang="en-US" sz="1100" dirty="0"/>
          </a:p>
        </p:txBody>
      </p:sp>
      <p:sp>
        <p:nvSpPr>
          <p:cNvPr id="4" name="caja respuesta"/>
          <p:cNvSpPr/>
          <p:nvPr/>
        </p:nvSpPr>
        <p:spPr>
          <a:xfrm>
            <a:off x="548640" y="1371600"/>
            <a:ext cx="11094415" cy="1005840"/>
          </a:xfrm>
          <a:prstGeom prst="roundRect">
            <a:avLst>
              <a:gd name="adj" fmla="val 10909"/>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859536"/>
          </a:xfrm>
          <a:prstGeom prst="rect">
            <a:avLst/>
          </a:prstGeom>
          <a:noFill/>
          <a:ln/>
        </p:spPr>
        <p:txBody>
          <a:bodyPr wrap="square" lIns="254" tIns="254" rIns="254" bIns="254" rtlCol="0" anchor="ctr"/>
          <a:lstStyle/>
          <a:p>
            <a:pPr indent="0" marL="0">
              <a:buNone/>
            </a:pPr>
            <a:r>
              <a:rPr lang="en-US" sz="1600" b="1" dirty="0">
                <a:solidFill>
                  <a:schemeClr val="tx1"/>
                </a:solidFill>
              </a:rPr>
              <a:t>B)  </a:t>
            </a:r>
            <a:pPr indent="0" marL="0">
              <a:buNone/>
            </a:pPr>
            <a:r>
              <a:rPr lang="en-US" sz="1600" dirty="0">
                <a:solidFill>
                  <a:schemeClr val="tx1"/>
                </a:solidFill>
              </a:rPr>
              <a:t>Los cebadores pueden amplificar también una secuencia muy parecida (un parálogo o pseudogén); como el producto es del mismo tamaño, el gel no lo distinguiría y podría falsear el genotipo. Hay que rediseñar al menos un cebador en una región única y verificarlo con BLAST.</a:t>
            </a:r>
            <a:endParaRPr lang="en-US" sz="1600" dirty="0"/>
          </a:p>
        </p:txBody>
      </p:sp>
      <p:sp>
        <p:nvSpPr>
          <p:cNvPr id="8" name="circulo icono"/>
          <p:cNvSpPr/>
          <p:nvPr/>
        </p:nvSpPr>
        <p:spPr>
          <a:xfrm>
            <a:off x="548640" y="260604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688336"/>
            <a:ext cx="164592" cy="164592"/>
          </a:xfrm>
          <a:prstGeom prst="rect">
            <a:avLst/>
          </a:prstGeom>
        </p:spPr>
      </p:pic>
      <p:sp>
        <p:nvSpPr>
          <p:cNvPr id="10" name="subtitulo"/>
          <p:cNvSpPr txBox="1"/>
          <p:nvPr/>
        </p:nvSpPr>
        <p:spPr>
          <a:xfrm>
            <a:off x="987552"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3063240"/>
            <a:ext cx="5364328" cy="1511808"/>
          </a:xfrm>
          <a:prstGeom prst="rect">
            <a:avLst/>
          </a:prstGeom>
          <a:noFill/>
          <a:ln/>
        </p:spPr>
        <p:txBody>
          <a:bodyPr wrap="square" lIns="254" tIns="254" rIns="254" bIns="254" rtlCol="0" anchor="t"/>
          <a:lstStyle/>
          <a:p>
            <a:pPr indent="0" marL="0">
              <a:buNone/>
            </a:pPr>
            <a:r>
              <a:rPr lang="en-US" sz="1900" b="1" dirty="0">
                <a:solidFill>
                  <a:schemeClr val="tx1"/>
                </a:solidFill>
              </a:rPr>
              <a:t>Correcta: riesgo de amplificación inespecífica.</a:t>
            </a:r>
            <a:pPr indent="0" marL="0">
              <a:buNone/>
            </a:pPr>
            <a:r>
              <a:rPr lang="en-US" sz="1900" dirty="0">
                <a:solidFill>
                  <a:schemeClr val="tx1"/>
                </a:solidFill>
              </a:rPr>
              <a:t> UCSC exige coincidencia casi perfecta y puede no reportar sitios con desapareamientos; Primer-BLAST evalúa la especificidad contra todo el genoma permitiendo algunos desapareamientos.</a:t>
            </a:r>
            <a:endParaRPr lang="en-US" sz="1900" dirty="0"/>
          </a:p>
        </p:txBody>
      </p:sp>
      <p:sp>
        <p:nvSpPr>
          <p:cNvPr id="12" name="circulo icono"/>
          <p:cNvSpPr/>
          <p:nvPr/>
        </p:nvSpPr>
        <p:spPr>
          <a:xfrm>
            <a:off x="6278728" y="260604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688336"/>
            <a:ext cx="164592" cy="164592"/>
          </a:xfrm>
          <a:prstGeom prst="rect">
            <a:avLst/>
          </a:prstGeom>
        </p:spPr>
      </p:pic>
      <p:sp>
        <p:nvSpPr>
          <p:cNvPr id="14" name="subtitulo"/>
          <p:cNvSpPr txBox="1"/>
          <p:nvPr/>
        </p:nvSpPr>
        <p:spPr>
          <a:xfrm>
            <a:off x="6717640"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319684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3063240"/>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«Primer-BLAST se equivoca»: las herramientas son complementarias; UCSC no está diseñada para buscar todos los sitios parecidos.</a:t>
            </a:r>
            <a:endParaRPr lang="en-US" sz="1900" dirty="0"/>
          </a:p>
        </p:txBody>
      </p:sp>
      <p:sp>
        <p:nvSpPr>
          <p:cNvPr id="17" name="vineta"/>
          <p:cNvSpPr/>
          <p:nvPr/>
        </p:nvSpPr>
        <p:spPr>
          <a:xfrm>
            <a:off x="6333592" y="418439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4050792"/>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«Es el alelo variante»: un SNP no se ubica en otro cromosoma; ambos alelos se amplifican en el mismo locus.</a:t>
            </a:r>
            <a:endParaRPr lang="en-US" sz="1900" dirty="0"/>
          </a:p>
        </p:txBody>
      </p:sp>
      <p:sp>
        <p:nvSpPr>
          <p:cNvPr id="19" name="vineta"/>
          <p:cNvSpPr/>
          <p:nvPr/>
        </p:nvSpPr>
        <p:spPr>
          <a:xfrm>
            <a:off x="6333592" y="517194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5038344"/>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«Solo con mRNA»: Primer-BLAST permite elegir el genoma de referencia como base de datos.</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B3-9 · Leer el GWAS Catalog</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3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978408"/>
          </a:xfrm>
          <a:prstGeom prst="rect">
            <a:avLst/>
          </a:prstGeom>
          <a:noFill/>
          <a:ln/>
        </p:spPr>
        <p:txBody>
          <a:bodyPr wrap="square" lIns="254" tIns="254" rIns="254" bIns="254" rtlCol="0" anchor="t"/>
          <a:lstStyle/>
          <a:p>
            <a:pPr indent="0" marL="0">
              <a:buNone/>
            </a:pPr>
            <a:r>
              <a:rPr lang="en-US" sz="2000" dirty="0">
                <a:solidFill>
                  <a:schemeClr val="tx1"/>
                </a:solidFill>
              </a:rPr>
              <a:t>En el GWAS Catalog, rs4988235 aparece asociado a «lactase persistence» y a niveles de calcio, con «mapped gene: </a:t>
            </a:r>
            <a:pPr indent="0" marL="0">
              <a:buNone/>
            </a:pPr>
            <a:r>
              <a:rPr lang="en-US" sz="2000" i="1" dirty="0">
                <a:solidFill>
                  <a:schemeClr val="tx1"/>
                </a:solidFill>
              </a:rPr>
              <a:t>MCM6</a:t>
            </a:r>
            <a:pPr indent="0" marL="0">
              <a:buNone/>
            </a:pPr>
            <a:r>
              <a:rPr lang="en-US" sz="2000" dirty="0">
                <a:solidFill>
                  <a:schemeClr val="tx1"/>
                </a:solidFill>
              </a:rPr>
              <a:t>» y p = 3 × 10⁻²⁰⁰. Un alumno concluye que </a:t>
            </a:r>
            <a:pPr indent="0" marL="0">
              <a:buNone/>
            </a:pPr>
            <a:r>
              <a:rPr lang="en-US" sz="2000" i="1" dirty="0">
                <a:solidFill>
                  <a:schemeClr val="tx1"/>
                </a:solidFill>
              </a:rPr>
              <a:t>MCM6</a:t>
            </a:r>
            <a:pPr indent="0" marL="0">
              <a:buNone/>
            </a:pPr>
            <a:r>
              <a:rPr lang="en-US" sz="2000" dirty="0">
                <a:solidFill>
                  <a:schemeClr val="tx1"/>
                </a:solidFill>
              </a:rPr>
              <a:t> codifica la lactasa y que la variante causa directamente cambios de calcio. ¿Cuál es la mejor corrección?</a:t>
            </a:r>
            <a:endParaRPr lang="en-US" sz="2000" dirty="0"/>
          </a:p>
        </p:txBody>
      </p:sp>
      <p:sp>
        <p:nvSpPr>
          <p:cNvPr id="6" name="circulo"/>
          <p:cNvSpPr/>
          <p:nvPr/>
        </p:nvSpPr>
        <p:spPr>
          <a:xfrm>
            <a:off x="548640" y="25146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5146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4963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Un valor p tan pequeño prueba que el efecto es grande.</a:t>
            </a:r>
            <a:endParaRPr lang="en-US" sz="1900" dirty="0"/>
          </a:p>
        </p:txBody>
      </p:sp>
      <p:sp>
        <p:nvSpPr>
          <p:cNvPr id="9" name="circulo"/>
          <p:cNvSpPr/>
          <p:nvPr/>
        </p:nvSpPr>
        <p:spPr>
          <a:xfrm>
            <a:off x="548640" y="30266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30266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3008376"/>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El alumno tiene razón: el gen asignado es siempre el gen que codifica el fenotipo.</a:t>
            </a:r>
            <a:endParaRPr lang="en-US" sz="1900" dirty="0"/>
          </a:p>
        </p:txBody>
      </p:sp>
      <p:sp>
        <p:nvSpPr>
          <p:cNvPr id="12" name="circulo"/>
          <p:cNvSpPr/>
          <p:nvPr/>
        </p:nvSpPr>
        <p:spPr>
          <a:xfrm>
            <a:off x="548640" y="3538728"/>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53872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520440"/>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El GWAS Catalog solo incluye variantes missense.</a:t>
            </a:r>
            <a:endParaRPr lang="en-US" sz="1900" dirty="0"/>
          </a:p>
        </p:txBody>
      </p:sp>
      <p:sp>
        <p:nvSpPr>
          <p:cNvPr id="15" name="circulo"/>
          <p:cNvSpPr/>
          <p:nvPr/>
        </p:nvSpPr>
        <p:spPr>
          <a:xfrm>
            <a:off x="548640" y="4050792"/>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40507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4032504"/>
            <a:ext cx="10545775" cy="932688"/>
          </a:xfrm>
          <a:prstGeom prst="rect">
            <a:avLst/>
          </a:prstGeom>
          <a:noFill/>
          <a:ln/>
        </p:spPr>
        <p:txBody>
          <a:bodyPr wrap="square" lIns="254" tIns="254" rIns="254" bIns="254" rtlCol="0" anchor="ctr"/>
          <a:lstStyle/>
          <a:p>
            <a:pPr indent="0" marL="0">
              <a:buNone/>
            </a:pPr>
            <a:r>
              <a:rPr lang="en-US" sz="1900" dirty="0">
                <a:solidFill>
                  <a:schemeClr val="tx1"/>
                </a:solidFill>
              </a:rPr>
              <a:t>El «mapped gene» es el gen donde cae la variante, no necesariamente el gen efector: la variante está en un potenciador de MCM6 que regula LCT. Además, una asociación muy significativa no demuestra causalidad directa; el efecto en calcio puede ser indirecto (consumo de lácteos).</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B3-9 · Leer el GWAS Catalog</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3 · Respuesta</a:t>
            </a:r>
            <a:endParaRPr lang="en-US" sz="1100" dirty="0"/>
          </a:p>
        </p:txBody>
      </p:sp>
      <p:sp>
        <p:nvSpPr>
          <p:cNvPr id="4" name="caja respuesta"/>
          <p:cNvSpPr/>
          <p:nvPr/>
        </p:nvSpPr>
        <p:spPr>
          <a:xfrm>
            <a:off x="548640" y="1371600"/>
            <a:ext cx="11094415" cy="1005840"/>
          </a:xfrm>
          <a:prstGeom prst="roundRect">
            <a:avLst>
              <a:gd name="adj" fmla="val 10909"/>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859536"/>
          </a:xfrm>
          <a:prstGeom prst="rect">
            <a:avLst/>
          </a:prstGeom>
          <a:noFill/>
          <a:ln/>
        </p:spPr>
        <p:txBody>
          <a:bodyPr wrap="square" lIns="254" tIns="254" rIns="254" bIns="254" rtlCol="0" anchor="ctr"/>
          <a:lstStyle/>
          <a:p>
            <a:pPr indent="0" marL="0">
              <a:buNone/>
            </a:pPr>
            <a:r>
              <a:rPr lang="en-US" sz="1600" b="1" dirty="0">
                <a:solidFill>
                  <a:schemeClr val="tx1"/>
                </a:solidFill>
              </a:rPr>
              <a:t>D)  </a:t>
            </a:r>
            <a:pPr indent="0" marL="0">
              <a:buNone/>
            </a:pPr>
            <a:r>
              <a:rPr lang="en-US" sz="1600" dirty="0">
                <a:solidFill>
                  <a:schemeClr val="tx1"/>
                </a:solidFill>
              </a:rPr>
              <a:t>El «mapped gene» es el gen donde cae la variante, no necesariamente el gen efector: la variante está en un potenciador de MCM6 que regula LCT. Además, una asociación muy significativa no demuestra causalidad directa; el efecto en calcio puede ser indirecto (consumo de lácteos).</a:t>
            </a:r>
            <a:endParaRPr lang="en-US" sz="1600" dirty="0"/>
          </a:p>
        </p:txBody>
      </p:sp>
      <p:sp>
        <p:nvSpPr>
          <p:cNvPr id="8" name="circulo icono"/>
          <p:cNvSpPr/>
          <p:nvPr/>
        </p:nvSpPr>
        <p:spPr>
          <a:xfrm>
            <a:off x="548640" y="260604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688336"/>
            <a:ext cx="164592" cy="164592"/>
          </a:xfrm>
          <a:prstGeom prst="rect">
            <a:avLst/>
          </a:prstGeom>
        </p:spPr>
      </p:pic>
      <p:sp>
        <p:nvSpPr>
          <p:cNvPr id="10" name="subtitulo"/>
          <p:cNvSpPr txBox="1"/>
          <p:nvPr/>
        </p:nvSpPr>
        <p:spPr>
          <a:xfrm>
            <a:off x="987552"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3063240"/>
            <a:ext cx="5364328" cy="1511808"/>
          </a:xfrm>
          <a:prstGeom prst="rect">
            <a:avLst/>
          </a:prstGeom>
          <a:noFill/>
          <a:ln/>
        </p:spPr>
        <p:txBody>
          <a:bodyPr wrap="square" lIns="254" tIns="254" rIns="254" bIns="254" rtlCol="0" anchor="t"/>
          <a:lstStyle/>
          <a:p>
            <a:pPr indent="0" marL="0">
              <a:buNone/>
            </a:pPr>
            <a:r>
              <a:rPr lang="en-US" sz="1900" b="1" dirty="0">
                <a:solidFill>
                  <a:schemeClr val="tx1"/>
                </a:solidFill>
              </a:rPr>
              <a:t>Correcta: gen asignado ≠ gen efector, y asociación ≠ causalidad.</a:t>
            </a:r>
            <a:pPr indent="0" marL="0">
              <a:buNone/>
            </a:pPr>
            <a:r>
              <a:rPr lang="en-US" sz="1900" dirty="0">
                <a:solidFill>
                  <a:schemeClr val="tx1"/>
                </a:solidFill>
              </a:rPr>
              <a:t> El umbral de significancia genómica es p &lt; 5 × 10⁻⁸; un p muy pequeño indica alta certeza estadística (por tamaños de muestra enormes), no un efecto grande ni un mecanismo.</a:t>
            </a:r>
            <a:endParaRPr lang="en-US" sz="1900" dirty="0"/>
          </a:p>
        </p:txBody>
      </p:sp>
      <p:sp>
        <p:nvSpPr>
          <p:cNvPr id="12" name="circulo icono"/>
          <p:cNvSpPr/>
          <p:nvPr/>
        </p:nvSpPr>
        <p:spPr>
          <a:xfrm>
            <a:off x="6278728" y="260604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688336"/>
            <a:ext cx="164592" cy="164592"/>
          </a:xfrm>
          <a:prstGeom prst="rect">
            <a:avLst/>
          </a:prstGeom>
        </p:spPr>
      </p:pic>
      <p:sp>
        <p:nvSpPr>
          <p:cNvPr id="14" name="subtitulo"/>
          <p:cNvSpPr txBox="1"/>
          <p:nvPr/>
        </p:nvSpPr>
        <p:spPr>
          <a:xfrm>
            <a:off x="6717640"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319684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3063240"/>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«Gen asignado = gen del fenotipo»: es el error que la variante de lactasa ilustra mejor.</a:t>
            </a:r>
            <a:endParaRPr lang="en-US" sz="1900" dirty="0"/>
          </a:p>
        </p:txBody>
      </p:sp>
      <p:sp>
        <p:nvSpPr>
          <p:cNvPr id="17" name="vineta"/>
          <p:cNvSpPr/>
          <p:nvPr/>
        </p:nvSpPr>
        <p:spPr>
          <a:xfrm>
            <a:off x="6333592" y="389483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761232"/>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«p pequeño = efecto grande»: el p depende también del tamaño de muestra; el efecto se lee en el OR o beta.</a:t>
            </a:r>
            <a:endParaRPr lang="en-US" sz="1900" dirty="0"/>
          </a:p>
        </p:txBody>
      </p:sp>
      <p:sp>
        <p:nvSpPr>
          <p:cNvPr id="19" name="vineta"/>
          <p:cNvSpPr/>
          <p:nvPr/>
        </p:nvSpPr>
        <p:spPr>
          <a:xfrm>
            <a:off x="6333592" y="488238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748784"/>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«Solo missense»: la mayoría de las variantes de GWAS son no codificantes.</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7680960" cy="1463040"/>
          </a:xfrm>
          <a:prstGeom prst="rect">
            <a:avLst/>
          </a:prstGeom>
          <a:noFill/>
          <a:ln/>
        </p:spPr>
        <p:txBody>
          <a:bodyPr wrap="square" rtlCol="0" anchor="b"/>
          <a:lstStyle/>
          <a:p>
            <a:pPr indent="0" marL="0">
              <a:buNone/>
            </a:pPr>
            <a:r>
              <a:rPr lang="en-US" sz="4000" b="1" dirty="0">
                <a:solidFill>
                  <a:schemeClr val="bg1"/>
                </a:solidFill>
                <a:latin typeface="Cambria" pitchFamily="34" charset="0"/>
                <a:ea typeface="Cambria" pitchFamily="34" charset="-122"/>
                <a:cs typeface="Cambria" pitchFamily="34" charset="-120"/>
              </a:rPr>
              <a:t>Bloque 4</a:t>
            </a:r>
            <a:endParaRPr lang="en-US" sz="4000" dirty="0"/>
          </a:p>
          <a:p>
            <a:pPr indent="0" marL="0">
              <a:buNone/>
            </a:pPr>
            <a:r>
              <a:rPr lang="en-US" sz="4000" b="1" dirty="0">
                <a:solidFill>
                  <a:schemeClr val="bg1"/>
                </a:solidFill>
                <a:latin typeface="Cambria" pitchFamily="34" charset="0"/>
                <a:ea typeface="Cambria" pitchFamily="34" charset="-122"/>
                <a:cs typeface="Cambria" pitchFamily="34" charset="-120"/>
              </a:rPr>
              <a:t>Cálculo químico-enzimático, capacidad antioxidante y troubleshooting</a:t>
            </a:r>
            <a:endParaRPr lang="en-US" sz="4000" dirty="0"/>
          </a:p>
        </p:txBody>
      </p:sp>
      <p:sp>
        <p:nvSpPr>
          <p:cNvPr id="3" name="Text 0"/>
          <p:cNvSpPr/>
          <p:nvPr>
            <p:ph idx="101" type="body" hasCustomPrompt="1"/>
          </p:nvPr>
        </p:nvSpPr>
        <p:spPr>
          <a:xfrm>
            <a:off x="548640" y="3108960"/>
            <a:ext cx="7315200" cy="2743200"/>
          </a:xfrm>
          <a:prstGeom prst="rect">
            <a:avLst/>
          </a:prstGeom>
          <a:noFill/>
          <a:ln/>
        </p:spPr>
        <p:txBody>
          <a:bodyPr wrap="square" rtlCol="0" anchor="t"/>
          <a:lstStyle/>
          <a:p>
            <a:pPr indent="0" marL="0">
              <a:buNone/>
            </a:pPr>
            <a:r>
              <a:rPr lang="en-US" sz="1800" dirty="0">
                <a:solidFill>
                  <a:schemeClr val="bg2"/>
                </a:solidFill>
              </a:rPr>
              <a:t>DPPH con blanco · IC₅₀ · FRAP · Catalasa · SOD · Troubleshooting de laboratorio</a:t>
            </a:r>
            <a:endParaRPr lang="en-US" sz="1800" dirty="0"/>
          </a:p>
        </p:txBody>
      </p:sp>
      <p:sp>
        <p:nvSpPr>
          <p:cNvPr id="4" name="circulo bloque"/>
          <p:cNvSpPr/>
          <p:nvPr/>
        </p:nvSpPr>
        <p:spPr>
          <a:xfrm>
            <a:off x="8732520" y="1600200"/>
            <a:ext cx="2651760" cy="2651760"/>
          </a:xfrm>
          <a:prstGeom prst="ellipse">
            <a:avLst/>
          </a:prstGeom>
          <a:solidFill>
            <a:schemeClr val="accent1"/>
          </a:solidFill>
          <a:ln w="12700">
            <a:solidFill>
              <a:schemeClr val="accent1"/>
            </a:solidFill>
            <a:prstDash val="solid"/>
          </a:ln>
        </p:spPr>
      </p:sp>
      <p:pic>
        <p:nvPicPr>
          <p:cNvPr id="5" name="Image 0" descr="Cálculo químico-enzimático, capacidad antioxidante y troubleshooting">    </p:cNvPr>
          <p:cNvPicPr>
            <a:picLocks noChangeAspect="1"/>
          </p:cNvPicPr>
          <p:nvPr/>
        </p:nvPicPr>
        <p:blipFill>
          <a:blip r:embed="rId1"/>
          <a:stretch>
            <a:fillRect/>
          </a:stretch>
        </p:blipFill>
        <p:spPr>
          <a:xfrm>
            <a:off x="9464040" y="2331720"/>
            <a:ext cx="1188720" cy="1188720"/>
          </a:xfrm>
          <a:prstGeom prst="rect">
            <a:avLst/>
          </a:prstGeom>
        </p:spPr>
      </p:pic>
      <p:sp>
        <p:nvSpPr>
          <p:cNvPr id="6" name="peso"/>
          <p:cNvSpPr txBox="1"/>
          <p:nvPr/>
        </p:nvSpPr>
        <p:spPr>
          <a:xfrm>
            <a:off x="8458200" y="4434840"/>
            <a:ext cx="3200400" cy="1097280"/>
          </a:xfrm>
          <a:prstGeom prst="rect">
            <a:avLst/>
          </a:prstGeom>
          <a:noFill/>
          <a:ln/>
        </p:spPr>
        <p:txBody>
          <a:bodyPr wrap="square" lIns="0" tIns="0" rIns="0" bIns="0" rtlCol="0" anchor="t"/>
          <a:lstStyle/>
          <a:p>
            <a:pPr algn="ctr" indent="0" marL="0">
              <a:buNone/>
            </a:pPr>
            <a:r>
              <a:rPr lang="en-US" sz="4000" b="1" dirty="0">
                <a:solidFill>
                  <a:schemeClr val="bg1"/>
                </a:solidFill>
              </a:rPr>
              <a:t>20 %</a:t>
            </a:r>
            <a:endParaRPr lang="en-US" sz="4000" dirty="0"/>
          </a:p>
          <a:p>
            <a:pPr algn="ctr" indent="0" marL="0">
              <a:buNone/>
            </a:pPr>
            <a:r>
              <a:rPr lang="en-US" sz="1600" dirty="0">
                <a:solidFill>
                  <a:schemeClr val="bg1"/>
                </a:solidFill>
              </a:rPr>
              <a:t>10 reactivos</a:t>
            </a:r>
            <a:endParaRPr lang="en-US" sz="4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B4-1 · Porcentaje de inhibición de DPPH</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4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Cálculo</a:t>
            </a:r>
            <a:endParaRPr lang="en-US" sz="1100" dirty="0"/>
          </a:p>
        </p:txBody>
      </p:sp>
      <p:sp>
        <p:nvSpPr>
          <p:cNvPr id="5" name="texto"/>
          <p:cNvSpPr txBox="1"/>
          <p:nvPr/>
        </p:nvSpPr>
        <p:spPr>
          <a:xfrm>
            <a:off x="548640" y="1371600"/>
            <a:ext cx="11094415" cy="368808"/>
          </a:xfrm>
          <a:prstGeom prst="rect">
            <a:avLst/>
          </a:prstGeom>
          <a:noFill/>
          <a:ln/>
        </p:spPr>
        <p:txBody>
          <a:bodyPr wrap="square" lIns="254" tIns="254" rIns="254" bIns="254" rtlCol="0" anchor="t"/>
          <a:lstStyle/>
          <a:p>
            <a:pPr indent="0" marL="0">
              <a:buNone/>
            </a:pPr>
            <a:r>
              <a:rPr lang="en-US" sz="2000" dirty="0">
                <a:solidFill>
                  <a:schemeClr val="tx1"/>
                </a:solidFill>
              </a:rPr>
              <a:t>Extracto de jamaica a 50 µg/mL:</a:t>
            </a:r>
            <a:endParaRPr lang="en-US" sz="2000" dirty="0"/>
          </a:p>
        </p:txBody>
      </p:sp>
      <p:graphicFrame>
        <p:nvGraphicFramePr>
          <p:cNvPr id="75" name="tabla"/>
          <p:cNvGraphicFramePr>
            <a:graphicFrameLocks noGrp="1"/>
          </p:cNvGraphicFramePr>
          <p:nvPr>
            <p:extLst>
              <p:ext uri="{D42A27DB-BD31-4B8C-83A1-F6EECF244321}">
                <p14:modId xmlns:p14="http://schemas.microsoft.com/office/powerpoint/2010/main" val="1579011935"/>
              </p:ext>
            </p:extLst>
          </p:nvPr>
        </p:nvGraphicFramePr>
        <p:xfrm>
          <a:off x="548640" y="1813560"/>
          <a:ext cx="4389120" cy="914400"/>
        </p:xfrm>
        <a:graphic>
          <a:graphicData uri="http://schemas.openxmlformats.org/drawingml/2006/table">
            <a:tbl>
              <a:tblPr/>
              <a:tblGrid>
                <a:gridCol w="2194560"/>
                <a:gridCol w="2194560"/>
              </a:tblGrid>
              <a:tr h="0">
                <a:tc>
                  <a:txBody>
                    <a:bodyPr/>
                    <a:lstStyle/>
                    <a:p>
                      <a:pPr indent="0" marL="0">
                        <a:buNone/>
                      </a:pPr>
                      <a:r>
                        <a:rPr lang="en-US" sz="1900" b="1" dirty="0">
                          <a:solidFill>
                            <a:schemeClr val="tx1"/>
                          </a:solidFill>
                        </a:rPr>
                        <a:t>Lectura</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EEF4F3"/>
                    </a:solidFill>
                  </a:tcPr>
                </a:tc>
                <a:tc>
                  <a:txBody>
                    <a:bodyPr/>
                    <a:lstStyle/>
                    <a:p>
                      <a:pPr indent="0" marL="0">
                        <a:buNone/>
                      </a:pPr>
                      <a:r>
                        <a:rPr lang="en-US" sz="1900" b="1" dirty="0">
                          <a:solidFill>
                            <a:schemeClr val="tx1"/>
                          </a:solidFill>
                        </a:rPr>
                        <a:t>A</a:t>
                      </a:r>
                      <a:pPr indent="0" marL="0">
                        <a:buNone/>
                      </a:pPr>
                      <a:r>
                        <a:rPr lang="en-US" sz="1900" b="1" baseline="-40000" dirty="0">
                          <a:solidFill>
                            <a:schemeClr val="tx1"/>
                          </a:solidFill>
                        </a:rPr>
                        <a:t>517</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EEF4F3"/>
                    </a:solidFill>
                  </a:tcPr>
                </a:tc>
              </a:tr>
              <a:tr h="0">
                <a:tc>
                  <a:txBody>
                    <a:bodyPr/>
                    <a:lstStyle/>
                    <a:p>
                      <a:pPr indent="0" marL="0">
                        <a:buNone/>
                      </a:pPr>
                      <a:r>
                        <a:rPr lang="en-US" sz="1900" dirty="0">
                          <a:solidFill>
                            <a:schemeClr val="tx1"/>
                          </a:solidFill>
                        </a:rPr>
                        <a:t>Control (DPPH + metanol)</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rPr>
                        <a:t>0.950</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r h="0">
                <a:tc>
                  <a:txBody>
                    <a:bodyPr/>
                    <a:lstStyle/>
                    <a:p>
                      <a:pPr indent="0" marL="0">
                        <a:buNone/>
                      </a:pPr>
                      <a:r>
                        <a:rPr lang="en-US" sz="1900" dirty="0">
                          <a:solidFill>
                            <a:schemeClr val="tx1"/>
                          </a:solidFill>
                        </a:rPr>
                        <a:t>Muestra + DPPH</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rPr>
                        <a:t>0.512</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r h="0">
                <a:tc>
                  <a:txBody>
                    <a:bodyPr/>
                    <a:lstStyle/>
                    <a:p>
                      <a:pPr indent="0" marL="0">
                        <a:buNone/>
                      </a:pPr>
                      <a:r>
                        <a:rPr lang="en-US" sz="1900" dirty="0">
                          <a:solidFill>
                            <a:schemeClr val="tx1"/>
                          </a:solidFill>
                        </a:rPr>
                        <a:t>Blanco de muestra (extracto sin DPPH)</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rPr>
                        <a:t>0.037</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bl>
          </a:graphicData>
        </a:graphic>
      </p:graphicFrame>
      <p:sp>
        <p:nvSpPr>
          <p:cNvPr id="7" name="texto"/>
          <p:cNvSpPr txBox="1"/>
          <p:nvPr/>
        </p:nvSpPr>
        <p:spPr>
          <a:xfrm>
            <a:off x="548640" y="4599432"/>
            <a:ext cx="11094415" cy="368808"/>
          </a:xfrm>
          <a:prstGeom prst="rect">
            <a:avLst/>
          </a:prstGeom>
          <a:noFill/>
          <a:ln/>
        </p:spPr>
        <p:txBody>
          <a:bodyPr wrap="square" lIns="254" tIns="254" rIns="254" bIns="254" rtlCol="0" anchor="t"/>
          <a:lstStyle/>
          <a:p>
            <a:pPr indent="0" marL="0">
              <a:buNone/>
            </a:pPr>
            <a:r>
              <a:rPr lang="en-US" sz="2000" dirty="0">
                <a:solidFill>
                  <a:schemeClr val="tx1"/>
                </a:solidFill>
              </a:rPr>
              <a:t>Calcula el porcentaje de inhibición (una cifra decimal).</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B4-1 · Porcentaje de inhibición de DPPH</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4 · Respuesta</a:t>
            </a:r>
            <a:endParaRPr lang="en-US" sz="1100" dirty="0"/>
          </a:p>
        </p:txBody>
      </p:sp>
      <p:sp>
        <p:nvSpPr>
          <p:cNvPr id="4" name="caja respuesta"/>
          <p:cNvSpPr/>
          <p:nvPr/>
        </p:nvSpPr>
        <p:spPr>
          <a:xfrm>
            <a:off x="548640" y="1371600"/>
            <a:ext cx="11094415" cy="868680"/>
          </a:xfrm>
          <a:prstGeom prst="roundRect">
            <a:avLst>
              <a:gd name="adj" fmla="val 12632"/>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722376"/>
          </a:xfrm>
          <a:prstGeom prst="rect">
            <a:avLst/>
          </a:prstGeom>
          <a:noFill/>
          <a:ln/>
        </p:spPr>
        <p:txBody>
          <a:bodyPr wrap="square" lIns="254" tIns="254" rIns="254" bIns="254" rtlCol="0" anchor="ctr"/>
          <a:lstStyle/>
          <a:p>
            <a:pPr indent="0" marL="0">
              <a:buNone/>
            </a:pPr>
            <a:r>
              <a:rPr lang="en-US" sz="3600" b="1" dirty="0">
                <a:solidFill>
                  <a:schemeClr val="tx1"/>
                </a:solidFill>
              </a:rPr>
              <a:t>50.0</a:t>
            </a:r>
            <a:pPr indent="0" marL="0">
              <a:buNone/>
            </a:pPr>
            <a:r>
              <a:rPr lang="en-US" sz="1400" dirty="0">
                <a:solidFill>
                  <a:schemeClr val="accent6"/>
                </a:solidFill>
              </a:rPr>
              <a:t>   (se acepta ± 0.5)</a:t>
            </a:r>
            <a:endParaRPr lang="en-US" sz="3600" dirty="0"/>
          </a:p>
        </p:txBody>
      </p:sp>
      <p:sp>
        <p:nvSpPr>
          <p:cNvPr id="8" name="circulo icono"/>
          <p:cNvSpPr/>
          <p:nvPr/>
        </p:nvSpPr>
        <p:spPr>
          <a:xfrm>
            <a:off x="548640" y="2468880"/>
            <a:ext cx="329184" cy="329184"/>
          </a:xfrm>
          <a:prstGeom prst="ellipse">
            <a:avLst/>
          </a:prstGeom>
          <a:solidFill>
            <a:schemeClr val="accent4"/>
          </a:solidFill>
          <a:ln w="12700">
            <a:solidFill>
              <a:schemeClr val="accent4"/>
            </a:solidFill>
            <a:prstDash val="solid"/>
          </a:ln>
        </p:spPr>
      </p:sp>
      <p:pic>
        <p:nvPicPr>
          <p:cNvPr id="9" name="Image 1" descr="Explicación">    </p:cNvPr>
          <p:cNvPicPr>
            <a:picLocks noChangeAspect="1"/>
          </p:cNvPicPr>
          <p:nvPr/>
        </p:nvPicPr>
        <p:blipFill>
          <a:blip r:embed="rId2"/>
          <a:stretch>
            <a:fillRect/>
          </a:stretch>
        </p:blipFill>
        <p:spPr>
          <a:xfrm>
            <a:off x="630936" y="2551176"/>
            <a:ext cx="164592" cy="164592"/>
          </a:xfrm>
          <a:prstGeom prst="rect">
            <a:avLst/>
          </a:prstGeom>
        </p:spPr>
      </p:pic>
      <p:sp>
        <p:nvSpPr>
          <p:cNvPr id="10" name="subtitulo"/>
          <p:cNvSpPr txBox="1"/>
          <p:nvPr/>
        </p:nvSpPr>
        <p:spPr>
          <a:xfrm>
            <a:off x="987552" y="2468880"/>
            <a:ext cx="10655503" cy="329184"/>
          </a:xfrm>
          <a:prstGeom prst="rect">
            <a:avLst/>
          </a:prstGeom>
          <a:noFill/>
          <a:ln/>
        </p:spPr>
        <p:txBody>
          <a:bodyPr wrap="square" lIns="0" tIns="0" rIns="0" bIns="0" rtlCol="0" anchor="ctr"/>
          <a:lstStyle/>
          <a:p>
            <a:pPr indent="0" marL="0">
              <a:buNone/>
            </a:pPr>
            <a:r>
              <a:rPr lang="en-US" sz="1600" b="1" dirty="0">
                <a:solidFill>
                  <a:schemeClr val="tx2"/>
                </a:solidFill>
              </a:rPr>
              <a:t>Explicación</a:t>
            </a:r>
            <a:endParaRPr lang="en-US" sz="1600" dirty="0"/>
          </a:p>
        </p:txBody>
      </p:sp>
      <p:sp>
        <p:nvSpPr>
          <p:cNvPr id="11" name="texto"/>
          <p:cNvSpPr txBox="1"/>
          <p:nvPr/>
        </p:nvSpPr>
        <p:spPr>
          <a:xfrm>
            <a:off x="548640" y="2926080"/>
            <a:ext cx="11094415" cy="932688"/>
          </a:xfrm>
          <a:prstGeom prst="rect">
            <a:avLst/>
          </a:prstGeom>
          <a:noFill/>
          <a:ln/>
        </p:spPr>
        <p:txBody>
          <a:bodyPr wrap="square" lIns="254" tIns="254" rIns="254" bIns="254" rtlCol="0" anchor="t"/>
          <a:lstStyle/>
          <a:p>
            <a:pPr indent="0" marL="0">
              <a:buNone/>
            </a:pPr>
            <a:r>
              <a:rPr lang="en-US" sz="1900" dirty="0">
                <a:solidFill>
                  <a:schemeClr val="tx1"/>
                </a:solidFill>
              </a:rPr>
              <a:t>A muestra corregida = 0.512 − 0.037 = 0.475. % = (0.950 − 0.475)/0.950 × 100 = </a:t>
            </a:r>
            <a:pPr indent="0" marL="0">
              <a:buNone/>
            </a:pPr>
            <a:r>
              <a:rPr lang="en-US" sz="1900" b="1" dirty="0">
                <a:solidFill>
                  <a:schemeClr val="tx1"/>
                </a:solidFill>
              </a:rPr>
              <a:t>50.0 %</a:t>
            </a:r>
            <a:pPr indent="0" marL="0">
              <a:buNone/>
            </a:pPr>
            <a:r>
              <a:rPr lang="en-US" sz="1900" dirty="0">
                <a:solidFill>
                  <a:schemeClr val="tx1"/>
                </a:solidFill>
              </a:rPr>
              <a:t>. Sin restar el blanco saldría 46.1 %: las antocianinas absorben cerca de 517 nm y harían parecer al extracto menos activo.</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B4-2 · IC50 con tabla de absorbancias</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4 · 3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Cálculo</a:t>
            </a:r>
            <a:endParaRPr lang="en-US" sz="1100" dirty="0"/>
          </a:p>
        </p:txBody>
      </p:sp>
      <p:sp>
        <p:nvSpPr>
          <p:cNvPr id="5" name="texto"/>
          <p:cNvSpPr txBox="1"/>
          <p:nvPr/>
        </p:nvSpPr>
        <p:spPr>
          <a:xfrm>
            <a:off x="548640" y="1371600"/>
            <a:ext cx="11094415" cy="368808"/>
          </a:xfrm>
          <a:prstGeom prst="rect">
            <a:avLst/>
          </a:prstGeom>
          <a:noFill/>
          <a:ln/>
        </p:spPr>
        <p:txBody>
          <a:bodyPr wrap="square" lIns="254" tIns="254" rIns="254" bIns="254" rtlCol="0" anchor="t"/>
          <a:lstStyle/>
          <a:p>
            <a:pPr indent="0" marL="0">
              <a:buNone/>
            </a:pPr>
            <a:r>
              <a:rPr lang="en-US" sz="2000" dirty="0">
                <a:solidFill>
                  <a:schemeClr val="tx1"/>
                </a:solidFill>
              </a:rPr>
              <a:t>Extracto de cáscara de granada. A</a:t>
            </a:r>
            <a:pPr indent="0" marL="0">
              <a:buNone/>
            </a:pPr>
            <a:r>
              <a:rPr lang="en-US" sz="2000" baseline="-40000" dirty="0">
                <a:solidFill>
                  <a:schemeClr val="tx1"/>
                </a:solidFill>
              </a:rPr>
              <a:t>517</a:t>
            </a:r>
            <a:pPr indent="0" marL="0">
              <a:buNone/>
            </a:pPr>
            <a:r>
              <a:rPr lang="en-US" sz="2000" dirty="0">
                <a:solidFill>
                  <a:schemeClr val="tx1"/>
                </a:solidFill>
              </a:rPr>
              <a:t> del control (DPPH + metanol) = 0.880.</a:t>
            </a:r>
            <a:endParaRPr lang="en-US" sz="2000" dirty="0"/>
          </a:p>
        </p:txBody>
      </p:sp>
      <p:graphicFrame>
        <p:nvGraphicFramePr>
          <p:cNvPr id="77" name="tabla"/>
          <p:cNvGraphicFramePr>
            <a:graphicFrameLocks noGrp="1"/>
          </p:cNvGraphicFramePr>
          <p:nvPr>
            <p:extLst>
              <p:ext uri="{D42A27DB-BD31-4B8C-83A1-F6EECF244321}">
                <p14:modId xmlns:p14="http://schemas.microsoft.com/office/powerpoint/2010/main" val="1579011935"/>
              </p:ext>
            </p:extLst>
          </p:nvPr>
        </p:nvGraphicFramePr>
        <p:xfrm>
          <a:off x="548640" y="1813560"/>
          <a:ext cx="6583680" cy="914400"/>
        </p:xfrm>
        <a:graphic>
          <a:graphicData uri="http://schemas.openxmlformats.org/drawingml/2006/table">
            <a:tbl>
              <a:tblPr/>
              <a:tblGrid>
                <a:gridCol w="2194560"/>
                <a:gridCol w="2194560"/>
                <a:gridCol w="2194560"/>
              </a:tblGrid>
              <a:tr h="0">
                <a:tc>
                  <a:txBody>
                    <a:bodyPr/>
                    <a:lstStyle/>
                    <a:p>
                      <a:pPr indent="0" marL="0">
                        <a:buNone/>
                      </a:pPr>
                      <a:r>
                        <a:rPr lang="en-US" sz="1900" b="1" dirty="0">
                          <a:solidFill>
                            <a:schemeClr val="tx1"/>
                          </a:solidFill>
                        </a:rPr>
                        <a:t>µg/mL</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EEF4F3"/>
                    </a:solidFill>
                  </a:tcPr>
                </a:tc>
                <a:tc>
                  <a:txBody>
                    <a:bodyPr/>
                    <a:lstStyle/>
                    <a:p>
                      <a:pPr indent="0" marL="0">
                        <a:buNone/>
                      </a:pPr>
                      <a:r>
                        <a:rPr lang="en-US" sz="1900" b="1" dirty="0">
                          <a:solidFill>
                            <a:schemeClr val="tx1"/>
                          </a:solidFill>
                        </a:rPr>
                        <a:t>A muestra + DPPH</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EEF4F3"/>
                    </a:solidFill>
                  </a:tcPr>
                </a:tc>
                <a:tc>
                  <a:txBody>
                    <a:bodyPr/>
                    <a:lstStyle/>
                    <a:p>
                      <a:pPr indent="0" marL="0">
                        <a:buNone/>
                      </a:pPr>
                      <a:r>
                        <a:rPr lang="en-US" sz="1900" b="1" dirty="0">
                          <a:solidFill>
                            <a:schemeClr val="tx1"/>
                          </a:solidFill>
                        </a:rPr>
                        <a:t>A blanco de muestra</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EEF4F3"/>
                    </a:solidFill>
                  </a:tcPr>
                </a:tc>
              </a:tr>
              <a:tr h="0">
                <a:tc>
                  <a:txBody>
                    <a:bodyPr/>
                    <a:lstStyle/>
                    <a:p>
                      <a:pPr indent="0" marL="0">
                        <a:buNone/>
                      </a:pPr>
                      <a:r>
                        <a:rPr lang="en-US" sz="1900" dirty="0">
                          <a:solidFill>
                            <a:schemeClr val="tx1"/>
                          </a:solidFill>
                        </a:rPr>
                        <a:t>10</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rPr>
                        <a:t>0.681</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rPr>
                        <a:t>0.012</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r h="0">
                <a:tc>
                  <a:txBody>
                    <a:bodyPr/>
                    <a:lstStyle/>
                    <a:p>
                      <a:pPr indent="0" marL="0">
                        <a:buNone/>
                      </a:pPr>
                      <a:r>
                        <a:rPr lang="en-US" sz="1900" dirty="0">
                          <a:solidFill>
                            <a:schemeClr val="tx1"/>
                          </a:solidFill>
                        </a:rPr>
                        <a:t>20</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rPr>
                        <a:t>0.557</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rPr>
                        <a:t>0.020</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r h="0">
                <a:tc>
                  <a:txBody>
                    <a:bodyPr/>
                    <a:lstStyle/>
                    <a:p>
                      <a:pPr indent="0" marL="0">
                        <a:buNone/>
                      </a:pPr>
                      <a:r>
                        <a:rPr lang="en-US" sz="1900" dirty="0">
                          <a:solidFill>
                            <a:schemeClr val="tx1"/>
                          </a:solidFill>
                        </a:rPr>
                        <a:t>40</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rPr>
                        <a:t>0.405</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rPr>
                        <a:t>0.035</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r h="0">
                <a:tc>
                  <a:txBody>
                    <a:bodyPr/>
                    <a:lstStyle/>
                    <a:p>
                      <a:pPr indent="0" marL="0">
                        <a:buNone/>
                      </a:pPr>
                      <a:r>
                        <a:rPr lang="en-US" sz="1900" dirty="0">
                          <a:solidFill>
                            <a:schemeClr val="tx1"/>
                          </a:solidFill>
                        </a:rPr>
                        <a:t>80</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rPr>
                        <a:t>0.264</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rPr>
                        <a:t>0.062</a:t>
                      </a:r>
                      <a:endParaRPr lang="en-US" sz="19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bl>
          </a:graphicData>
        </a:graphic>
      </p:graphicFrame>
      <p:sp>
        <p:nvSpPr>
          <p:cNvPr id="7" name="texto"/>
          <p:cNvSpPr txBox="1"/>
          <p:nvPr/>
        </p:nvSpPr>
        <p:spPr>
          <a:xfrm>
            <a:off x="548640" y="4465320"/>
            <a:ext cx="11094415" cy="673608"/>
          </a:xfrm>
          <a:prstGeom prst="rect">
            <a:avLst/>
          </a:prstGeom>
          <a:noFill/>
          <a:ln/>
        </p:spPr>
        <p:txBody>
          <a:bodyPr wrap="square" lIns="254" tIns="254" rIns="254" bIns="254" rtlCol="0" anchor="t"/>
          <a:lstStyle/>
          <a:p>
            <a:pPr indent="0" marL="0">
              <a:buNone/>
            </a:pPr>
            <a:r>
              <a:rPr lang="en-US" sz="2000" dirty="0">
                <a:solidFill>
                  <a:schemeClr val="tx1"/>
                </a:solidFill>
              </a:rPr>
              <a:t>Calcula el % de inhibición de cada concentración (restando el blanco) y estima la IC</a:t>
            </a:r>
            <a:pPr indent="0" marL="0">
              <a:buNone/>
            </a:pPr>
            <a:r>
              <a:rPr lang="en-US" sz="2000" baseline="-40000" dirty="0">
                <a:solidFill>
                  <a:schemeClr val="tx1"/>
                </a:solidFill>
              </a:rPr>
              <a:t>50</a:t>
            </a:r>
            <a:pPr indent="0" marL="0">
              <a:buNone/>
            </a:pPr>
            <a:r>
              <a:rPr lang="en-US" sz="2000" dirty="0">
                <a:solidFill>
                  <a:schemeClr val="tx1"/>
                </a:solidFill>
              </a:rPr>
              <a:t> por interpolación lineal entre los dos puntos que rodean al 50 % (µg/mL, una cifra decimal).</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B4-2 · IC50 con tabla de absorbancias</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4 · Respuesta</a:t>
            </a:r>
            <a:endParaRPr lang="en-US" sz="1100" dirty="0"/>
          </a:p>
        </p:txBody>
      </p:sp>
      <p:sp>
        <p:nvSpPr>
          <p:cNvPr id="4" name="caja respuesta"/>
          <p:cNvSpPr/>
          <p:nvPr/>
        </p:nvSpPr>
        <p:spPr>
          <a:xfrm>
            <a:off x="548640" y="1371600"/>
            <a:ext cx="11094415" cy="868680"/>
          </a:xfrm>
          <a:prstGeom prst="roundRect">
            <a:avLst>
              <a:gd name="adj" fmla="val 12632"/>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722376"/>
          </a:xfrm>
          <a:prstGeom prst="rect">
            <a:avLst/>
          </a:prstGeom>
          <a:noFill/>
          <a:ln/>
        </p:spPr>
        <p:txBody>
          <a:bodyPr wrap="square" lIns="254" tIns="254" rIns="254" bIns="254" rtlCol="0" anchor="ctr"/>
          <a:lstStyle/>
          <a:p>
            <a:pPr indent="0" marL="0">
              <a:buNone/>
            </a:pPr>
            <a:r>
              <a:rPr lang="en-US" sz="3600" b="1" dirty="0">
                <a:solidFill>
                  <a:schemeClr val="tx1"/>
                </a:solidFill>
              </a:rPr>
              <a:t>31.6</a:t>
            </a:r>
            <a:pPr indent="0" marL="0">
              <a:buNone/>
            </a:pPr>
            <a:r>
              <a:rPr lang="en-US" sz="1400" dirty="0">
                <a:solidFill>
                  <a:schemeClr val="accent6"/>
                </a:solidFill>
              </a:rPr>
              <a:t>   (se acepta ± 0.6)</a:t>
            </a:r>
            <a:endParaRPr lang="en-US" sz="3600" dirty="0"/>
          </a:p>
        </p:txBody>
      </p:sp>
      <p:sp>
        <p:nvSpPr>
          <p:cNvPr id="8" name="circulo icono"/>
          <p:cNvSpPr/>
          <p:nvPr/>
        </p:nvSpPr>
        <p:spPr>
          <a:xfrm>
            <a:off x="548640" y="2468880"/>
            <a:ext cx="329184" cy="329184"/>
          </a:xfrm>
          <a:prstGeom prst="ellipse">
            <a:avLst/>
          </a:prstGeom>
          <a:solidFill>
            <a:schemeClr val="accent4"/>
          </a:solidFill>
          <a:ln w="12700">
            <a:solidFill>
              <a:schemeClr val="accent4"/>
            </a:solidFill>
            <a:prstDash val="solid"/>
          </a:ln>
        </p:spPr>
      </p:sp>
      <p:pic>
        <p:nvPicPr>
          <p:cNvPr id="9" name="Image 1" descr="Explicación">    </p:cNvPr>
          <p:cNvPicPr>
            <a:picLocks noChangeAspect="1"/>
          </p:cNvPicPr>
          <p:nvPr/>
        </p:nvPicPr>
        <p:blipFill>
          <a:blip r:embed="rId2"/>
          <a:stretch>
            <a:fillRect/>
          </a:stretch>
        </p:blipFill>
        <p:spPr>
          <a:xfrm>
            <a:off x="630936" y="2551176"/>
            <a:ext cx="164592" cy="164592"/>
          </a:xfrm>
          <a:prstGeom prst="rect">
            <a:avLst/>
          </a:prstGeom>
        </p:spPr>
      </p:pic>
      <p:sp>
        <p:nvSpPr>
          <p:cNvPr id="10" name="subtitulo"/>
          <p:cNvSpPr txBox="1"/>
          <p:nvPr/>
        </p:nvSpPr>
        <p:spPr>
          <a:xfrm>
            <a:off x="987552" y="2468880"/>
            <a:ext cx="10655503" cy="329184"/>
          </a:xfrm>
          <a:prstGeom prst="rect">
            <a:avLst/>
          </a:prstGeom>
          <a:noFill/>
          <a:ln/>
        </p:spPr>
        <p:txBody>
          <a:bodyPr wrap="square" lIns="0" tIns="0" rIns="0" bIns="0" rtlCol="0" anchor="ctr"/>
          <a:lstStyle/>
          <a:p>
            <a:pPr indent="0" marL="0">
              <a:buNone/>
            </a:pPr>
            <a:r>
              <a:rPr lang="en-US" sz="1600" b="1" dirty="0">
                <a:solidFill>
                  <a:schemeClr val="tx2"/>
                </a:solidFill>
              </a:rPr>
              <a:t>Explicación</a:t>
            </a:r>
            <a:endParaRPr lang="en-US" sz="1600" dirty="0"/>
          </a:p>
        </p:txBody>
      </p:sp>
      <p:sp>
        <p:nvSpPr>
          <p:cNvPr id="11" name="texto"/>
          <p:cNvSpPr txBox="1"/>
          <p:nvPr/>
        </p:nvSpPr>
        <p:spPr>
          <a:xfrm>
            <a:off x="548640" y="2926080"/>
            <a:ext cx="11094415" cy="932688"/>
          </a:xfrm>
          <a:prstGeom prst="rect">
            <a:avLst/>
          </a:prstGeom>
          <a:noFill/>
          <a:ln/>
        </p:spPr>
        <p:txBody>
          <a:bodyPr wrap="square" lIns="254" tIns="254" rIns="254" bIns="254" rtlCol="0" anchor="t"/>
          <a:lstStyle/>
          <a:p>
            <a:pPr indent="0" marL="0">
              <a:buNone/>
            </a:pPr>
            <a:r>
              <a:rPr lang="en-US" sz="1900" dirty="0">
                <a:solidFill>
                  <a:schemeClr val="tx1"/>
                </a:solidFill>
              </a:rPr>
              <a:t>% corregidos: 10 → 24.0; 20 → 39.0; 40 → 58.0; 80 → 77.0. El 50 % está entre 20 y 40 µg/mL. IC</a:t>
            </a:r>
            <a:pPr indent="0" marL="0">
              <a:buNone/>
            </a:pPr>
            <a:r>
              <a:rPr lang="en-US" sz="1900" baseline="-40000" dirty="0">
                <a:solidFill>
                  <a:schemeClr val="tx1"/>
                </a:solidFill>
              </a:rPr>
              <a:t>50</a:t>
            </a:r>
            <a:pPr indent="0" marL="0">
              <a:buNone/>
            </a:pPr>
            <a:r>
              <a:rPr lang="en-US" sz="1900" dirty="0">
                <a:solidFill>
                  <a:schemeClr val="tx1"/>
                </a:solidFill>
              </a:rPr>
              <a:t> = 20 + (50 − 39.0)/(58.0 − 39.0) × 20 = </a:t>
            </a:r>
            <a:pPr indent="0" marL="0">
              <a:buNone/>
            </a:pPr>
            <a:r>
              <a:rPr lang="en-US" sz="1900" b="1" dirty="0">
                <a:solidFill>
                  <a:schemeClr val="tx1"/>
                </a:solidFill>
              </a:rPr>
              <a:t>31.6 µg/mL</a:t>
            </a:r>
            <a:pPr indent="0" marL="0">
              <a:buNone/>
            </a:pPr>
            <a:r>
              <a:rPr lang="en-US" sz="1900" dirty="0">
                <a:solidFill>
                  <a:schemeClr val="tx1"/>
                </a:solidFill>
              </a:rPr>
              <a:t>. Sin restar el blanco se obtendría ≈ 35.4 µg/mL: el error sobreestima la IC</a:t>
            </a:r>
            <a:pPr indent="0" marL="0">
              <a:buNone/>
            </a:pPr>
            <a:r>
              <a:rPr lang="en-US" sz="1900" baseline="-40000" dirty="0">
                <a:solidFill>
                  <a:schemeClr val="tx1"/>
                </a:solidFill>
              </a:rPr>
              <a:t>50</a:t>
            </a:r>
            <a:pPr indent="0" marL="0">
              <a:buNone/>
            </a:pPr>
            <a:r>
              <a:rPr lang="en-US" sz="1900" dirty="0">
                <a:solidFill>
                  <a:schemeClr val="tx1"/>
                </a:solidFill>
              </a:rPr>
              <a:t> y subestima la potencia.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B4-3 · Capacidad antioxidante por FRAP</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4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Cálculo</a:t>
            </a:r>
            <a:endParaRPr lang="en-US" sz="1100" dirty="0"/>
          </a:p>
        </p:txBody>
      </p:sp>
      <p:sp>
        <p:nvSpPr>
          <p:cNvPr id="5" name="texto"/>
          <p:cNvSpPr txBox="1"/>
          <p:nvPr/>
        </p:nvSpPr>
        <p:spPr>
          <a:xfrm>
            <a:off x="548640" y="1371600"/>
            <a:ext cx="11094415" cy="978408"/>
          </a:xfrm>
          <a:prstGeom prst="rect">
            <a:avLst/>
          </a:prstGeom>
          <a:noFill/>
          <a:ln/>
        </p:spPr>
        <p:txBody>
          <a:bodyPr wrap="square" lIns="254" tIns="254" rIns="254" bIns="254" rtlCol="0" anchor="t"/>
          <a:lstStyle/>
          <a:p>
            <a:pPr indent="0" marL="0">
              <a:buNone/>
            </a:pPr>
            <a:r>
              <a:rPr lang="en-US" sz="2000" dirty="0">
                <a:solidFill>
                  <a:schemeClr val="tx1"/>
                </a:solidFill>
              </a:rPr>
              <a:t>Curva de Trolox en FRAP: A</a:t>
            </a:r>
            <a:pPr indent="0" marL="0">
              <a:buNone/>
            </a:pPr>
            <a:r>
              <a:rPr lang="en-US" sz="2000" baseline="-40000" dirty="0">
                <a:solidFill>
                  <a:schemeClr val="tx1"/>
                </a:solidFill>
              </a:rPr>
              <a:t>593</a:t>
            </a:r>
            <a:pPr indent="0" marL="0">
              <a:buNone/>
            </a:pPr>
            <a:r>
              <a:rPr lang="en-US" sz="2000" dirty="0">
                <a:solidFill>
                  <a:schemeClr val="tx1"/>
                </a:solidFill>
              </a:rPr>
              <a:t> = 0.0031·C + 0.008 (C en µM). Se extraen 0.5 g de amaranto en 10 mL; el extracto se diluye 1:10 y da A</a:t>
            </a:r>
            <a:pPr indent="0" marL="0">
              <a:buNone/>
            </a:pPr>
            <a:r>
              <a:rPr lang="en-US" sz="2000" baseline="-40000" dirty="0">
                <a:solidFill>
                  <a:schemeClr val="tx1"/>
                </a:solidFill>
              </a:rPr>
              <a:t>593</a:t>
            </a:r>
            <a:pPr indent="0" marL="0">
              <a:buNone/>
            </a:pPr>
            <a:r>
              <a:rPr lang="en-US" sz="2000" dirty="0">
                <a:solidFill>
                  <a:schemeClr val="tx1"/>
                </a:solidFill>
              </a:rPr>
              <a:t> = 0.597. Calcula la capacidad antioxidante en µmol de equivalentes de Trolox por gramo (µmol TE/g).</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B4-3 · Capacidad antioxidante por FRAP</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4 · Respuesta</a:t>
            </a:r>
            <a:endParaRPr lang="en-US" sz="1100" dirty="0"/>
          </a:p>
        </p:txBody>
      </p:sp>
      <p:sp>
        <p:nvSpPr>
          <p:cNvPr id="4" name="caja respuesta"/>
          <p:cNvSpPr/>
          <p:nvPr/>
        </p:nvSpPr>
        <p:spPr>
          <a:xfrm>
            <a:off x="548640" y="1371600"/>
            <a:ext cx="11094415" cy="868680"/>
          </a:xfrm>
          <a:prstGeom prst="roundRect">
            <a:avLst>
              <a:gd name="adj" fmla="val 12632"/>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722376"/>
          </a:xfrm>
          <a:prstGeom prst="rect">
            <a:avLst/>
          </a:prstGeom>
          <a:noFill/>
          <a:ln/>
        </p:spPr>
        <p:txBody>
          <a:bodyPr wrap="square" lIns="254" tIns="254" rIns="254" bIns="254" rtlCol="0" anchor="ctr"/>
          <a:lstStyle/>
          <a:p>
            <a:pPr indent="0" marL="0">
              <a:buNone/>
            </a:pPr>
            <a:r>
              <a:rPr lang="en-US" sz="3600" b="1" dirty="0">
                <a:solidFill>
                  <a:schemeClr val="tx1"/>
                </a:solidFill>
              </a:rPr>
              <a:t>38.0</a:t>
            </a:r>
            <a:pPr indent="0" marL="0">
              <a:buNone/>
            </a:pPr>
            <a:r>
              <a:rPr lang="en-US" sz="1400" dirty="0">
                <a:solidFill>
                  <a:schemeClr val="accent6"/>
                </a:solidFill>
              </a:rPr>
              <a:t>   (se acepta ± 0.5)</a:t>
            </a:r>
            <a:endParaRPr lang="en-US" sz="3600" dirty="0"/>
          </a:p>
        </p:txBody>
      </p:sp>
      <p:sp>
        <p:nvSpPr>
          <p:cNvPr id="8" name="circulo icono"/>
          <p:cNvSpPr/>
          <p:nvPr/>
        </p:nvSpPr>
        <p:spPr>
          <a:xfrm>
            <a:off x="548640" y="2468880"/>
            <a:ext cx="329184" cy="329184"/>
          </a:xfrm>
          <a:prstGeom prst="ellipse">
            <a:avLst/>
          </a:prstGeom>
          <a:solidFill>
            <a:schemeClr val="accent4"/>
          </a:solidFill>
          <a:ln w="12700">
            <a:solidFill>
              <a:schemeClr val="accent4"/>
            </a:solidFill>
            <a:prstDash val="solid"/>
          </a:ln>
        </p:spPr>
      </p:sp>
      <p:pic>
        <p:nvPicPr>
          <p:cNvPr id="9" name="Image 1" descr="Explicación">    </p:cNvPr>
          <p:cNvPicPr>
            <a:picLocks noChangeAspect="1"/>
          </p:cNvPicPr>
          <p:nvPr/>
        </p:nvPicPr>
        <p:blipFill>
          <a:blip r:embed="rId2"/>
          <a:stretch>
            <a:fillRect/>
          </a:stretch>
        </p:blipFill>
        <p:spPr>
          <a:xfrm>
            <a:off x="630936" y="2551176"/>
            <a:ext cx="164592" cy="164592"/>
          </a:xfrm>
          <a:prstGeom prst="rect">
            <a:avLst/>
          </a:prstGeom>
        </p:spPr>
      </p:pic>
      <p:sp>
        <p:nvSpPr>
          <p:cNvPr id="10" name="subtitulo"/>
          <p:cNvSpPr txBox="1"/>
          <p:nvPr/>
        </p:nvSpPr>
        <p:spPr>
          <a:xfrm>
            <a:off x="987552" y="2468880"/>
            <a:ext cx="10655503" cy="329184"/>
          </a:xfrm>
          <a:prstGeom prst="rect">
            <a:avLst/>
          </a:prstGeom>
          <a:noFill/>
          <a:ln/>
        </p:spPr>
        <p:txBody>
          <a:bodyPr wrap="square" lIns="0" tIns="0" rIns="0" bIns="0" rtlCol="0" anchor="ctr"/>
          <a:lstStyle/>
          <a:p>
            <a:pPr indent="0" marL="0">
              <a:buNone/>
            </a:pPr>
            <a:r>
              <a:rPr lang="en-US" sz="1600" b="1" dirty="0">
                <a:solidFill>
                  <a:schemeClr val="tx2"/>
                </a:solidFill>
              </a:rPr>
              <a:t>Explicación</a:t>
            </a:r>
            <a:endParaRPr lang="en-US" sz="1600" dirty="0"/>
          </a:p>
        </p:txBody>
      </p:sp>
      <p:sp>
        <p:nvSpPr>
          <p:cNvPr id="11" name="texto"/>
          <p:cNvSpPr txBox="1"/>
          <p:nvPr/>
        </p:nvSpPr>
        <p:spPr>
          <a:xfrm>
            <a:off x="548640" y="2926080"/>
            <a:ext cx="11094415" cy="932688"/>
          </a:xfrm>
          <a:prstGeom prst="rect">
            <a:avLst/>
          </a:prstGeom>
          <a:noFill/>
          <a:ln/>
        </p:spPr>
        <p:txBody>
          <a:bodyPr wrap="square" lIns="254" tIns="254" rIns="254" bIns="254" rtlCol="0" anchor="t"/>
          <a:lstStyle/>
          <a:p>
            <a:pPr indent="0" marL="0">
              <a:buNone/>
            </a:pPr>
            <a:r>
              <a:rPr lang="en-US" sz="1900" dirty="0">
                <a:solidFill>
                  <a:schemeClr val="tx1"/>
                </a:solidFill>
              </a:rPr>
              <a:t>1) C = (0.597 − 0.008)/0.0031 = 190 µM en la dilución. 2) × 10 = 1,900 µM = 1.90 µmol/mL en el extracto. 3) 1.90 × 10 mL = 19 µmol en 0.5 g → </a:t>
            </a:r>
            <a:pPr indent="0" marL="0">
              <a:buNone/>
            </a:pPr>
            <a:r>
              <a:rPr lang="en-US" sz="1900" b="1" dirty="0">
                <a:solidFill>
                  <a:schemeClr val="tx1"/>
                </a:solidFill>
              </a:rPr>
              <a:t>38 µmol TE/g</a:t>
            </a:r>
            <a:pPr indent="0" marL="0">
              <a:buNone/>
            </a:pPr>
            <a:r>
              <a:rPr lang="en-US" sz="1900" dirty="0">
                <a:solidFill>
                  <a:schemeClr val="tx1"/>
                </a:solidFill>
              </a:rPr>
              <a:t>. En FRAP la absorbancia sube con más poder reductor.</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B4-4 · Actividad específica de catalasa</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4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Cálculo</a:t>
            </a:r>
            <a:endParaRPr lang="en-US" sz="1100" dirty="0"/>
          </a:p>
        </p:txBody>
      </p:sp>
      <p:sp>
        <p:nvSpPr>
          <p:cNvPr id="5" name="texto"/>
          <p:cNvSpPr txBox="1"/>
          <p:nvPr/>
        </p:nvSpPr>
        <p:spPr>
          <a:xfrm>
            <a:off x="548640" y="1371600"/>
            <a:ext cx="11094415" cy="978408"/>
          </a:xfrm>
          <a:prstGeom prst="rect">
            <a:avLst/>
          </a:prstGeom>
          <a:noFill/>
          <a:ln/>
        </p:spPr>
        <p:txBody>
          <a:bodyPr wrap="square" lIns="254" tIns="254" rIns="254" bIns="254" rtlCol="0" anchor="t"/>
          <a:lstStyle/>
          <a:p>
            <a:pPr indent="0" marL="0">
              <a:buNone/>
            </a:pPr>
            <a:r>
              <a:rPr lang="en-US" sz="2000" dirty="0">
                <a:solidFill>
                  <a:schemeClr val="tx1"/>
                </a:solidFill>
              </a:rPr>
              <a:t>Homogenado de hígado: ΔA</a:t>
            </a:r>
            <a:pPr indent="0" marL="0">
              <a:buNone/>
            </a:pPr>
            <a:r>
              <a:rPr lang="en-US" sz="2000" baseline="-40000" dirty="0">
                <a:solidFill>
                  <a:schemeClr val="tx1"/>
                </a:solidFill>
              </a:rPr>
              <a:t>240</a:t>
            </a:r>
            <a:pPr indent="0" marL="0">
              <a:buNone/>
            </a:pPr>
            <a:r>
              <a:rPr lang="en-US" sz="2000" dirty="0">
                <a:solidFill>
                  <a:schemeClr val="tx1"/>
                </a:solidFill>
              </a:rPr>
              <a:t>/min = 0.0436 (tramo inicial), cubeta de cuarzo de 1 cm, volumen total 3.0 mL, volumen de muestra 0.05 mL, proteína 3.0 mg/mL. ε</a:t>
            </a:r>
            <a:pPr indent="0" marL="0">
              <a:buNone/>
            </a:pPr>
            <a:r>
              <a:rPr lang="en-US" sz="2000" baseline="-40000" dirty="0">
                <a:solidFill>
                  <a:schemeClr val="tx1"/>
                </a:solidFill>
              </a:rPr>
              <a:t>240</a:t>
            </a:r>
            <a:pPr indent="0" marL="0">
              <a:buNone/>
            </a:pPr>
            <a:r>
              <a:rPr lang="en-US" sz="2000" dirty="0">
                <a:solidFill>
                  <a:schemeClr val="tx1"/>
                </a:solidFill>
              </a:rPr>
              <a:t>(H₂O₂) = 43.6 M⁻¹ cm⁻¹; 1 U = 1 µmol de H₂O₂ descompuesto por minuto. Calcula la actividad en U/mg de proteína.</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B4-4 · Actividad específica de catalasa</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4 · Respuesta</a:t>
            </a:r>
            <a:endParaRPr lang="en-US" sz="1100" dirty="0"/>
          </a:p>
        </p:txBody>
      </p:sp>
      <p:sp>
        <p:nvSpPr>
          <p:cNvPr id="4" name="caja respuesta"/>
          <p:cNvSpPr/>
          <p:nvPr/>
        </p:nvSpPr>
        <p:spPr>
          <a:xfrm>
            <a:off x="548640" y="1371600"/>
            <a:ext cx="11094415" cy="868680"/>
          </a:xfrm>
          <a:prstGeom prst="roundRect">
            <a:avLst>
              <a:gd name="adj" fmla="val 12632"/>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722376"/>
          </a:xfrm>
          <a:prstGeom prst="rect">
            <a:avLst/>
          </a:prstGeom>
          <a:noFill/>
          <a:ln/>
        </p:spPr>
        <p:txBody>
          <a:bodyPr wrap="square" lIns="254" tIns="254" rIns="254" bIns="254" rtlCol="0" anchor="ctr"/>
          <a:lstStyle/>
          <a:p>
            <a:pPr indent="0" marL="0">
              <a:buNone/>
            </a:pPr>
            <a:r>
              <a:rPr lang="en-US" sz="3600" b="1" dirty="0">
                <a:solidFill>
                  <a:schemeClr val="tx1"/>
                </a:solidFill>
              </a:rPr>
              <a:t>20.0</a:t>
            </a:r>
            <a:pPr indent="0" marL="0">
              <a:buNone/>
            </a:pPr>
            <a:r>
              <a:rPr lang="en-US" sz="1400" dirty="0">
                <a:solidFill>
                  <a:schemeClr val="accent6"/>
                </a:solidFill>
              </a:rPr>
              <a:t>   (se acepta ± 0.3)</a:t>
            </a:r>
            <a:endParaRPr lang="en-US" sz="3600" dirty="0"/>
          </a:p>
        </p:txBody>
      </p:sp>
      <p:sp>
        <p:nvSpPr>
          <p:cNvPr id="8" name="circulo icono"/>
          <p:cNvSpPr/>
          <p:nvPr/>
        </p:nvSpPr>
        <p:spPr>
          <a:xfrm>
            <a:off x="548640" y="2468880"/>
            <a:ext cx="329184" cy="329184"/>
          </a:xfrm>
          <a:prstGeom prst="ellipse">
            <a:avLst/>
          </a:prstGeom>
          <a:solidFill>
            <a:schemeClr val="accent4"/>
          </a:solidFill>
          <a:ln w="12700">
            <a:solidFill>
              <a:schemeClr val="accent4"/>
            </a:solidFill>
            <a:prstDash val="solid"/>
          </a:ln>
        </p:spPr>
      </p:sp>
      <p:pic>
        <p:nvPicPr>
          <p:cNvPr id="9" name="Image 1" descr="Explicación">    </p:cNvPr>
          <p:cNvPicPr>
            <a:picLocks noChangeAspect="1"/>
          </p:cNvPicPr>
          <p:nvPr/>
        </p:nvPicPr>
        <p:blipFill>
          <a:blip r:embed="rId2"/>
          <a:stretch>
            <a:fillRect/>
          </a:stretch>
        </p:blipFill>
        <p:spPr>
          <a:xfrm>
            <a:off x="630936" y="2551176"/>
            <a:ext cx="164592" cy="164592"/>
          </a:xfrm>
          <a:prstGeom prst="rect">
            <a:avLst/>
          </a:prstGeom>
        </p:spPr>
      </p:pic>
      <p:sp>
        <p:nvSpPr>
          <p:cNvPr id="10" name="subtitulo"/>
          <p:cNvSpPr txBox="1"/>
          <p:nvPr/>
        </p:nvSpPr>
        <p:spPr>
          <a:xfrm>
            <a:off x="987552" y="2468880"/>
            <a:ext cx="10655503" cy="329184"/>
          </a:xfrm>
          <a:prstGeom prst="rect">
            <a:avLst/>
          </a:prstGeom>
          <a:noFill/>
          <a:ln/>
        </p:spPr>
        <p:txBody>
          <a:bodyPr wrap="square" lIns="0" tIns="0" rIns="0" bIns="0" rtlCol="0" anchor="ctr"/>
          <a:lstStyle/>
          <a:p>
            <a:pPr indent="0" marL="0">
              <a:buNone/>
            </a:pPr>
            <a:r>
              <a:rPr lang="en-US" sz="1600" b="1" dirty="0">
                <a:solidFill>
                  <a:schemeClr val="tx2"/>
                </a:solidFill>
              </a:rPr>
              <a:t>Explicación</a:t>
            </a:r>
            <a:endParaRPr lang="en-US" sz="1600" dirty="0"/>
          </a:p>
        </p:txBody>
      </p:sp>
      <p:sp>
        <p:nvSpPr>
          <p:cNvPr id="11" name="texto"/>
          <p:cNvSpPr txBox="1"/>
          <p:nvPr/>
        </p:nvSpPr>
        <p:spPr>
          <a:xfrm>
            <a:off x="548640" y="2926080"/>
            <a:ext cx="11094415" cy="643128"/>
          </a:xfrm>
          <a:prstGeom prst="rect">
            <a:avLst/>
          </a:prstGeom>
          <a:noFill/>
          <a:ln/>
        </p:spPr>
        <p:txBody>
          <a:bodyPr wrap="square" lIns="254" tIns="254" rIns="254" bIns="254" rtlCol="0" anchor="t"/>
          <a:lstStyle/>
          <a:p>
            <a:pPr indent="0" marL="0">
              <a:buNone/>
            </a:pPr>
            <a:r>
              <a:rPr lang="en-US" sz="1900" dirty="0">
                <a:solidFill>
                  <a:schemeClr val="tx1"/>
                </a:solidFill>
              </a:rPr>
              <a:t>U/mL = 0.0436/43.6 × 1000 × (3.0/0.05) = 0.001 × 1000 × 60 = 60 U/mL. Actividad específica = 60/3.0 = </a:t>
            </a:r>
            <a:pPr indent="0" marL="0">
              <a:buNone/>
            </a:pPr>
            <a:r>
              <a:rPr lang="en-US" sz="1900" b="1" dirty="0">
                <a:solidFill>
                  <a:schemeClr val="tx1"/>
                </a:solidFill>
              </a:rPr>
              <a:t>20 U/mg</a:t>
            </a:r>
            <a:pPr indent="0" marL="0">
              <a:buNone/>
            </a:pPr>
            <a:r>
              <a:rPr lang="en-US" sz="1900" dirty="0">
                <a:solidFill>
                  <a:schemeClr val="tx1"/>
                </a:solidFill>
              </a:rPr>
              <a:t>.</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B4-5 · Unidades de SOD</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4 · 2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Cálculo</a:t>
            </a:r>
            <a:endParaRPr lang="en-US" sz="1100" dirty="0"/>
          </a:p>
        </p:txBody>
      </p:sp>
      <p:sp>
        <p:nvSpPr>
          <p:cNvPr id="5" name="texto"/>
          <p:cNvSpPr txBox="1"/>
          <p:nvPr/>
        </p:nvSpPr>
        <p:spPr>
          <a:xfrm>
            <a:off x="548640" y="1371600"/>
            <a:ext cx="11094415" cy="1283208"/>
          </a:xfrm>
          <a:prstGeom prst="rect">
            <a:avLst/>
          </a:prstGeom>
          <a:noFill/>
          <a:ln/>
        </p:spPr>
        <p:txBody>
          <a:bodyPr wrap="square" lIns="254" tIns="254" rIns="254" bIns="254" rtlCol="0" anchor="t"/>
          <a:lstStyle/>
          <a:p>
            <a:pPr indent="0" marL="0">
              <a:buNone/>
            </a:pPr>
            <a:r>
              <a:rPr lang="en-US" sz="2000" dirty="0">
                <a:solidFill>
                  <a:schemeClr val="tx1"/>
                </a:solidFill>
              </a:rPr>
              <a:t>Ensayo de SOD con NBT (lectura del formazán a 560 nm). Blanco (reacción completa sin muestra): ΔA/min = 0.090. Con 15 µL de muestra: ΔA/min = 0.054. Con la curva de varios volúmenes, el 50 % de inhibición se alcanza con </a:t>
            </a:r>
            <a:pPr indent="0" marL="0">
              <a:buNone/>
            </a:pPr>
            <a:r>
              <a:rPr lang="en-US" sz="2000" b="1" dirty="0">
                <a:solidFill>
                  <a:schemeClr val="tx1"/>
                </a:solidFill>
              </a:rPr>
              <a:t>25 µL</a:t>
            </a:r>
            <a:pPr indent="0" marL="0">
              <a:buNone/>
            </a:pPr>
            <a:r>
              <a:rPr lang="en-US" sz="2000" dirty="0">
                <a:solidFill>
                  <a:schemeClr val="tx1"/>
                </a:solidFill>
              </a:rPr>
              <a:t>. Proteína: 4.0 mg/mL. 1 U = cantidad que inhibe el 50 %. Calcula la actividad en U/mg de proteína.</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B4-5 · Unidades de SOD</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4 · Respuesta</a:t>
            </a:r>
            <a:endParaRPr lang="en-US" sz="1100" dirty="0"/>
          </a:p>
        </p:txBody>
      </p:sp>
      <p:sp>
        <p:nvSpPr>
          <p:cNvPr id="4" name="caja respuesta"/>
          <p:cNvSpPr/>
          <p:nvPr/>
        </p:nvSpPr>
        <p:spPr>
          <a:xfrm>
            <a:off x="548640" y="1371600"/>
            <a:ext cx="11094415" cy="868680"/>
          </a:xfrm>
          <a:prstGeom prst="roundRect">
            <a:avLst>
              <a:gd name="adj" fmla="val 12632"/>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722376"/>
          </a:xfrm>
          <a:prstGeom prst="rect">
            <a:avLst/>
          </a:prstGeom>
          <a:noFill/>
          <a:ln/>
        </p:spPr>
        <p:txBody>
          <a:bodyPr wrap="square" lIns="254" tIns="254" rIns="254" bIns="254" rtlCol="0" anchor="ctr"/>
          <a:lstStyle/>
          <a:p>
            <a:pPr indent="0" marL="0">
              <a:buNone/>
            </a:pPr>
            <a:r>
              <a:rPr lang="en-US" sz="3600" b="1" dirty="0">
                <a:solidFill>
                  <a:schemeClr val="tx1"/>
                </a:solidFill>
              </a:rPr>
              <a:t>10.0</a:t>
            </a:r>
            <a:pPr indent="0" marL="0">
              <a:buNone/>
            </a:pPr>
            <a:r>
              <a:rPr lang="en-US" sz="1400" dirty="0">
                <a:solidFill>
                  <a:schemeClr val="accent6"/>
                </a:solidFill>
              </a:rPr>
              <a:t>   (se acepta ± 0.2)</a:t>
            </a:r>
            <a:endParaRPr lang="en-US" sz="3600" dirty="0"/>
          </a:p>
        </p:txBody>
      </p:sp>
      <p:sp>
        <p:nvSpPr>
          <p:cNvPr id="8" name="circulo icono"/>
          <p:cNvSpPr/>
          <p:nvPr/>
        </p:nvSpPr>
        <p:spPr>
          <a:xfrm>
            <a:off x="548640" y="2468880"/>
            <a:ext cx="329184" cy="329184"/>
          </a:xfrm>
          <a:prstGeom prst="ellipse">
            <a:avLst/>
          </a:prstGeom>
          <a:solidFill>
            <a:schemeClr val="accent4"/>
          </a:solidFill>
          <a:ln w="12700">
            <a:solidFill>
              <a:schemeClr val="accent4"/>
            </a:solidFill>
            <a:prstDash val="solid"/>
          </a:ln>
        </p:spPr>
      </p:sp>
      <p:pic>
        <p:nvPicPr>
          <p:cNvPr id="9" name="Image 1" descr="Explicación">    </p:cNvPr>
          <p:cNvPicPr>
            <a:picLocks noChangeAspect="1"/>
          </p:cNvPicPr>
          <p:nvPr/>
        </p:nvPicPr>
        <p:blipFill>
          <a:blip r:embed="rId2"/>
          <a:stretch>
            <a:fillRect/>
          </a:stretch>
        </p:blipFill>
        <p:spPr>
          <a:xfrm>
            <a:off x="630936" y="2551176"/>
            <a:ext cx="164592" cy="164592"/>
          </a:xfrm>
          <a:prstGeom prst="rect">
            <a:avLst/>
          </a:prstGeom>
        </p:spPr>
      </p:pic>
      <p:sp>
        <p:nvSpPr>
          <p:cNvPr id="10" name="subtitulo"/>
          <p:cNvSpPr txBox="1"/>
          <p:nvPr/>
        </p:nvSpPr>
        <p:spPr>
          <a:xfrm>
            <a:off x="987552" y="2468880"/>
            <a:ext cx="10655503" cy="329184"/>
          </a:xfrm>
          <a:prstGeom prst="rect">
            <a:avLst/>
          </a:prstGeom>
          <a:noFill/>
          <a:ln/>
        </p:spPr>
        <p:txBody>
          <a:bodyPr wrap="square" lIns="0" tIns="0" rIns="0" bIns="0" rtlCol="0" anchor="ctr"/>
          <a:lstStyle/>
          <a:p>
            <a:pPr indent="0" marL="0">
              <a:buNone/>
            </a:pPr>
            <a:r>
              <a:rPr lang="en-US" sz="1600" b="1" dirty="0">
                <a:solidFill>
                  <a:schemeClr val="tx2"/>
                </a:solidFill>
              </a:rPr>
              <a:t>Explicación</a:t>
            </a:r>
            <a:endParaRPr lang="en-US" sz="1600" dirty="0"/>
          </a:p>
        </p:txBody>
      </p:sp>
      <p:sp>
        <p:nvSpPr>
          <p:cNvPr id="11" name="texto"/>
          <p:cNvSpPr txBox="1"/>
          <p:nvPr/>
        </p:nvSpPr>
        <p:spPr>
          <a:xfrm>
            <a:off x="548640" y="2926080"/>
            <a:ext cx="11094415" cy="932688"/>
          </a:xfrm>
          <a:prstGeom prst="rect">
            <a:avLst/>
          </a:prstGeom>
          <a:noFill/>
          <a:ln/>
        </p:spPr>
        <p:txBody>
          <a:bodyPr wrap="square" lIns="254" tIns="254" rIns="254" bIns="254" rtlCol="0" anchor="t"/>
          <a:lstStyle/>
          <a:p>
            <a:pPr indent="0" marL="0">
              <a:buNone/>
            </a:pPr>
            <a:r>
              <a:rPr lang="en-US" sz="1900" dirty="0">
                <a:solidFill>
                  <a:schemeClr val="tx1"/>
                </a:solidFill>
              </a:rPr>
              <a:t>Con 15 µL la inhibición es (0.090 − 0.054)/0.090 = 40 %, pero las unidades salen del volumen que da 50 %: 1 U en 0.025 mL = 40 U/mL; 40/4.0 = </a:t>
            </a:r>
            <a:pPr indent="0" marL="0">
              <a:buNone/>
            </a:pPr>
            <a:r>
              <a:rPr lang="en-US" sz="1900" b="1" dirty="0">
                <a:solidFill>
                  <a:schemeClr val="tx1"/>
                </a:solidFill>
              </a:rPr>
              <a:t>10 U/mg</a:t>
            </a:r>
            <a:pPr indent="0" marL="0">
              <a:buNone/>
            </a:pPr>
            <a:r>
              <a:rPr lang="en-US" sz="1900" dirty="0">
                <a:solidFill>
                  <a:schemeClr val="tx1"/>
                </a:solidFill>
              </a:rPr>
              <a:t>. No se escala el 40 % proporcionalmente porque la relación no es lineal.</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B4-6 · Inhibición negativa</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4 · 1.5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673608"/>
          </a:xfrm>
          <a:prstGeom prst="rect">
            <a:avLst/>
          </a:prstGeom>
          <a:noFill/>
          <a:ln/>
        </p:spPr>
        <p:txBody>
          <a:bodyPr wrap="square" lIns="254" tIns="254" rIns="254" bIns="254" rtlCol="0" anchor="t"/>
          <a:lstStyle/>
          <a:p>
            <a:pPr indent="0" marL="0">
              <a:buNone/>
            </a:pPr>
            <a:r>
              <a:rPr lang="en-US" sz="2000" dirty="0">
                <a:solidFill>
                  <a:schemeClr val="tx1"/>
                </a:solidFill>
              </a:rPr>
              <a:t>Con un extracto concentrado de betabel, la absorbancia de «muestra + DPPH» a 517 nm es mayor que la del control y el cálculo da −15 % de inhibición. ¿Qué pasó?</a:t>
            </a:r>
            <a:endParaRPr lang="en-US" sz="2000" dirty="0"/>
          </a:p>
        </p:txBody>
      </p:sp>
      <p:sp>
        <p:nvSpPr>
          <p:cNvPr id="6" name="circulo"/>
          <p:cNvSpPr/>
          <p:nvPr/>
        </p:nvSpPr>
        <p:spPr>
          <a:xfrm>
            <a:off x="548640" y="22098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2098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1915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El DPPH se degradó por la luz.</a:t>
            </a:r>
            <a:endParaRPr lang="en-US" sz="1900" dirty="0"/>
          </a:p>
        </p:txBody>
      </p:sp>
      <p:sp>
        <p:nvSpPr>
          <p:cNvPr id="9" name="circulo"/>
          <p:cNvSpPr/>
          <p:nvPr/>
        </p:nvSpPr>
        <p:spPr>
          <a:xfrm>
            <a:off x="548640" y="27218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27218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2703576"/>
            <a:ext cx="10545775" cy="643128"/>
          </a:xfrm>
          <a:prstGeom prst="rect">
            <a:avLst/>
          </a:prstGeom>
          <a:noFill/>
          <a:ln/>
        </p:spPr>
        <p:txBody>
          <a:bodyPr wrap="square" lIns="254" tIns="254" rIns="254" bIns="254" rtlCol="0" anchor="ctr"/>
          <a:lstStyle/>
          <a:p>
            <a:pPr indent="0" marL="0">
              <a:buNone/>
            </a:pPr>
            <a:r>
              <a:rPr lang="en-US" sz="1900" dirty="0">
                <a:solidFill>
                  <a:schemeClr val="tx1"/>
                </a:solidFill>
              </a:rPr>
              <a:t>Las betalaínas del betabel absorben cerca de 517 nm y suman su color; falta restar el blanco de muestra (extracto sin DPPH), o diluir el extracto.</a:t>
            </a:r>
            <a:endParaRPr lang="en-US" sz="1900" dirty="0"/>
          </a:p>
        </p:txBody>
      </p:sp>
      <p:sp>
        <p:nvSpPr>
          <p:cNvPr id="12" name="circulo"/>
          <p:cNvSpPr/>
          <p:nvPr/>
        </p:nvSpPr>
        <p:spPr>
          <a:xfrm>
            <a:off x="548640" y="3456432"/>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45643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438144"/>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El betabel es prooxidante y genera DPPH•.</a:t>
            </a:r>
            <a:endParaRPr lang="en-US" sz="1900" dirty="0"/>
          </a:p>
        </p:txBody>
      </p:sp>
      <p:sp>
        <p:nvSpPr>
          <p:cNvPr id="15" name="circulo"/>
          <p:cNvSpPr/>
          <p:nvPr/>
        </p:nvSpPr>
        <p:spPr>
          <a:xfrm>
            <a:off x="548640" y="3968496"/>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396849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3950208"/>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La IC</a:t>
            </a:r>
            <a:pPr indent="0" marL="0">
              <a:buNone/>
            </a:pPr>
            <a:r>
              <a:rPr lang="en-US" sz="1900" baseline="-40000" dirty="0">
                <a:solidFill>
                  <a:schemeClr val="tx1"/>
                </a:solidFill>
              </a:rPr>
              <a:t>50</a:t>
            </a:r>
            <a:pPr indent="0" marL="0">
              <a:buNone/>
            </a:pPr>
            <a:r>
              <a:rPr lang="en-US" sz="1900" dirty="0">
                <a:solidFill>
                  <a:schemeClr val="tx1"/>
                </a:solidFill>
              </a:rPr>
              <a:t> del betabel es negativa.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B4-6 · Inhibición negativa</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4 · Respuesta</a:t>
            </a:r>
            <a:endParaRPr lang="en-US" sz="1100" dirty="0"/>
          </a:p>
        </p:txBody>
      </p:sp>
      <p:sp>
        <p:nvSpPr>
          <p:cNvPr id="4" name="caja respuesta"/>
          <p:cNvSpPr/>
          <p:nvPr/>
        </p:nvSpPr>
        <p:spPr>
          <a:xfrm>
            <a:off x="548640" y="1371600"/>
            <a:ext cx="11094415" cy="762000"/>
          </a:xfrm>
          <a:prstGeom prst="roundRect">
            <a:avLst>
              <a:gd name="adj" fmla="val 14400"/>
            </a:avLst>
          </a:prstGeom>
          <a:solidFill>
            <a:schemeClr val="bg1"/>
          </a:solidFill>
          <a:ln w="19050">
            <a:solidFill>
              <a:schemeClr val="accent1"/>
            </a:solidFill>
            <a:prstDash val="solid"/>
          </a:ln>
        </p:spPr>
      </p:sp>
      <p:sp>
        <p:nvSpPr>
          <p:cNvPr id="5" name="circulo check"/>
          <p:cNvSpPr/>
          <p:nvPr/>
        </p:nvSpPr>
        <p:spPr>
          <a:xfrm>
            <a:off x="749808" y="152400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33728"/>
            <a:ext cx="237744" cy="237744"/>
          </a:xfrm>
          <a:prstGeom prst="rect">
            <a:avLst/>
          </a:prstGeom>
        </p:spPr>
      </p:pic>
      <p:sp>
        <p:nvSpPr>
          <p:cNvPr id="7" name="respuesta"/>
          <p:cNvSpPr txBox="1"/>
          <p:nvPr/>
        </p:nvSpPr>
        <p:spPr>
          <a:xfrm>
            <a:off x="1371600" y="1444752"/>
            <a:ext cx="10180015" cy="615696"/>
          </a:xfrm>
          <a:prstGeom prst="rect">
            <a:avLst/>
          </a:prstGeom>
          <a:noFill/>
          <a:ln/>
        </p:spPr>
        <p:txBody>
          <a:bodyPr wrap="square" lIns="254" tIns="254" rIns="254" bIns="254" rtlCol="0" anchor="ctr"/>
          <a:lstStyle/>
          <a:p>
            <a:pPr indent="0" marL="0">
              <a:buNone/>
            </a:pPr>
            <a:r>
              <a:rPr lang="en-US" sz="1600" b="1" dirty="0">
                <a:solidFill>
                  <a:schemeClr val="tx1"/>
                </a:solidFill>
              </a:rPr>
              <a:t>B)  </a:t>
            </a:r>
            <a:pPr indent="0" marL="0">
              <a:buNone/>
            </a:pPr>
            <a:r>
              <a:rPr lang="en-US" sz="1600" dirty="0">
                <a:solidFill>
                  <a:schemeClr val="tx1"/>
                </a:solidFill>
              </a:rPr>
              <a:t>Las betalaínas del betabel absorben cerca de 517 nm y suman su color; falta restar el blanco de muestra (extracto sin DPPH), o diluir el extracto.</a:t>
            </a:r>
            <a:endParaRPr lang="en-US" sz="1600" dirty="0"/>
          </a:p>
        </p:txBody>
      </p:sp>
      <p:sp>
        <p:nvSpPr>
          <p:cNvPr id="8" name="circulo icono"/>
          <p:cNvSpPr/>
          <p:nvPr/>
        </p:nvSpPr>
        <p:spPr>
          <a:xfrm>
            <a:off x="548640" y="236220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444496"/>
            <a:ext cx="164592" cy="164592"/>
          </a:xfrm>
          <a:prstGeom prst="rect">
            <a:avLst/>
          </a:prstGeom>
        </p:spPr>
      </p:pic>
      <p:sp>
        <p:nvSpPr>
          <p:cNvPr id="10" name="subtitulo"/>
          <p:cNvSpPr txBox="1"/>
          <p:nvPr/>
        </p:nvSpPr>
        <p:spPr>
          <a:xfrm>
            <a:off x="987552"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2819400"/>
            <a:ext cx="5364328" cy="1222248"/>
          </a:xfrm>
          <a:prstGeom prst="rect">
            <a:avLst/>
          </a:prstGeom>
          <a:noFill/>
          <a:ln/>
        </p:spPr>
        <p:txBody>
          <a:bodyPr wrap="square" lIns="254" tIns="254" rIns="254" bIns="254" rtlCol="0" anchor="t"/>
          <a:lstStyle/>
          <a:p>
            <a:pPr indent="0" marL="0">
              <a:buNone/>
            </a:pPr>
            <a:r>
              <a:rPr lang="en-US" sz="1900" b="1" dirty="0">
                <a:solidFill>
                  <a:schemeClr val="tx1"/>
                </a:solidFill>
              </a:rPr>
              <a:t>Correcta: interferencia de pigmentos.</a:t>
            </a:r>
            <a:pPr indent="0" marL="0">
              <a:buNone/>
            </a:pPr>
            <a:r>
              <a:rPr lang="en-US" sz="1900" dirty="0">
                <a:solidFill>
                  <a:schemeClr val="tx1"/>
                </a:solidFill>
              </a:rPr>
              <a:t> Es el mismo problema de las antocianinas: el color propio del extracto se lee como si fuera DPPH• sin reaccionar.</a:t>
            </a:r>
            <a:endParaRPr lang="en-US" sz="1900" dirty="0"/>
          </a:p>
        </p:txBody>
      </p:sp>
      <p:sp>
        <p:nvSpPr>
          <p:cNvPr id="12" name="circulo icono"/>
          <p:cNvSpPr/>
          <p:nvPr/>
        </p:nvSpPr>
        <p:spPr>
          <a:xfrm>
            <a:off x="6278728" y="236220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444496"/>
            <a:ext cx="164592" cy="164592"/>
          </a:xfrm>
          <a:prstGeom prst="rect">
            <a:avLst/>
          </a:prstGeom>
        </p:spPr>
      </p:pic>
      <p:sp>
        <p:nvSpPr>
          <p:cNvPr id="14" name="subtitulo"/>
          <p:cNvSpPr txBox="1"/>
          <p:nvPr/>
        </p:nvSpPr>
        <p:spPr>
          <a:xfrm>
            <a:off x="6717640"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295300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2819400"/>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«Genera DPPH•»: el radical solo viene del reactivo; un extracto no lo crea.</a:t>
            </a:r>
            <a:endParaRPr lang="en-US" sz="1900" dirty="0"/>
          </a:p>
        </p:txBody>
      </p:sp>
      <p:sp>
        <p:nvSpPr>
          <p:cNvPr id="17" name="vineta"/>
          <p:cNvSpPr/>
          <p:nvPr/>
        </p:nvSpPr>
        <p:spPr>
          <a:xfrm>
            <a:off x="6333592" y="365099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517392"/>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«DPPH degradado»: bajaría la absorbancia del control, no subiría la de la muestra.</a:t>
            </a:r>
            <a:endParaRPr lang="en-US" sz="1900" dirty="0"/>
          </a:p>
        </p:txBody>
      </p:sp>
      <p:sp>
        <p:nvSpPr>
          <p:cNvPr id="19" name="vineta"/>
          <p:cNvSpPr/>
          <p:nvPr/>
        </p:nvSpPr>
        <p:spPr>
          <a:xfrm>
            <a:off x="6333592" y="434898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215384"/>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«IC</a:t>
            </a:r>
            <a:pPr indent="0" marL="0">
              <a:buNone/>
            </a:pPr>
            <a:r>
              <a:rPr lang="en-US" sz="1900" baseline="-40000" dirty="0">
                <a:solidFill>
                  <a:schemeClr val="tx1"/>
                </a:solidFill>
              </a:rPr>
              <a:t>50</a:t>
            </a:r>
            <a:pPr indent="0" marL="0">
              <a:buNone/>
            </a:pPr>
            <a:r>
              <a:rPr lang="en-US" sz="1900" dirty="0">
                <a:solidFill>
                  <a:schemeClr val="tx1"/>
                </a:solidFill>
              </a:rPr>
              <a:t> negativa»: una concentración no puede ser negativa; el resultado es un artefacto.</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B4-7 · Un control que baja</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4 · 1.5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673608"/>
          </a:xfrm>
          <a:prstGeom prst="rect">
            <a:avLst/>
          </a:prstGeom>
          <a:noFill/>
          <a:ln/>
        </p:spPr>
        <p:txBody>
          <a:bodyPr wrap="square" lIns="254" tIns="254" rIns="254" bIns="254" rtlCol="0" anchor="t"/>
          <a:lstStyle/>
          <a:p>
            <a:pPr indent="0" marL="0">
              <a:buNone/>
            </a:pPr>
            <a:r>
              <a:rPr lang="en-US" sz="2000" dirty="0">
                <a:solidFill>
                  <a:schemeClr val="tx1"/>
                </a:solidFill>
              </a:rPr>
              <a:t>Durante la sesión, la A</a:t>
            </a:r>
            <a:pPr indent="0" marL="0">
              <a:buNone/>
            </a:pPr>
            <a:r>
              <a:rPr lang="en-US" sz="2000" baseline="-40000" dirty="0">
                <a:solidFill>
                  <a:schemeClr val="tx1"/>
                </a:solidFill>
              </a:rPr>
              <a:t>517</a:t>
            </a:r>
            <a:pPr indent="0" marL="0">
              <a:buNone/>
            </a:pPr>
            <a:r>
              <a:rPr lang="en-US" sz="2000" dirty="0">
                <a:solidFill>
                  <a:schemeClr val="tx1"/>
                </a:solidFill>
              </a:rPr>
              <a:t> del control de DPPH bajó de 0.92 (9:00 h) a 0.71 (11:30 h). El frasco quedó destapado junto a la ventana. ¿Qué haces?</a:t>
            </a:r>
            <a:endParaRPr lang="en-US" sz="2000" dirty="0"/>
          </a:p>
        </p:txBody>
      </p:sp>
      <p:sp>
        <p:nvSpPr>
          <p:cNvPr id="6" name="circulo"/>
          <p:cNvSpPr/>
          <p:nvPr/>
        </p:nvSpPr>
        <p:spPr>
          <a:xfrm>
            <a:off x="548640" y="22098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2098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1915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El control bajó porque el metanol se contaminó con antioxidantes del laboratorio.</a:t>
            </a:r>
            <a:endParaRPr lang="en-US" sz="1900" dirty="0"/>
          </a:p>
        </p:txBody>
      </p:sp>
      <p:sp>
        <p:nvSpPr>
          <p:cNvPr id="9" name="circulo"/>
          <p:cNvSpPr/>
          <p:nvPr/>
        </p:nvSpPr>
        <p:spPr>
          <a:xfrm>
            <a:off x="548640" y="27218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27218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2703576"/>
            <a:ext cx="10545775" cy="932688"/>
          </a:xfrm>
          <a:prstGeom prst="rect">
            <a:avLst/>
          </a:prstGeom>
          <a:noFill/>
          <a:ln/>
        </p:spPr>
        <p:txBody>
          <a:bodyPr wrap="square" lIns="254" tIns="254" rIns="254" bIns="254" rtlCol="0" anchor="ctr"/>
          <a:lstStyle/>
          <a:p>
            <a:pPr indent="0" marL="0">
              <a:buNone/>
            </a:pPr>
            <a:r>
              <a:rPr lang="en-US" sz="1900" dirty="0">
                <a:solidFill>
                  <a:schemeClr val="tx1"/>
                </a:solidFill>
              </a:rPr>
              <a:t>El DPPH se degradó por la luz; preparar reactivo fresco, protegerlo de la luz y leer un control junto a cada serie de muestras. Los datos calculados con el control de 0.92 para muestras leídas más tarde están sesgados.</a:t>
            </a:r>
            <a:endParaRPr lang="en-US" sz="1900" dirty="0"/>
          </a:p>
        </p:txBody>
      </p:sp>
      <p:sp>
        <p:nvSpPr>
          <p:cNvPr id="12" name="circulo"/>
          <p:cNvSpPr/>
          <p:nvPr/>
        </p:nvSpPr>
        <p:spPr>
          <a:xfrm>
            <a:off x="548640" y="3745992"/>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7459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727704"/>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Ajustar todas las muestras con el control de las 9:00 h.</a:t>
            </a:r>
            <a:endParaRPr lang="en-US" sz="1900" dirty="0"/>
          </a:p>
        </p:txBody>
      </p:sp>
      <p:sp>
        <p:nvSpPr>
          <p:cNvPr id="15" name="circulo"/>
          <p:cNvSpPr/>
          <p:nvPr/>
        </p:nvSpPr>
        <p:spPr>
          <a:xfrm>
            <a:off x="548640" y="4258056"/>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425805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4239768"/>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Nada: el control no se usa en el cálculo.</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B4-7 · Un control que baja</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4 · Respuesta</a:t>
            </a:r>
            <a:endParaRPr lang="en-US" sz="1100" dirty="0"/>
          </a:p>
        </p:txBody>
      </p:sp>
      <p:sp>
        <p:nvSpPr>
          <p:cNvPr id="4" name="caja respuesta"/>
          <p:cNvSpPr/>
          <p:nvPr/>
        </p:nvSpPr>
        <p:spPr>
          <a:xfrm>
            <a:off x="548640" y="1371600"/>
            <a:ext cx="11094415" cy="1005840"/>
          </a:xfrm>
          <a:prstGeom prst="roundRect">
            <a:avLst>
              <a:gd name="adj" fmla="val 10909"/>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859536"/>
          </a:xfrm>
          <a:prstGeom prst="rect">
            <a:avLst/>
          </a:prstGeom>
          <a:noFill/>
          <a:ln/>
        </p:spPr>
        <p:txBody>
          <a:bodyPr wrap="square" lIns="254" tIns="254" rIns="254" bIns="254" rtlCol="0" anchor="ctr"/>
          <a:lstStyle/>
          <a:p>
            <a:pPr indent="0" marL="0">
              <a:buNone/>
            </a:pPr>
            <a:r>
              <a:rPr lang="en-US" sz="1600" b="1" dirty="0">
                <a:solidFill>
                  <a:schemeClr val="tx1"/>
                </a:solidFill>
              </a:rPr>
              <a:t>B)  </a:t>
            </a:r>
            <a:pPr indent="0" marL="0">
              <a:buNone/>
            </a:pPr>
            <a:r>
              <a:rPr lang="en-US" sz="1600" dirty="0">
                <a:solidFill>
                  <a:schemeClr val="tx1"/>
                </a:solidFill>
              </a:rPr>
              <a:t>El DPPH se degradó por la luz; preparar reactivo fresco, protegerlo de la luz y leer un control junto a cada serie de muestras. Los datos calculados con el control de 0.92 para muestras leídas más tarde están sesgados.</a:t>
            </a:r>
            <a:endParaRPr lang="en-US" sz="1600" dirty="0"/>
          </a:p>
        </p:txBody>
      </p:sp>
      <p:sp>
        <p:nvSpPr>
          <p:cNvPr id="8" name="circulo icono"/>
          <p:cNvSpPr/>
          <p:nvPr/>
        </p:nvSpPr>
        <p:spPr>
          <a:xfrm>
            <a:off x="548640" y="260604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688336"/>
            <a:ext cx="164592" cy="164592"/>
          </a:xfrm>
          <a:prstGeom prst="rect">
            <a:avLst/>
          </a:prstGeom>
        </p:spPr>
      </p:pic>
      <p:sp>
        <p:nvSpPr>
          <p:cNvPr id="10" name="subtitulo"/>
          <p:cNvSpPr txBox="1"/>
          <p:nvPr/>
        </p:nvSpPr>
        <p:spPr>
          <a:xfrm>
            <a:off x="987552"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3063240"/>
            <a:ext cx="5364328" cy="1222248"/>
          </a:xfrm>
          <a:prstGeom prst="rect">
            <a:avLst/>
          </a:prstGeom>
          <a:noFill/>
          <a:ln/>
        </p:spPr>
        <p:txBody>
          <a:bodyPr wrap="square" lIns="254" tIns="254" rIns="254" bIns="254" rtlCol="0" anchor="t"/>
          <a:lstStyle/>
          <a:p>
            <a:pPr indent="0" marL="0">
              <a:buNone/>
            </a:pPr>
            <a:r>
              <a:rPr lang="en-US" sz="1900" b="1" dirty="0">
                <a:solidFill>
                  <a:schemeClr val="tx1"/>
                </a:solidFill>
              </a:rPr>
              <a:t>Correcta: degradación fotoquímica del DPPH.</a:t>
            </a:r>
            <a:pPr indent="0" marL="0">
              <a:buNone/>
            </a:pPr>
            <a:r>
              <a:rPr lang="en-US" sz="1900" dirty="0">
                <a:solidFill>
                  <a:schemeClr val="tx1"/>
                </a:solidFill>
              </a:rPr>
              <a:t> El control es el denominador del cálculo; si cambia durante la sesión, todas las inhibiciones calculadas con un control viejo quedan mal.</a:t>
            </a:r>
            <a:endParaRPr lang="en-US" sz="1900" dirty="0"/>
          </a:p>
        </p:txBody>
      </p:sp>
      <p:sp>
        <p:nvSpPr>
          <p:cNvPr id="12" name="circulo icono"/>
          <p:cNvSpPr/>
          <p:nvPr/>
        </p:nvSpPr>
        <p:spPr>
          <a:xfrm>
            <a:off x="6278728" y="260604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688336"/>
            <a:ext cx="164592" cy="164592"/>
          </a:xfrm>
          <a:prstGeom prst="rect">
            <a:avLst/>
          </a:prstGeom>
        </p:spPr>
      </p:pic>
      <p:sp>
        <p:nvSpPr>
          <p:cNvPr id="14" name="subtitulo"/>
          <p:cNvSpPr txBox="1"/>
          <p:nvPr/>
        </p:nvSpPr>
        <p:spPr>
          <a:xfrm>
            <a:off x="6717640" y="260604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319684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3063240"/>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«No se usa»: es el término A</a:t>
            </a:r>
            <a:pPr indent="0" marL="0">
              <a:buNone/>
            </a:pPr>
            <a:r>
              <a:rPr lang="en-US" sz="1900" baseline="-40000" dirty="0">
                <a:solidFill>
                  <a:schemeClr val="tx1"/>
                </a:solidFill>
              </a:rPr>
              <a:t>control</a:t>
            </a:r>
            <a:pPr indent="0" marL="0">
              <a:buNone/>
            </a:pPr>
            <a:r>
              <a:rPr lang="en-US" sz="1900" dirty="0">
                <a:solidFill>
                  <a:schemeClr val="tx1"/>
                </a:solidFill>
              </a:rPr>
              <a:t> de la fórmula.</a:t>
            </a:r>
            <a:endParaRPr lang="en-US" sz="1900" dirty="0"/>
          </a:p>
        </p:txBody>
      </p:sp>
      <p:sp>
        <p:nvSpPr>
          <p:cNvPr id="17" name="vineta"/>
          <p:cNvSpPr/>
          <p:nvPr/>
        </p:nvSpPr>
        <p:spPr>
          <a:xfrm>
            <a:off x="6333592" y="389483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761232"/>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«Usar el de las 9:00»: precisamente introduce el sesgo.</a:t>
            </a:r>
            <a:endParaRPr lang="en-US" sz="1900" dirty="0"/>
          </a:p>
        </p:txBody>
      </p:sp>
      <p:sp>
        <p:nvSpPr>
          <p:cNvPr id="19" name="vineta"/>
          <p:cNvSpPr/>
          <p:nvPr/>
        </p:nvSpPr>
        <p:spPr>
          <a:xfrm>
            <a:off x="6333592" y="459282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459224"/>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«Metanol contaminado»: es mucho menos probable que la luz, con el frasco destapado junto a la ventana.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B4-8 · Catalasa fuera de rango</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4 · 1.5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673608"/>
          </a:xfrm>
          <a:prstGeom prst="rect">
            <a:avLst/>
          </a:prstGeom>
          <a:noFill/>
          <a:ln/>
        </p:spPr>
        <p:txBody>
          <a:bodyPr wrap="square" lIns="254" tIns="254" rIns="254" bIns="254" rtlCol="0" anchor="t"/>
          <a:lstStyle/>
          <a:p>
            <a:pPr indent="0" marL="0">
              <a:buNone/>
            </a:pPr>
            <a:r>
              <a:rPr lang="en-US" sz="2000" dirty="0">
                <a:solidFill>
                  <a:schemeClr val="tx1"/>
                </a:solidFill>
              </a:rPr>
              <a:t>Al iniciar el ensayo de catalasa, la A</a:t>
            </a:r>
            <a:pPr indent="0" marL="0">
              <a:buNone/>
            </a:pPr>
            <a:r>
              <a:rPr lang="en-US" sz="2000" baseline="-40000" dirty="0">
                <a:solidFill>
                  <a:schemeClr val="tx1"/>
                </a:solidFill>
              </a:rPr>
              <a:t>240</a:t>
            </a:r>
            <a:pPr indent="0" marL="0">
              <a:buNone/>
            </a:pPr>
            <a:r>
              <a:rPr lang="en-US" sz="2000" dirty="0">
                <a:solidFill>
                  <a:schemeClr val="tx1"/>
                </a:solidFill>
              </a:rPr>
              <a:t> inicial (antes de agregar muestra) es 1.85. ¿Cuál es la causa más probable y la corrección?</a:t>
            </a:r>
            <a:endParaRPr lang="en-US" sz="2000" dirty="0"/>
          </a:p>
        </p:txBody>
      </p:sp>
      <p:sp>
        <p:nvSpPr>
          <p:cNvPr id="6" name="circulo"/>
          <p:cNvSpPr/>
          <p:nvPr/>
        </p:nvSpPr>
        <p:spPr>
          <a:xfrm>
            <a:off x="548640" y="22098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2098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191512"/>
            <a:ext cx="10545775" cy="643128"/>
          </a:xfrm>
          <a:prstGeom prst="rect">
            <a:avLst/>
          </a:prstGeom>
          <a:noFill/>
          <a:ln/>
        </p:spPr>
        <p:txBody>
          <a:bodyPr wrap="square" lIns="254" tIns="254" rIns="254" bIns="254" rtlCol="0" anchor="ctr"/>
          <a:lstStyle/>
          <a:p>
            <a:pPr indent="0" marL="0">
              <a:buNone/>
            </a:pPr>
            <a:r>
              <a:rPr lang="en-US" sz="1900" dirty="0">
                <a:solidFill>
                  <a:schemeClr val="tx1"/>
                </a:solidFill>
              </a:rPr>
              <a:t>El H₂O₂ está demasiado concentrado o se usó una cubeta de plástico que absorbe en el UV; verificar la concentración de H₂O₂ por A</a:t>
            </a:r>
            <a:pPr indent="0" marL="0">
              <a:buNone/>
            </a:pPr>
            <a:r>
              <a:rPr lang="en-US" sz="1900" baseline="-40000" dirty="0">
                <a:solidFill>
                  <a:schemeClr val="tx1"/>
                </a:solidFill>
              </a:rPr>
              <a:t>240</a:t>
            </a:r>
            <a:pPr indent="0" marL="0">
              <a:buNone/>
            </a:pPr>
            <a:r>
              <a:rPr lang="en-US" sz="1900" dirty="0">
                <a:solidFill>
                  <a:schemeClr val="tx1"/>
                </a:solidFill>
              </a:rPr>
              <a:t>, diluirlo y usar cubeta de cuarzo.</a:t>
            </a:r>
            <a:endParaRPr lang="en-US" sz="1900" dirty="0"/>
          </a:p>
        </p:txBody>
      </p:sp>
      <p:sp>
        <p:nvSpPr>
          <p:cNvPr id="9" name="circulo"/>
          <p:cNvSpPr/>
          <p:nvPr/>
        </p:nvSpPr>
        <p:spPr>
          <a:xfrm>
            <a:off x="548640" y="2944368"/>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294436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2926080"/>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La catalasa ya está actuando.</a:t>
            </a:r>
            <a:endParaRPr lang="en-US" sz="1900" dirty="0"/>
          </a:p>
        </p:txBody>
      </p:sp>
      <p:sp>
        <p:nvSpPr>
          <p:cNvPr id="12" name="circulo"/>
          <p:cNvSpPr/>
          <p:nvPr/>
        </p:nvSpPr>
        <p:spPr>
          <a:xfrm>
            <a:off x="548640" y="3456432"/>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45643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438144"/>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Falta agregar más H₂O₂.</a:t>
            </a:r>
            <a:endParaRPr lang="en-US" sz="1900" dirty="0"/>
          </a:p>
        </p:txBody>
      </p:sp>
      <p:sp>
        <p:nvSpPr>
          <p:cNvPr id="15" name="circulo"/>
          <p:cNvSpPr/>
          <p:nvPr/>
        </p:nvSpPr>
        <p:spPr>
          <a:xfrm>
            <a:off x="548640" y="3968496"/>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396849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3950208"/>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Es lo esperado; con más absorbancia el ensayo es más sensible.</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B4-8 · Catalasa fuera de rango</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4 · Respuesta</a:t>
            </a:r>
            <a:endParaRPr lang="en-US" sz="1100" dirty="0"/>
          </a:p>
        </p:txBody>
      </p:sp>
      <p:sp>
        <p:nvSpPr>
          <p:cNvPr id="4" name="caja respuesta"/>
          <p:cNvSpPr/>
          <p:nvPr/>
        </p:nvSpPr>
        <p:spPr>
          <a:xfrm>
            <a:off x="548640" y="1371600"/>
            <a:ext cx="11094415" cy="762000"/>
          </a:xfrm>
          <a:prstGeom prst="roundRect">
            <a:avLst>
              <a:gd name="adj" fmla="val 14400"/>
            </a:avLst>
          </a:prstGeom>
          <a:solidFill>
            <a:schemeClr val="bg1"/>
          </a:solidFill>
          <a:ln w="19050">
            <a:solidFill>
              <a:schemeClr val="accent1"/>
            </a:solidFill>
            <a:prstDash val="solid"/>
          </a:ln>
        </p:spPr>
      </p:sp>
      <p:sp>
        <p:nvSpPr>
          <p:cNvPr id="5" name="circulo check"/>
          <p:cNvSpPr/>
          <p:nvPr/>
        </p:nvSpPr>
        <p:spPr>
          <a:xfrm>
            <a:off x="749808" y="152400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33728"/>
            <a:ext cx="237744" cy="237744"/>
          </a:xfrm>
          <a:prstGeom prst="rect">
            <a:avLst/>
          </a:prstGeom>
        </p:spPr>
      </p:pic>
      <p:sp>
        <p:nvSpPr>
          <p:cNvPr id="7" name="respuesta"/>
          <p:cNvSpPr txBox="1"/>
          <p:nvPr/>
        </p:nvSpPr>
        <p:spPr>
          <a:xfrm>
            <a:off x="1371600" y="1444752"/>
            <a:ext cx="10180015" cy="615696"/>
          </a:xfrm>
          <a:prstGeom prst="rect">
            <a:avLst/>
          </a:prstGeom>
          <a:noFill/>
          <a:ln/>
        </p:spPr>
        <p:txBody>
          <a:bodyPr wrap="square" lIns="254" tIns="254" rIns="254" bIns="254" rtlCol="0" anchor="ctr"/>
          <a:lstStyle/>
          <a:p>
            <a:pPr indent="0" marL="0">
              <a:buNone/>
            </a:pPr>
            <a:r>
              <a:rPr lang="en-US" sz="1600" b="1" dirty="0">
                <a:solidFill>
                  <a:schemeClr val="tx1"/>
                </a:solidFill>
              </a:rPr>
              <a:t>A)  </a:t>
            </a:r>
            <a:pPr indent="0" marL="0">
              <a:buNone/>
            </a:pPr>
            <a:r>
              <a:rPr lang="en-US" sz="1600" dirty="0">
                <a:solidFill>
                  <a:schemeClr val="tx1"/>
                </a:solidFill>
              </a:rPr>
              <a:t>El H₂O₂ está demasiado concentrado o se usó una cubeta de plástico que absorbe en el UV; verificar la concentración de H₂O₂ por A</a:t>
            </a:r>
            <a:pPr indent="0" marL="0">
              <a:buNone/>
            </a:pPr>
            <a:r>
              <a:rPr lang="en-US" sz="1600" baseline="-40000" dirty="0">
                <a:solidFill>
                  <a:schemeClr val="tx1"/>
                </a:solidFill>
              </a:rPr>
              <a:t>240</a:t>
            </a:r>
            <a:pPr indent="0" marL="0">
              <a:buNone/>
            </a:pPr>
            <a:r>
              <a:rPr lang="en-US" sz="1600" dirty="0">
                <a:solidFill>
                  <a:schemeClr val="tx1"/>
                </a:solidFill>
              </a:rPr>
              <a:t>, diluirlo y usar cubeta de cuarzo.</a:t>
            </a:r>
            <a:endParaRPr lang="en-US" sz="1600" dirty="0"/>
          </a:p>
        </p:txBody>
      </p:sp>
      <p:sp>
        <p:nvSpPr>
          <p:cNvPr id="8" name="circulo icono"/>
          <p:cNvSpPr/>
          <p:nvPr/>
        </p:nvSpPr>
        <p:spPr>
          <a:xfrm>
            <a:off x="548640" y="236220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444496"/>
            <a:ext cx="164592" cy="164592"/>
          </a:xfrm>
          <a:prstGeom prst="rect">
            <a:avLst/>
          </a:prstGeom>
        </p:spPr>
      </p:pic>
      <p:sp>
        <p:nvSpPr>
          <p:cNvPr id="10" name="subtitulo"/>
          <p:cNvSpPr txBox="1"/>
          <p:nvPr/>
        </p:nvSpPr>
        <p:spPr>
          <a:xfrm>
            <a:off x="987552"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2819400"/>
            <a:ext cx="5364328" cy="1222248"/>
          </a:xfrm>
          <a:prstGeom prst="rect">
            <a:avLst/>
          </a:prstGeom>
          <a:noFill/>
          <a:ln/>
        </p:spPr>
        <p:txBody>
          <a:bodyPr wrap="square" lIns="254" tIns="254" rIns="254" bIns="254" rtlCol="0" anchor="t"/>
          <a:lstStyle/>
          <a:p>
            <a:pPr indent="0" marL="0">
              <a:buNone/>
            </a:pPr>
            <a:r>
              <a:rPr lang="en-US" sz="1900" b="1" dirty="0">
                <a:solidFill>
                  <a:schemeClr val="tx1"/>
                </a:solidFill>
              </a:rPr>
              <a:t>Correcta: fuera del intervalo lineal del espectrofotómetro.</a:t>
            </a:r>
            <a:pPr indent="0" marL="0">
              <a:buNone/>
            </a:pPr>
            <a:r>
              <a:rPr lang="en-US" sz="1900" dirty="0">
                <a:solidFill>
                  <a:schemeClr val="tx1"/>
                </a:solidFill>
              </a:rPr>
              <a:t> Por encima de ~1 de absorbancia la lectura pierde linealidad; además el plástico común absorbe a 240 nm.</a:t>
            </a:r>
            <a:endParaRPr lang="en-US" sz="1900" dirty="0"/>
          </a:p>
        </p:txBody>
      </p:sp>
      <p:sp>
        <p:nvSpPr>
          <p:cNvPr id="12" name="circulo icono"/>
          <p:cNvSpPr/>
          <p:nvPr/>
        </p:nvSpPr>
        <p:spPr>
          <a:xfrm>
            <a:off x="6278728" y="236220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444496"/>
            <a:ext cx="164592" cy="164592"/>
          </a:xfrm>
          <a:prstGeom prst="rect">
            <a:avLst/>
          </a:prstGeom>
        </p:spPr>
      </p:pic>
      <p:sp>
        <p:nvSpPr>
          <p:cNvPr id="14" name="subtitulo"/>
          <p:cNvSpPr txBox="1"/>
          <p:nvPr/>
        </p:nvSpPr>
        <p:spPr>
          <a:xfrm>
            <a:off x="6717640"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295300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2819400"/>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«Más sensible»: a esas absorbancias la relación con la concentración ya no es lineal.</a:t>
            </a:r>
            <a:endParaRPr lang="en-US" sz="1900" dirty="0"/>
          </a:p>
        </p:txBody>
      </p:sp>
      <p:sp>
        <p:nvSpPr>
          <p:cNvPr id="17" name="vineta"/>
          <p:cNvSpPr/>
          <p:nvPr/>
        </p:nvSpPr>
        <p:spPr>
          <a:xfrm>
            <a:off x="6333592" y="365099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517392"/>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«La catalasa ya actúa»: aún no se agregó muestra.</a:t>
            </a:r>
            <a:endParaRPr lang="en-US" sz="1900" dirty="0"/>
          </a:p>
        </p:txBody>
      </p:sp>
      <p:sp>
        <p:nvSpPr>
          <p:cNvPr id="19" name="vineta"/>
          <p:cNvSpPr/>
          <p:nvPr/>
        </p:nvSpPr>
        <p:spPr>
          <a:xfrm>
            <a:off x="6333592" y="434898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215384"/>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«Más H₂O₂»: subiría todavía más la absorbancia.</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B4-9 · ¿Cuál extracto es más potente?</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4 · 1.5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Opción múltiple</a:t>
            </a:r>
            <a:endParaRPr lang="en-US" sz="1100" dirty="0"/>
          </a:p>
        </p:txBody>
      </p:sp>
      <p:sp>
        <p:nvSpPr>
          <p:cNvPr id="5" name="texto"/>
          <p:cNvSpPr txBox="1"/>
          <p:nvPr/>
        </p:nvSpPr>
        <p:spPr>
          <a:xfrm>
            <a:off x="548640" y="1371600"/>
            <a:ext cx="11094415" cy="673608"/>
          </a:xfrm>
          <a:prstGeom prst="rect">
            <a:avLst/>
          </a:prstGeom>
          <a:noFill/>
          <a:ln/>
        </p:spPr>
        <p:txBody>
          <a:bodyPr wrap="square" lIns="254" tIns="254" rIns="254" bIns="254" rtlCol="0" anchor="t"/>
          <a:lstStyle/>
          <a:p>
            <a:pPr indent="0" marL="0">
              <a:buNone/>
            </a:pPr>
            <a:r>
              <a:rPr lang="en-US" sz="2000" dirty="0">
                <a:solidFill>
                  <a:schemeClr val="tx1"/>
                </a:solidFill>
              </a:rPr>
              <a:t>Tres extractos dieron IC</a:t>
            </a:r>
            <a:pPr indent="0" marL="0">
              <a:buNone/>
            </a:pPr>
            <a:r>
              <a:rPr lang="en-US" sz="2000" baseline="-40000" dirty="0">
                <a:solidFill>
                  <a:schemeClr val="tx1"/>
                </a:solidFill>
              </a:rPr>
              <a:t>50</a:t>
            </a:r>
            <a:pPr indent="0" marL="0">
              <a:buNone/>
            </a:pPr>
            <a:r>
              <a:rPr lang="en-US" sz="2000" dirty="0">
                <a:solidFill>
                  <a:schemeClr val="tx1"/>
                </a:solidFill>
              </a:rPr>
              <a:t> en DPPH: A = 18 µg/mL, B = 65 µg/mL y C = «no alcanzó 50 % a 200 µg/mL». ¿Qué conclusión es correcta?</a:t>
            </a:r>
            <a:endParaRPr lang="en-US" sz="2000" dirty="0"/>
          </a:p>
        </p:txBody>
      </p:sp>
      <p:sp>
        <p:nvSpPr>
          <p:cNvPr id="6" name="circulo"/>
          <p:cNvSpPr/>
          <p:nvPr/>
        </p:nvSpPr>
        <p:spPr>
          <a:xfrm>
            <a:off x="548640" y="2209800"/>
            <a:ext cx="384048" cy="384048"/>
          </a:xfrm>
          <a:prstGeom prst="ellipse">
            <a:avLst/>
          </a:prstGeom>
          <a:solidFill>
            <a:schemeClr val="accent1"/>
          </a:solidFill>
          <a:ln w="12700">
            <a:solidFill>
              <a:schemeClr val="accent1"/>
            </a:solidFill>
            <a:prstDash val="solid"/>
          </a:ln>
        </p:spPr>
      </p:sp>
      <p:sp>
        <p:nvSpPr>
          <p:cNvPr id="7" name="letra"/>
          <p:cNvSpPr txBox="1"/>
          <p:nvPr/>
        </p:nvSpPr>
        <p:spPr>
          <a:xfrm>
            <a:off x="548640" y="22098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opcion"/>
          <p:cNvSpPr txBox="1"/>
          <p:nvPr/>
        </p:nvSpPr>
        <p:spPr>
          <a:xfrm>
            <a:off x="1097280" y="2191512"/>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B es el más potente porque su IC</a:t>
            </a:r>
            <a:pPr indent="0" marL="0">
              <a:buNone/>
            </a:pPr>
            <a:r>
              <a:rPr lang="en-US" sz="1900" baseline="-40000" dirty="0">
                <a:solidFill>
                  <a:schemeClr val="tx1"/>
                </a:solidFill>
              </a:rPr>
              <a:t>50</a:t>
            </a:r>
            <a:pPr indent="0" marL="0">
              <a:buNone/>
            </a:pPr>
            <a:r>
              <a:rPr lang="en-US" sz="1900" dirty="0">
                <a:solidFill>
                  <a:schemeClr val="tx1"/>
                </a:solidFill>
              </a:rPr>
              <a:t> es mayor.</a:t>
            </a:r>
            <a:endParaRPr lang="en-US" sz="1900" dirty="0"/>
          </a:p>
        </p:txBody>
      </p:sp>
      <p:sp>
        <p:nvSpPr>
          <p:cNvPr id="9" name="circulo"/>
          <p:cNvSpPr/>
          <p:nvPr/>
        </p:nvSpPr>
        <p:spPr>
          <a:xfrm>
            <a:off x="548640" y="2721864"/>
            <a:ext cx="384048" cy="384048"/>
          </a:xfrm>
          <a:prstGeom prst="ellipse">
            <a:avLst/>
          </a:prstGeom>
          <a:solidFill>
            <a:schemeClr val="accent1"/>
          </a:solidFill>
          <a:ln w="12700">
            <a:solidFill>
              <a:schemeClr val="accent1"/>
            </a:solidFill>
            <a:prstDash val="solid"/>
          </a:ln>
        </p:spPr>
      </p:sp>
      <p:sp>
        <p:nvSpPr>
          <p:cNvPr id="10" name="letra"/>
          <p:cNvSpPr txBox="1"/>
          <p:nvPr/>
        </p:nvSpPr>
        <p:spPr>
          <a:xfrm>
            <a:off x="548640" y="272186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opcion"/>
          <p:cNvSpPr txBox="1"/>
          <p:nvPr/>
        </p:nvSpPr>
        <p:spPr>
          <a:xfrm>
            <a:off x="1097280" y="2703576"/>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C es el más potente porque no se pudo medir.</a:t>
            </a:r>
            <a:endParaRPr lang="en-US" sz="1900" dirty="0"/>
          </a:p>
        </p:txBody>
      </p:sp>
      <p:sp>
        <p:nvSpPr>
          <p:cNvPr id="12" name="circulo"/>
          <p:cNvSpPr/>
          <p:nvPr/>
        </p:nvSpPr>
        <p:spPr>
          <a:xfrm>
            <a:off x="548640" y="3233928"/>
            <a:ext cx="384048" cy="384048"/>
          </a:xfrm>
          <a:prstGeom prst="ellipse">
            <a:avLst/>
          </a:prstGeom>
          <a:solidFill>
            <a:schemeClr val="accent1"/>
          </a:solidFill>
          <a:ln w="12700">
            <a:solidFill>
              <a:schemeClr val="accent1"/>
            </a:solidFill>
            <a:prstDash val="solid"/>
          </a:ln>
        </p:spPr>
      </p:sp>
      <p:sp>
        <p:nvSpPr>
          <p:cNvPr id="13" name="letra"/>
          <p:cNvSpPr txBox="1"/>
          <p:nvPr/>
        </p:nvSpPr>
        <p:spPr>
          <a:xfrm>
            <a:off x="548640" y="323392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opcion"/>
          <p:cNvSpPr txBox="1"/>
          <p:nvPr/>
        </p:nvSpPr>
        <p:spPr>
          <a:xfrm>
            <a:off x="1097280" y="3215640"/>
            <a:ext cx="10545775" cy="420624"/>
          </a:xfrm>
          <a:prstGeom prst="rect">
            <a:avLst/>
          </a:prstGeom>
          <a:noFill/>
          <a:ln/>
        </p:spPr>
        <p:txBody>
          <a:bodyPr wrap="square" lIns="254" tIns="254" rIns="254" bIns="254" rtlCol="0" anchor="ctr"/>
          <a:lstStyle/>
          <a:p>
            <a:pPr indent="0" marL="0">
              <a:buNone/>
            </a:pPr>
            <a:r>
              <a:rPr lang="en-US" sz="1900" dirty="0">
                <a:solidFill>
                  <a:schemeClr val="tx1"/>
                </a:solidFill>
              </a:rPr>
              <a:t>A es el mejor antioxidante para el organismo.</a:t>
            </a:r>
            <a:endParaRPr lang="en-US" sz="1900" dirty="0"/>
          </a:p>
        </p:txBody>
      </p:sp>
      <p:sp>
        <p:nvSpPr>
          <p:cNvPr id="15" name="circulo"/>
          <p:cNvSpPr/>
          <p:nvPr/>
        </p:nvSpPr>
        <p:spPr>
          <a:xfrm>
            <a:off x="548640" y="3745992"/>
            <a:ext cx="384048" cy="384048"/>
          </a:xfrm>
          <a:prstGeom prst="ellipse">
            <a:avLst/>
          </a:prstGeom>
          <a:solidFill>
            <a:schemeClr val="accent1"/>
          </a:solidFill>
          <a:ln w="12700">
            <a:solidFill>
              <a:schemeClr val="accent1"/>
            </a:solidFill>
            <a:prstDash val="solid"/>
          </a:ln>
        </p:spPr>
      </p:sp>
      <p:sp>
        <p:nvSpPr>
          <p:cNvPr id="16" name="letra"/>
          <p:cNvSpPr txBox="1"/>
          <p:nvPr/>
        </p:nvSpPr>
        <p:spPr>
          <a:xfrm>
            <a:off x="548640" y="37459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7" name="opcion"/>
          <p:cNvSpPr txBox="1"/>
          <p:nvPr/>
        </p:nvSpPr>
        <p:spPr>
          <a:xfrm>
            <a:off x="1097280" y="3727704"/>
            <a:ext cx="10545775" cy="643128"/>
          </a:xfrm>
          <a:prstGeom prst="rect">
            <a:avLst/>
          </a:prstGeom>
          <a:noFill/>
          <a:ln/>
        </p:spPr>
        <p:txBody>
          <a:bodyPr wrap="square" lIns="254" tIns="254" rIns="254" bIns="254" rtlCol="0" anchor="ctr"/>
          <a:lstStyle/>
          <a:p>
            <a:pPr indent="0" marL="0">
              <a:buNone/>
            </a:pPr>
            <a:r>
              <a:rPr lang="en-US" sz="1900" dirty="0">
                <a:solidFill>
                  <a:schemeClr val="tx1"/>
                </a:solidFill>
              </a:rPr>
              <a:t>A es el más potente en este ensayo porque necesita menos extracto para inhibir el 50 %; para C se reporta IC</a:t>
            </a:r>
            <a:pPr indent="0" marL="0">
              <a:buNone/>
            </a:pPr>
            <a:r>
              <a:rPr lang="en-US" sz="1900" baseline="-40000" dirty="0">
                <a:solidFill>
                  <a:schemeClr val="tx1"/>
                </a:solidFill>
              </a:rPr>
              <a:t>50</a:t>
            </a:r>
            <a:pPr indent="0" marL="0">
              <a:buNone/>
            </a:pPr>
            <a:r>
              <a:rPr lang="en-US" sz="1900" dirty="0">
                <a:solidFill>
                  <a:schemeClr val="tx1"/>
                </a:solidFill>
              </a:rPr>
              <a:t> &gt; 200 µg/mL, sin extrapolar.</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B4-9 · ¿Cuál extracto es más potente?</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4 · Respuesta</a:t>
            </a:r>
            <a:endParaRPr lang="en-US" sz="1100" dirty="0"/>
          </a:p>
        </p:txBody>
      </p:sp>
      <p:sp>
        <p:nvSpPr>
          <p:cNvPr id="4" name="caja respuesta"/>
          <p:cNvSpPr/>
          <p:nvPr/>
        </p:nvSpPr>
        <p:spPr>
          <a:xfrm>
            <a:off x="548640" y="1371600"/>
            <a:ext cx="11094415" cy="762000"/>
          </a:xfrm>
          <a:prstGeom prst="roundRect">
            <a:avLst>
              <a:gd name="adj" fmla="val 14400"/>
            </a:avLst>
          </a:prstGeom>
          <a:solidFill>
            <a:schemeClr val="bg1"/>
          </a:solidFill>
          <a:ln w="19050">
            <a:solidFill>
              <a:schemeClr val="accent1"/>
            </a:solidFill>
            <a:prstDash val="solid"/>
          </a:ln>
        </p:spPr>
      </p:sp>
      <p:sp>
        <p:nvSpPr>
          <p:cNvPr id="5" name="circulo check"/>
          <p:cNvSpPr/>
          <p:nvPr/>
        </p:nvSpPr>
        <p:spPr>
          <a:xfrm>
            <a:off x="749808" y="152400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33728"/>
            <a:ext cx="237744" cy="237744"/>
          </a:xfrm>
          <a:prstGeom prst="rect">
            <a:avLst/>
          </a:prstGeom>
        </p:spPr>
      </p:pic>
      <p:sp>
        <p:nvSpPr>
          <p:cNvPr id="7" name="respuesta"/>
          <p:cNvSpPr txBox="1"/>
          <p:nvPr/>
        </p:nvSpPr>
        <p:spPr>
          <a:xfrm>
            <a:off x="1371600" y="1444752"/>
            <a:ext cx="10180015" cy="615696"/>
          </a:xfrm>
          <a:prstGeom prst="rect">
            <a:avLst/>
          </a:prstGeom>
          <a:noFill/>
          <a:ln/>
        </p:spPr>
        <p:txBody>
          <a:bodyPr wrap="square" lIns="254" tIns="254" rIns="254" bIns="254" rtlCol="0" anchor="ctr"/>
          <a:lstStyle/>
          <a:p>
            <a:pPr indent="0" marL="0">
              <a:buNone/>
            </a:pPr>
            <a:r>
              <a:rPr lang="en-US" sz="1600" b="1" dirty="0">
                <a:solidFill>
                  <a:schemeClr val="tx1"/>
                </a:solidFill>
              </a:rPr>
              <a:t>D)  </a:t>
            </a:r>
            <a:pPr indent="0" marL="0">
              <a:buNone/>
            </a:pPr>
            <a:r>
              <a:rPr lang="en-US" sz="1600" dirty="0">
                <a:solidFill>
                  <a:schemeClr val="tx1"/>
                </a:solidFill>
              </a:rPr>
              <a:t>A es el más potente en este ensayo porque necesita menos extracto para inhibir el 50 %; para C se reporta IC</a:t>
            </a:r>
            <a:pPr indent="0" marL="0">
              <a:buNone/>
            </a:pPr>
            <a:r>
              <a:rPr lang="en-US" sz="1600" baseline="-40000" dirty="0">
                <a:solidFill>
                  <a:schemeClr val="tx1"/>
                </a:solidFill>
              </a:rPr>
              <a:t>50</a:t>
            </a:r>
            <a:pPr indent="0" marL="0">
              <a:buNone/>
            </a:pPr>
            <a:r>
              <a:rPr lang="en-US" sz="1600" dirty="0">
                <a:solidFill>
                  <a:schemeClr val="tx1"/>
                </a:solidFill>
              </a:rPr>
              <a:t> &gt; 200 µg/mL, sin extrapolar.</a:t>
            </a:r>
            <a:endParaRPr lang="en-US" sz="1600" dirty="0"/>
          </a:p>
        </p:txBody>
      </p:sp>
      <p:sp>
        <p:nvSpPr>
          <p:cNvPr id="8" name="circulo icono"/>
          <p:cNvSpPr/>
          <p:nvPr/>
        </p:nvSpPr>
        <p:spPr>
          <a:xfrm>
            <a:off x="548640" y="2362200"/>
            <a:ext cx="329184" cy="329184"/>
          </a:xfrm>
          <a:prstGeom prst="ellipse">
            <a:avLst/>
          </a:prstGeom>
          <a:solidFill>
            <a:schemeClr val="accent1"/>
          </a:solidFill>
          <a:ln w="12700">
            <a:solidFill>
              <a:schemeClr val="accent1"/>
            </a:solidFill>
            <a:prstDash val="solid"/>
          </a:ln>
        </p:spPr>
      </p:sp>
      <p:pic>
        <p:nvPicPr>
          <p:cNvPr id="9" name="Image 1" descr="Por qué es correcta">    </p:cNvPr>
          <p:cNvPicPr>
            <a:picLocks noChangeAspect="1"/>
          </p:cNvPicPr>
          <p:nvPr/>
        </p:nvPicPr>
        <p:blipFill>
          <a:blip r:embed="rId2"/>
          <a:stretch>
            <a:fillRect/>
          </a:stretch>
        </p:blipFill>
        <p:spPr>
          <a:xfrm>
            <a:off x="630936" y="2444496"/>
            <a:ext cx="164592" cy="164592"/>
          </a:xfrm>
          <a:prstGeom prst="rect">
            <a:avLst/>
          </a:prstGeom>
        </p:spPr>
      </p:pic>
      <p:sp>
        <p:nvSpPr>
          <p:cNvPr id="10" name="subtitulo"/>
          <p:cNvSpPr txBox="1"/>
          <p:nvPr/>
        </p:nvSpPr>
        <p:spPr>
          <a:xfrm>
            <a:off x="987552"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es correcta</a:t>
            </a:r>
            <a:endParaRPr lang="en-US" sz="1600" dirty="0"/>
          </a:p>
        </p:txBody>
      </p:sp>
      <p:sp>
        <p:nvSpPr>
          <p:cNvPr id="11" name="texto"/>
          <p:cNvSpPr txBox="1"/>
          <p:nvPr/>
        </p:nvSpPr>
        <p:spPr>
          <a:xfrm>
            <a:off x="548640" y="2819400"/>
            <a:ext cx="5364328" cy="932688"/>
          </a:xfrm>
          <a:prstGeom prst="rect">
            <a:avLst/>
          </a:prstGeom>
          <a:noFill/>
          <a:ln/>
        </p:spPr>
        <p:txBody>
          <a:bodyPr wrap="square" lIns="254" tIns="254" rIns="254" bIns="254" rtlCol="0" anchor="t"/>
          <a:lstStyle/>
          <a:p>
            <a:pPr indent="0" marL="0">
              <a:buNone/>
            </a:pPr>
            <a:r>
              <a:rPr lang="en-US" sz="1900" b="1" dirty="0">
                <a:solidFill>
                  <a:schemeClr val="tx1"/>
                </a:solidFill>
              </a:rPr>
              <a:t>Correcta: menor IC</a:t>
            </a:r>
            <a:pPr indent="0" marL="0">
              <a:buNone/>
            </a:pPr>
            <a:r>
              <a:rPr lang="en-US" sz="1900" b="1" baseline="-40000" dirty="0">
                <a:solidFill>
                  <a:schemeClr val="tx1"/>
                </a:solidFill>
              </a:rPr>
              <a:t>50</a:t>
            </a:r>
            <a:pPr indent="0" marL="0">
              <a:buNone/>
            </a:pPr>
            <a:r>
              <a:rPr lang="en-US" sz="1900" b="1" dirty="0">
                <a:solidFill>
                  <a:schemeClr val="tx1"/>
                </a:solidFill>
              </a:rPr>
              <a:t> = mayor potencia en el ensayo.</a:t>
            </a:r>
            <a:pPr indent="0" marL="0">
              <a:buNone/>
            </a:pPr>
            <a:r>
              <a:rPr lang="en-US" sz="1900" dirty="0">
                <a:solidFill>
                  <a:schemeClr val="tx1"/>
                </a:solidFill>
              </a:rPr>
              <a:t> La IC</a:t>
            </a:r>
            <a:pPr indent="0" marL="0">
              <a:buNone/>
            </a:pPr>
            <a:r>
              <a:rPr lang="en-US" sz="1900" baseline="-40000" dirty="0">
                <a:solidFill>
                  <a:schemeClr val="tx1"/>
                </a:solidFill>
              </a:rPr>
              <a:t>50</a:t>
            </a:r>
            <a:pPr indent="0" marL="0">
              <a:buNone/>
            </a:pPr>
            <a:r>
              <a:rPr lang="en-US" sz="1900" dirty="0">
                <a:solidFill>
                  <a:schemeClr val="tx1"/>
                </a:solidFill>
              </a:rPr>
              <a:t> es una concentración: cuanto menos extracto se necesita, más activo es.</a:t>
            </a:r>
            <a:endParaRPr lang="en-US" sz="1900" dirty="0"/>
          </a:p>
        </p:txBody>
      </p:sp>
      <p:sp>
        <p:nvSpPr>
          <p:cNvPr id="12" name="circulo icono"/>
          <p:cNvSpPr/>
          <p:nvPr/>
        </p:nvSpPr>
        <p:spPr>
          <a:xfrm>
            <a:off x="6278728" y="2362200"/>
            <a:ext cx="329184" cy="329184"/>
          </a:xfrm>
          <a:prstGeom prst="ellipse">
            <a:avLst/>
          </a:prstGeom>
          <a:solidFill>
            <a:schemeClr val="accent2"/>
          </a:solidFill>
          <a:ln w="12700">
            <a:solidFill>
              <a:schemeClr val="accent2"/>
            </a:solidFill>
            <a:prstDash val="solid"/>
          </a:ln>
        </p:spPr>
      </p:sp>
      <p:pic>
        <p:nvPicPr>
          <p:cNvPr id="13" name="Image 2" descr="Por qué fallan las demás">    </p:cNvPr>
          <p:cNvPicPr>
            <a:picLocks noChangeAspect="1"/>
          </p:cNvPicPr>
          <p:nvPr/>
        </p:nvPicPr>
        <p:blipFill>
          <a:blip r:embed="rId3"/>
          <a:stretch>
            <a:fillRect/>
          </a:stretch>
        </p:blipFill>
        <p:spPr>
          <a:xfrm>
            <a:off x="6361024" y="2444496"/>
            <a:ext cx="164592" cy="164592"/>
          </a:xfrm>
          <a:prstGeom prst="rect">
            <a:avLst/>
          </a:prstGeom>
        </p:spPr>
      </p:pic>
      <p:sp>
        <p:nvSpPr>
          <p:cNvPr id="14" name="subtitulo"/>
          <p:cNvSpPr txBox="1"/>
          <p:nvPr/>
        </p:nvSpPr>
        <p:spPr>
          <a:xfrm>
            <a:off x="6717640" y="2362200"/>
            <a:ext cx="4925416" cy="329184"/>
          </a:xfrm>
          <a:prstGeom prst="rect">
            <a:avLst/>
          </a:prstGeom>
          <a:noFill/>
          <a:ln/>
        </p:spPr>
        <p:txBody>
          <a:bodyPr wrap="square" lIns="0" tIns="0" rIns="0" bIns="0" rtlCol="0" anchor="ctr"/>
          <a:lstStyle/>
          <a:p>
            <a:pPr indent="0" marL="0">
              <a:buNone/>
            </a:pPr>
            <a:r>
              <a:rPr lang="en-US" sz="1600" b="1" dirty="0">
                <a:solidFill>
                  <a:schemeClr val="tx2"/>
                </a:solidFill>
              </a:rPr>
              <a:t>Por qué fallan las demás</a:t>
            </a:r>
            <a:endParaRPr lang="en-US" sz="1600" dirty="0"/>
          </a:p>
        </p:txBody>
      </p:sp>
      <p:sp>
        <p:nvSpPr>
          <p:cNvPr id="15" name="vineta"/>
          <p:cNvSpPr/>
          <p:nvPr/>
        </p:nvSpPr>
        <p:spPr>
          <a:xfrm>
            <a:off x="6333592" y="2953004"/>
            <a:ext cx="86868" cy="86868"/>
          </a:xfrm>
          <a:prstGeom prst="ellipse">
            <a:avLst/>
          </a:prstGeom>
          <a:solidFill>
            <a:schemeClr val="tx2"/>
          </a:solidFill>
          <a:ln w="12700">
            <a:solidFill>
              <a:schemeClr val="tx2"/>
            </a:solidFill>
            <a:prstDash val="solid"/>
          </a:ln>
        </p:spPr>
      </p:sp>
      <p:sp>
        <p:nvSpPr>
          <p:cNvPr id="16" name="elemento"/>
          <p:cNvSpPr txBox="1"/>
          <p:nvPr/>
        </p:nvSpPr>
        <p:spPr>
          <a:xfrm>
            <a:off x="6534760" y="2819400"/>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«B porque es mayor»: es el error más frecuente; invierte la lógica.</a:t>
            </a:r>
            <a:endParaRPr lang="en-US" sz="1900" dirty="0"/>
          </a:p>
        </p:txBody>
      </p:sp>
      <p:sp>
        <p:nvSpPr>
          <p:cNvPr id="17" name="vineta"/>
          <p:cNvSpPr/>
          <p:nvPr/>
        </p:nvSpPr>
        <p:spPr>
          <a:xfrm>
            <a:off x="6333592" y="3650996"/>
            <a:ext cx="86868" cy="86868"/>
          </a:xfrm>
          <a:prstGeom prst="ellipse">
            <a:avLst/>
          </a:prstGeom>
          <a:solidFill>
            <a:schemeClr val="tx2"/>
          </a:solidFill>
          <a:ln w="12700">
            <a:solidFill>
              <a:schemeClr val="tx2"/>
            </a:solidFill>
            <a:prstDash val="solid"/>
          </a:ln>
        </p:spPr>
      </p:sp>
      <p:sp>
        <p:nvSpPr>
          <p:cNvPr id="18" name="elemento"/>
          <p:cNvSpPr txBox="1"/>
          <p:nvPr/>
        </p:nvSpPr>
        <p:spPr>
          <a:xfrm>
            <a:off x="6534760" y="3517392"/>
            <a:ext cx="5108296" cy="643128"/>
          </a:xfrm>
          <a:prstGeom prst="rect">
            <a:avLst/>
          </a:prstGeom>
          <a:noFill/>
          <a:ln/>
        </p:spPr>
        <p:txBody>
          <a:bodyPr wrap="square" lIns="254" tIns="254" rIns="254" bIns="254" rtlCol="0" anchor="t"/>
          <a:lstStyle/>
          <a:p>
            <a:pPr indent="0" marL="0">
              <a:buNone/>
            </a:pPr>
            <a:r>
              <a:rPr lang="en-US" sz="1900" dirty="0">
                <a:solidFill>
                  <a:schemeClr val="tx1"/>
                </a:solidFill>
              </a:rPr>
              <a:t>«C porque no se pudo medir»: no alcanzar 50 % indica menor actividad en ese intervalo.</a:t>
            </a:r>
            <a:endParaRPr lang="en-US" sz="1900" dirty="0"/>
          </a:p>
        </p:txBody>
      </p:sp>
      <p:sp>
        <p:nvSpPr>
          <p:cNvPr id="19" name="vineta"/>
          <p:cNvSpPr/>
          <p:nvPr/>
        </p:nvSpPr>
        <p:spPr>
          <a:xfrm>
            <a:off x="6333592" y="4348988"/>
            <a:ext cx="86868" cy="86868"/>
          </a:xfrm>
          <a:prstGeom prst="ellipse">
            <a:avLst/>
          </a:prstGeom>
          <a:solidFill>
            <a:schemeClr val="tx2"/>
          </a:solidFill>
          <a:ln w="12700">
            <a:solidFill>
              <a:schemeClr val="tx2"/>
            </a:solidFill>
            <a:prstDash val="solid"/>
          </a:ln>
        </p:spPr>
      </p:sp>
      <p:sp>
        <p:nvSpPr>
          <p:cNvPr id="20" name="elemento"/>
          <p:cNvSpPr txBox="1"/>
          <p:nvPr/>
        </p:nvSpPr>
        <p:spPr>
          <a:xfrm>
            <a:off x="6534760" y="4215384"/>
            <a:ext cx="5108296" cy="932688"/>
          </a:xfrm>
          <a:prstGeom prst="rect">
            <a:avLst/>
          </a:prstGeom>
          <a:noFill/>
          <a:ln/>
        </p:spPr>
        <p:txBody>
          <a:bodyPr wrap="square" lIns="254" tIns="254" rIns="254" bIns="254" rtlCol="0" anchor="t"/>
          <a:lstStyle/>
          <a:p>
            <a:pPr indent="0" marL="0">
              <a:buNone/>
            </a:pPr>
            <a:r>
              <a:rPr lang="en-US" sz="1900" dirty="0">
                <a:solidFill>
                  <a:schemeClr val="tx1"/>
                </a:solidFill>
              </a:rPr>
              <a:t>«Mejor para el organismo»: DPPH es un ensayo químico in vitro; no considera absorción ni metabolismo.</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B4-10 · Leer los ensayos en conjunto</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Bloque 4 · 3 pts</a:t>
            </a:r>
            <a:endParaRPr lang="en-US" sz="1100" dirty="0"/>
          </a:p>
        </p:txBody>
      </p:sp>
      <p:sp>
        <p:nvSpPr>
          <p:cNvPr id="4" name="etiqueta"/>
          <p:cNvSpPr txBox="1"/>
          <p:nvPr/>
        </p:nvSpPr>
        <p:spPr>
          <a:xfrm>
            <a:off x="3611880" y="201168"/>
            <a:ext cx="4206240" cy="274320"/>
          </a:xfrm>
          <a:prstGeom prst="roundRect">
            <a:avLst>
              <a:gd name="adj" fmla="val 26667"/>
            </a:avLst>
          </a:prstGeom>
          <a:solidFill>
            <a:schemeClr val="bg2"/>
          </a:solidFill>
          <a:ln/>
        </p:spPr>
        <p:txBody>
          <a:bodyPr wrap="square" lIns="0" tIns="0" rIns="0" bIns="0" rtlCol="0" anchor="ctr"/>
          <a:lstStyle/>
          <a:p>
            <a:pPr algn="ctr" indent="0" marL="0">
              <a:buNone/>
            </a:pPr>
            <a:r>
              <a:rPr lang="en-US" sz="1100" b="1" dirty="0">
                <a:solidFill>
                  <a:schemeClr val="tx2"/>
                </a:solidFill>
              </a:rPr>
              <a:t>Selección múltiple: marca todas las correctas</a:t>
            </a:r>
            <a:endParaRPr lang="en-US" sz="1100" dirty="0"/>
          </a:p>
        </p:txBody>
      </p:sp>
      <p:sp>
        <p:nvSpPr>
          <p:cNvPr id="5" name="texto"/>
          <p:cNvSpPr txBox="1"/>
          <p:nvPr/>
        </p:nvSpPr>
        <p:spPr>
          <a:xfrm>
            <a:off x="548640" y="1371600"/>
            <a:ext cx="5120640" cy="643128"/>
          </a:xfrm>
          <a:prstGeom prst="rect">
            <a:avLst/>
          </a:prstGeom>
          <a:noFill/>
          <a:ln/>
        </p:spPr>
        <p:txBody>
          <a:bodyPr wrap="square" lIns="254" tIns="254" rIns="254" bIns="254" rtlCol="0" anchor="t"/>
          <a:lstStyle/>
          <a:p>
            <a:pPr indent="0" marL="0">
              <a:buNone/>
            </a:pPr>
            <a:r>
              <a:rPr lang="en-US" sz="1900" dirty="0">
                <a:solidFill>
                  <a:schemeClr val="tx1"/>
                </a:solidFill>
              </a:rPr>
              <a:t>Ratas con dieta alta en grasa durante 8 semanas, frente al control:</a:t>
            </a:r>
            <a:endParaRPr lang="en-US" sz="1900" dirty="0"/>
          </a:p>
        </p:txBody>
      </p:sp>
      <p:graphicFrame>
        <p:nvGraphicFramePr>
          <p:cNvPr id="93" name="tabla"/>
          <p:cNvGraphicFramePr>
            <a:graphicFrameLocks noGrp="1"/>
          </p:cNvGraphicFramePr>
          <p:nvPr>
            <p:extLst>
              <p:ext uri="{D42A27DB-BD31-4B8C-83A1-F6EECF244321}">
                <p14:modId xmlns:p14="http://schemas.microsoft.com/office/powerpoint/2010/main" val="1579011935"/>
              </p:ext>
            </p:extLst>
          </p:nvPr>
        </p:nvGraphicFramePr>
        <p:xfrm>
          <a:off x="548640" y="2087880"/>
          <a:ext cx="4389120" cy="914400"/>
        </p:xfrm>
        <a:graphic>
          <a:graphicData uri="http://schemas.openxmlformats.org/drawingml/2006/table">
            <a:tbl>
              <a:tblPr/>
              <a:tblGrid>
                <a:gridCol w="2194560"/>
                <a:gridCol w="2194560"/>
              </a:tblGrid>
              <a:tr h="0">
                <a:tc>
                  <a:txBody>
                    <a:bodyPr/>
                    <a:lstStyle/>
                    <a:p>
                      <a:pPr indent="0" marL="0">
                        <a:buNone/>
                      </a:pPr>
                      <a:r>
                        <a:rPr lang="en-US" sz="1800" b="1" dirty="0">
                          <a:solidFill>
                            <a:schemeClr val="tx1"/>
                          </a:solidFill>
                        </a:rPr>
                        <a:t>Marcador</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EEF4F3"/>
                    </a:solidFill>
                  </a:tcPr>
                </a:tc>
                <a:tc>
                  <a:txBody>
                    <a:bodyPr/>
                    <a:lstStyle/>
                    <a:p>
                      <a:pPr indent="0" marL="0">
                        <a:buNone/>
                      </a:pPr>
                      <a:r>
                        <a:rPr lang="en-US" sz="1800" b="1" dirty="0">
                          <a:solidFill>
                            <a:schemeClr val="tx1"/>
                          </a:solidFill>
                        </a:rPr>
                        <a:t>Cambio</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EEF4F3"/>
                    </a:solidFill>
                  </a:tcPr>
                </a:tc>
              </a:tr>
              <a:tr h="0">
                <a:tc>
                  <a:txBody>
                    <a:bodyPr/>
                    <a:lstStyle/>
                    <a:p>
                      <a:pPr indent="0" marL="0">
                        <a:buNone/>
                      </a:pPr>
                      <a:r>
                        <a:rPr lang="en-US" sz="1800" dirty="0">
                          <a:solidFill>
                            <a:schemeClr val="tx1"/>
                          </a:solidFill>
                        </a:rPr>
                        <a:t>SOD hepática (U/mg)</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 55 %</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r h="0">
                <a:tc>
                  <a:txBody>
                    <a:bodyPr/>
                    <a:lstStyle/>
                    <a:p>
                      <a:pPr indent="0" marL="0">
                        <a:buNone/>
                      </a:pPr>
                      <a:r>
                        <a:rPr lang="en-US" sz="1800" dirty="0">
                          <a:solidFill>
                            <a:schemeClr val="tx1"/>
                          </a:solidFill>
                        </a:rPr>
                        <a:t>Catalasa hepática (U/mg)</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 30 %</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r h="0">
                <a:tc>
                  <a:txBody>
                    <a:bodyPr/>
                    <a:lstStyle/>
                    <a:p>
                      <a:pPr indent="0" marL="0">
                        <a:buNone/>
                      </a:pPr>
                      <a:r>
                        <a:rPr lang="en-US" sz="1800" dirty="0">
                          <a:solidFill>
                            <a:schemeClr val="tx1"/>
                          </a:solidFill>
                        </a:rPr>
                        <a:t>TBARS (MDA)</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 80 %</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r h="0">
                <a:tc>
                  <a:txBody>
                    <a:bodyPr/>
                    <a:lstStyle/>
                    <a:p>
                      <a:pPr indent="0" marL="0">
                        <a:buNone/>
                      </a:pPr>
                      <a:r>
                        <a:rPr lang="en-US" sz="1800" dirty="0">
                          <a:solidFill>
                            <a:schemeClr val="tx1"/>
                          </a:solidFill>
                        </a:rPr>
                        <a:t>TAC sérica</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 20 %, con ácido úrico ↑ 45 %</a:t>
                      </a:r>
                      <a:endParaRPr lang="en-US" sz="1800" dirty="0"/>
                    </a:p>
                  </a:txBody>
                  <a:tcPr marL="45720" marR="45720" marT="45720" marB="45720" anchor="ctr">
                    <a:lnL w="9525" cap="flat" cmpd="sng" algn="ctr">
                      <a:solidFill>
                        <a:srgbClr val="B8C4C2"/>
                      </a:solidFill>
                      <a:prstDash val="solid"/>
                      <a:round/>
                      <a:headEnd type="none" w="med" len="med"/>
                      <a:tailEnd type="none" w="med" len="med"/>
                    </a:lnL>
                    <a:lnR w="9525" cap="flat" cmpd="sng" algn="ctr">
                      <a:solidFill>
                        <a:srgbClr val="B8C4C2"/>
                      </a:solidFill>
                      <a:prstDash val="solid"/>
                      <a:round/>
                      <a:headEnd type="none" w="med" len="med"/>
                      <a:tailEnd type="none" w="med" len="med"/>
                    </a:lnR>
                    <a:lnT w="9525" cap="flat" cmpd="sng" algn="ctr">
                      <a:solidFill>
                        <a:srgbClr val="B8C4C2"/>
                      </a:solidFill>
                      <a:prstDash val="solid"/>
                      <a:round/>
                      <a:headEnd type="none" w="med" len="med"/>
                      <a:tailEnd type="none" w="med" len="med"/>
                    </a:lnT>
                    <a:lnB w="9525" cap="flat" cmpd="sng" algn="ctr">
                      <a:solidFill>
                        <a:srgbClr val="B8C4C2"/>
                      </a:solidFill>
                      <a:prstDash val="solid"/>
                      <a:round/>
                      <a:headEnd type="none" w="med" len="med"/>
                      <a:tailEnd type="none" w="med" len="med"/>
                    </a:lnB>
                    <a:solidFill>
                      <a:srgbClr val="FFFFFF"/>
                    </a:solidFill>
                  </a:tcPr>
                </a:tc>
              </a:tr>
            </a:tbl>
          </a:graphicData>
        </a:graphic>
      </p:graphicFrame>
      <p:sp>
        <p:nvSpPr>
          <p:cNvPr id="7" name="texto"/>
          <p:cNvSpPr txBox="1"/>
          <p:nvPr/>
        </p:nvSpPr>
        <p:spPr>
          <a:xfrm>
            <a:off x="548640" y="4922520"/>
            <a:ext cx="5120640" cy="643128"/>
          </a:xfrm>
          <a:prstGeom prst="rect">
            <a:avLst/>
          </a:prstGeom>
          <a:noFill/>
          <a:ln/>
        </p:spPr>
        <p:txBody>
          <a:bodyPr wrap="square" lIns="254" tIns="254" rIns="254" bIns="254" rtlCol="0" anchor="t"/>
          <a:lstStyle/>
          <a:p>
            <a:pPr indent="0" marL="0">
              <a:buNone/>
            </a:pPr>
            <a:r>
              <a:rPr lang="en-US" sz="1900" dirty="0">
                <a:solidFill>
                  <a:schemeClr val="tx1"/>
                </a:solidFill>
              </a:rPr>
              <a:t>Selecciona las interpretaciones bien sustentadas.</a:t>
            </a:r>
            <a:endParaRPr lang="en-US" sz="1900" dirty="0"/>
          </a:p>
        </p:txBody>
      </p:sp>
      <p:sp>
        <p:nvSpPr>
          <p:cNvPr id="8" name="circulo"/>
          <p:cNvSpPr/>
          <p:nvPr/>
        </p:nvSpPr>
        <p:spPr>
          <a:xfrm>
            <a:off x="6035040" y="1389888"/>
            <a:ext cx="384048" cy="384048"/>
          </a:xfrm>
          <a:prstGeom prst="ellipse">
            <a:avLst/>
          </a:prstGeom>
          <a:solidFill>
            <a:schemeClr val="accent1"/>
          </a:solidFill>
          <a:ln w="12700">
            <a:solidFill>
              <a:schemeClr val="accent1"/>
            </a:solidFill>
            <a:prstDash val="solid"/>
          </a:ln>
        </p:spPr>
      </p:sp>
      <p:sp>
        <p:nvSpPr>
          <p:cNvPr id="9" name="letra"/>
          <p:cNvSpPr txBox="1"/>
          <p:nvPr/>
        </p:nvSpPr>
        <p:spPr>
          <a:xfrm>
            <a:off x="6035040" y="138988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10" name="opcion"/>
          <p:cNvSpPr txBox="1"/>
          <p:nvPr/>
        </p:nvSpPr>
        <p:spPr>
          <a:xfrm>
            <a:off x="6583680" y="1371600"/>
            <a:ext cx="5059375" cy="886968"/>
          </a:xfrm>
          <a:prstGeom prst="rect">
            <a:avLst/>
          </a:prstGeom>
          <a:noFill/>
          <a:ln/>
        </p:spPr>
        <p:txBody>
          <a:bodyPr wrap="square" lIns="254" tIns="254" rIns="254" bIns="254" rtlCol="0" anchor="ctr"/>
          <a:lstStyle/>
          <a:p>
            <a:pPr indent="0" marL="0">
              <a:buNone/>
            </a:pPr>
            <a:r>
              <a:rPr lang="en-US" sz="1800" dirty="0">
                <a:solidFill>
                  <a:schemeClr val="tx1"/>
                </a:solidFill>
              </a:rPr>
              <a:t>Conviene confirmar con otra vía de eliminación de H₂O₂ (glutatión peroxidasa) antes de concluir.</a:t>
            </a:r>
            <a:endParaRPr lang="en-US" sz="1800" dirty="0"/>
          </a:p>
        </p:txBody>
      </p:sp>
      <p:sp>
        <p:nvSpPr>
          <p:cNvPr id="11" name="circulo"/>
          <p:cNvSpPr/>
          <p:nvPr/>
        </p:nvSpPr>
        <p:spPr>
          <a:xfrm>
            <a:off x="6035040" y="2368296"/>
            <a:ext cx="384048" cy="384048"/>
          </a:xfrm>
          <a:prstGeom prst="ellipse">
            <a:avLst/>
          </a:prstGeom>
          <a:solidFill>
            <a:schemeClr val="accent1"/>
          </a:solidFill>
          <a:ln w="12700">
            <a:solidFill>
              <a:schemeClr val="accent1"/>
            </a:solidFill>
            <a:prstDash val="solid"/>
          </a:ln>
        </p:spPr>
      </p:sp>
      <p:sp>
        <p:nvSpPr>
          <p:cNvPr id="12" name="letra"/>
          <p:cNvSpPr txBox="1"/>
          <p:nvPr/>
        </p:nvSpPr>
        <p:spPr>
          <a:xfrm>
            <a:off x="6035040" y="236829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3" name="opcion"/>
          <p:cNvSpPr txBox="1"/>
          <p:nvPr/>
        </p:nvSpPr>
        <p:spPr>
          <a:xfrm>
            <a:off x="6583680" y="2350008"/>
            <a:ext cx="5059375" cy="612648"/>
          </a:xfrm>
          <a:prstGeom prst="rect">
            <a:avLst/>
          </a:prstGeom>
          <a:noFill/>
          <a:ln/>
        </p:spPr>
        <p:txBody>
          <a:bodyPr wrap="square" lIns="254" tIns="254" rIns="254" bIns="254" rtlCol="0" anchor="ctr"/>
          <a:lstStyle/>
          <a:p>
            <a:pPr indent="0" marL="0">
              <a:buNone/>
            </a:pPr>
            <a:r>
              <a:rPr lang="en-US" sz="1800" dirty="0">
                <a:solidFill>
                  <a:schemeClr val="tx1"/>
                </a:solidFill>
              </a:rPr>
              <a:t>La TAC alta demuestra que la dieta alta en grasa es antioxidante.</a:t>
            </a:r>
            <a:endParaRPr lang="en-US" sz="1800" dirty="0"/>
          </a:p>
        </p:txBody>
      </p:sp>
      <p:sp>
        <p:nvSpPr>
          <p:cNvPr id="14" name="circulo"/>
          <p:cNvSpPr/>
          <p:nvPr/>
        </p:nvSpPr>
        <p:spPr>
          <a:xfrm>
            <a:off x="6035040" y="3072384"/>
            <a:ext cx="384048" cy="384048"/>
          </a:xfrm>
          <a:prstGeom prst="ellipse">
            <a:avLst/>
          </a:prstGeom>
          <a:solidFill>
            <a:schemeClr val="accent1"/>
          </a:solidFill>
          <a:ln w="12700">
            <a:solidFill>
              <a:schemeClr val="accent1"/>
            </a:solidFill>
            <a:prstDash val="solid"/>
          </a:ln>
        </p:spPr>
      </p:sp>
      <p:sp>
        <p:nvSpPr>
          <p:cNvPr id="15" name="letra"/>
          <p:cNvSpPr txBox="1"/>
          <p:nvPr/>
        </p:nvSpPr>
        <p:spPr>
          <a:xfrm>
            <a:off x="6035040" y="307238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6" name="opcion"/>
          <p:cNvSpPr txBox="1"/>
          <p:nvPr/>
        </p:nvSpPr>
        <p:spPr>
          <a:xfrm>
            <a:off x="6583680" y="3054096"/>
            <a:ext cx="5059375" cy="886968"/>
          </a:xfrm>
          <a:prstGeom prst="rect">
            <a:avLst/>
          </a:prstGeom>
          <a:noFill/>
          <a:ln/>
        </p:spPr>
        <p:txBody>
          <a:bodyPr wrap="square" lIns="254" tIns="254" rIns="254" bIns="254" rtlCol="0" anchor="ctr"/>
          <a:lstStyle/>
          <a:p>
            <a:pPr indent="0" marL="0">
              <a:buNone/>
            </a:pPr>
            <a:r>
              <a:rPr lang="en-US" sz="1800" dirty="0">
                <a:solidFill>
                  <a:schemeClr val="tx1"/>
                </a:solidFill>
              </a:rPr>
              <a:t>El aumento de TAC sérica no indica menos estrés oxidativo: el ácido úrico aporta buena parte de la TAC plasmática.</a:t>
            </a:r>
            <a:endParaRPr lang="en-US" sz="1800" dirty="0"/>
          </a:p>
        </p:txBody>
      </p:sp>
      <p:sp>
        <p:nvSpPr>
          <p:cNvPr id="17" name="circulo"/>
          <p:cNvSpPr/>
          <p:nvPr/>
        </p:nvSpPr>
        <p:spPr>
          <a:xfrm>
            <a:off x="6035040" y="4050792"/>
            <a:ext cx="384048" cy="384048"/>
          </a:xfrm>
          <a:prstGeom prst="ellipse">
            <a:avLst/>
          </a:prstGeom>
          <a:solidFill>
            <a:schemeClr val="accent1"/>
          </a:solidFill>
          <a:ln w="12700">
            <a:solidFill>
              <a:schemeClr val="accent1"/>
            </a:solidFill>
            <a:prstDash val="solid"/>
          </a:ln>
        </p:spPr>
      </p:sp>
      <p:sp>
        <p:nvSpPr>
          <p:cNvPr id="18" name="letra"/>
          <p:cNvSpPr txBox="1"/>
          <p:nvPr/>
        </p:nvSpPr>
        <p:spPr>
          <a:xfrm>
            <a:off x="6035040" y="40507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9" name="opcion"/>
          <p:cNvSpPr txBox="1"/>
          <p:nvPr/>
        </p:nvSpPr>
        <p:spPr>
          <a:xfrm>
            <a:off x="6583680" y="4032504"/>
            <a:ext cx="5059375" cy="886968"/>
          </a:xfrm>
          <a:prstGeom prst="rect">
            <a:avLst/>
          </a:prstGeom>
          <a:noFill/>
          <a:ln/>
        </p:spPr>
        <p:txBody>
          <a:bodyPr wrap="square" lIns="254" tIns="254" rIns="254" bIns="254" rtlCol="0" anchor="ctr"/>
          <a:lstStyle/>
          <a:p>
            <a:pPr indent="0" marL="0">
              <a:buNone/>
            </a:pPr>
            <a:r>
              <a:rPr lang="en-US" sz="1800" dirty="0">
                <a:solidFill>
                  <a:schemeClr val="tx1"/>
                </a:solidFill>
              </a:rPr>
              <a:t>Se produce más H₂O₂ del que se elimina; el H₂O₂ acumulado puede generar radical hidroxilo por Fenton, coherente con el aumento de TBARS.</a:t>
            </a:r>
            <a:endParaRPr lang="en-US" sz="1800" dirty="0"/>
          </a:p>
        </p:txBody>
      </p:sp>
      <p:sp>
        <p:nvSpPr>
          <p:cNvPr id="20" name="circulo"/>
          <p:cNvSpPr/>
          <p:nvPr/>
        </p:nvSpPr>
        <p:spPr>
          <a:xfrm>
            <a:off x="6035040" y="5029200"/>
            <a:ext cx="384048" cy="384048"/>
          </a:xfrm>
          <a:prstGeom prst="ellipse">
            <a:avLst/>
          </a:prstGeom>
          <a:solidFill>
            <a:schemeClr val="accent1"/>
          </a:solidFill>
          <a:ln w="12700">
            <a:solidFill>
              <a:schemeClr val="accent1"/>
            </a:solidFill>
            <a:prstDash val="solid"/>
          </a:ln>
        </p:spPr>
      </p:sp>
      <p:sp>
        <p:nvSpPr>
          <p:cNvPr id="21" name="letra"/>
          <p:cNvSpPr txBox="1"/>
          <p:nvPr/>
        </p:nvSpPr>
        <p:spPr>
          <a:xfrm>
            <a:off x="6035040" y="50292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E</a:t>
            </a:r>
            <a:endParaRPr lang="en-US" sz="1600" dirty="0"/>
          </a:p>
        </p:txBody>
      </p:sp>
      <p:sp>
        <p:nvSpPr>
          <p:cNvPr id="22" name="opcion"/>
          <p:cNvSpPr txBox="1"/>
          <p:nvPr/>
        </p:nvSpPr>
        <p:spPr>
          <a:xfrm>
            <a:off x="6583680" y="5010912"/>
            <a:ext cx="5059375" cy="612648"/>
          </a:xfrm>
          <a:prstGeom prst="rect">
            <a:avLst/>
          </a:prstGeom>
          <a:noFill/>
          <a:ln/>
        </p:spPr>
        <p:txBody>
          <a:bodyPr wrap="square" lIns="254" tIns="254" rIns="254" bIns="254" rtlCol="0" anchor="ctr"/>
          <a:lstStyle/>
          <a:p>
            <a:pPr indent="0" marL="0">
              <a:buNone/>
            </a:pPr>
            <a:r>
              <a:rPr lang="en-US" sz="1800" dirty="0">
                <a:solidFill>
                  <a:schemeClr val="tx1"/>
                </a:solidFill>
              </a:rPr>
              <a:t>Más SOD significa que el estado antioxidante mejoró.</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B4-10 · Leer los ensayos en conjunto</a:t>
            </a:r>
            <a:endParaRPr lang="en-US" sz="3000" dirty="0"/>
          </a:p>
        </p:txBody>
      </p:sp>
      <p:sp>
        <p:nvSpPr>
          <p:cNvPr id="3" name="etiqueta"/>
          <p:cNvSpPr txBox="1"/>
          <p:nvPr/>
        </p:nvSpPr>
        <p:spPr>
          <a:xfrm>
            <a:off x="548640" y="201168"/>
            <a:ext cx="292608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Bloque 4 · Respuesta</a:t>
            </a:r>
            <a:endParaRPr lang="en-US" sz="1100" dirty="0"/>
          </a:p>
        </p:txBody>
      </p:sp>
      <p:sp>
        <p:nvSpPr>
          <p:cNvPr id="4" name="caja respuesta"/>
          <p:cNvSpPr/>
          <p:nvPr/>
        </p:nvSpPr>
        <p:spPr>
          <a:xfrm>
            <a:off x="548640" y="1371600"/>
            <a:ext cx="11094415" cy="1493520"/>
          </a:xfrm>
          <a:prstGeom prst="roundRect">
            <a:avLst>
              <a:gd name="adj" fmla="val 7347"/>
            </a:avLst>
          </a:prstGeom>
          <a:solidFill>
            <a:schemeClr val="bg1"/>
          </a:solidFill>
          <a:ln w="19050">
            <a:solidFill>
              <a:schemeClr val="accent1"/>
            </a:solidFill>
            <a:prstDash val="solid"/>
          </a:ln>
        </p:spPr>
      </p:sp>
      <p:sp>
        <p:nvSpPr>
          <p:cNvPr id="5" name="circulo check"/>
          <p:cNvSpPr/>
          <p:nvPr/>
        </p:nvSpPr>
        <p:spPr>
          <a:xfrm>
            <a:off x="749808" y="1554480"/>
            <a:ext cx="457200" cy="457200"/>
          </a:xfrm>
          <a:prstGeom prst="ellipse">
            <a:avLst/>
          </a:prstGeom>
          <a:solidFill>
            <a:schemeClr val="accent1"/>
          </a:solidFill>
          <a:ln w="12700">
            <a:solidFill>
              <a:schemeClr val="accent1"/>
            </a:solidFill>
            <a:prstDash val="solid"/>
          </a:ln>
        </p:spPr>
      </p:sp>
      <p:pic>
        <p:nvPicPr>
          <p:cNvPr id="6" name="Image 0" descr="Respuesta correcta">    </p:cNvPr>
          <p:cNvPicPr>
            <a:picLocks noChangeAspect="1"/>
          </p:cNvPicPr>
          <p:nvPr/>
        </p:nvPicPr>
        <p:blipFill>
          <a:blip r:embed="rId1"/>
          <a:stretch>
            <a:fillRect/>
          </a:stretch>
        </p:blipFill>
        <p:spPr>
          <a:xfrm>
            <a:off x="859536" y="1664208"/>
            <a:ext cx="237744" cy="237744"/>
          </a:xfrm>
          <a:prstGeom prst="rect">
            <a:avLst/>
          </a:prstGeom>
        </p:spPr>
      </p:pic>
      <p:sp>
        <p:nvSpPr>
          <p:cNvPr id="7" name="respuesta"/>
          <p:cNvSpPr txBox="1"/>
          <p:nvPr/>
        </p:nvSpPr>
        <p:spPr>
          <a:xfrm>
            <a:off x="1371600" y="1444752"/>
            <a:ext cx="10180015" cy="1347216"/>
          </a:xfrm>
          <a:prstGeom prst="rect">
            <a:avLst/>
          </a:prstGeom>
          <a:noFill/>
          <a:ln/>
        </p:spPr>
        <p:txBody>
          <a:bodyPr wrap="square" lIns="254" tIns="254" rIns="254" bIns="254" rtlCol="0" anchor="ctr"/>
          <a:lstStyle/>
          <a:p>
            <a:pPr indent="0" marL="0">
              <a:buNone/>
            </a:pPr>
            <a:r>
              <a:rPr lang="en-US" sz="1600" b="1" dirty="0">
                <a:solidFill>
                  <a:schemeClr val="tx1"/>
                </a:solidFill>
              </a:rPr>
              <a:t>A)  </a:t>
            </a:r>
            <a:pPr indent="0" marL="0">
              <a:buNone/>
            </a:pPr>
            <a:r>
              <a:rPr lang="en-US" sz="1600" dirty="0">
                <a:solidFill>
                  <a:schemeClr val="tx1"/>
                </a:solidFill>
              </a:rPr>
              <a:t>Conviene confirmar con otra vía de eliminación de H₂O₂ (glutatión peroxidasa) antes de concluir.</a:t>
            </a:r>
            <a:endParaRPr lang="en-US" sz="1600" dirty="0"/>
          </a:p>
          <a:p>
            <a:pPr indent="0" marL="0">
              <a:buNone/>
            </a:pPr>
            <a:r>
              <a:rPr lang="en-US" sz="1600" b="1" dirty="0">
                <a:solidFill>
                  <a:schemeClr val="tx1"/>
                </a:solidFill>
              </a:rPr>
              <a:t>C)  </a:t>
            </a:r>
            <a:pPr indent="0" marL="0">
              <a:buNone/>
            </a:pPr>
            <a:r>
              <a:rPr lang="en-US" sz="1600" dirty="0">
                <a:solidFill>
                  <a:schemeClr val="tx1"/>
                </a:solidFill>
              </a:rPr>
              <a:t>El aumento de TAC sérica no indica menos estrés oxidativo: el ácido úrico aporta buena parte de la TAC plasmática.</a:t>
            </a:r>
            <a:endParaRPr lang="en-US" sz="1600" dirty="0"/>
          </a:p>
          <a:p>
            <a:pPr indent="0" marL="0">
              <a:buNone/>
            </a:pPr>
            <a:r>
              <a:rPr lang="en-US" sz="1600" b="1" dirty="0">
                <a:solidFill>
                  <a:schemeClr val="tx1"/>
                </a:solidFill>
              </a:rPr>
              <a:t>D)  </a:t>
            </a:r>
            <a:pPr indent="0" marL="0">
              <a:buNone/>
            </a:pPr>
            <a:r>
              <a:rPr lang="en-US" sz="1600" dirty="0">
                <a:solidFill>
                  <a:schemeClr val="tx1"/>
                </a:solidFill>
              </a:rPr>
              <a:t>Se produce más H₂O₂ del que se elimina; el H₂O₂ acumulado puede generar radical hidroxilo por Fenton, coherente con el aumento de TBARS.</a:t>
            </a:r>
            <a:endParaRPr lang="en-US" sz="1600" dirty="0"/>
          </a:p>
        </p:txBody>
      </p:sp>
      <p:sp>
        <p:nvSpPr>
          <p:cNvPr id="8" name="circulo icono"/>
          <p:cNvSpPr/>
          <p:nvPr/>
        </p:nvSpPr>
        <p:spPr>
          <a:xfrm>
            <a:off x="548640" y="3093720"/>
            <a:ext cx="329184" cy="329184"/>
          </a:xfrm>
          <a:prstGeom prst="ellipse">
            <a:avLst/>
          </a:prstGeom>
          <a:solidFill>
            <a:schemeClr val="accent4"/>
          </a:solidFill>
          <a:ln w="12700">
            <a:solidFill>
              <a:schemeClr val="accent4"/>
            </a:solidFill>
            <a:prstDash val="solid"/>
          </a:ln>
        </p:spPr>
      </p:sp>
      <p:pic>
        <p:nvPicPr>
          <p:cNvPr id="9" name="Image 1" descr="Explicación">    </p:cNvPr>
          <p:cNvPicPr>
            <a:picLocks noChangeAspect="1"/>
          </p:cNvPicPr>
          <p:nvPr/>
        </p:nvPicPr>
        <p:blipFill>
          <a:blip r:embed="rId2"/>
          <a:stretch>
            <a:fillRect/>
          </a:stretch>
        </p:blipFill>
        <p:spPr>
          <a:xfrm>
            <a:off x="630936" y="3176016"/>
            <a:ext cx="164592" cy="164592"/>
          </a:xfrm>
          <a:prstGeom prst="rect">
            <a:avLst/>
          </a:prstGeom>
        </p:spPr>
      </p:pic>
      <p:sp>
        <p:nvSpPr>
          <p:cNvPr id="10" name="subtitulo"/>
          <p:cNvSpPr txBox="1"/>
          <p:nvPr/>
        </p:nvSpPr>
        <p:spPr>
          <a:xfrm>
            <a:off x="987552" y="3093720"/>
            <a:ext cx="10655503" cy="329184"/>
          </a:xfrm>
          <a:prstGeom prst="rect">
            <a:avLst/>
          </a:prstGeom>
          <a:noFill/>
          <a:ln/>
        </p:spPr>
        <p:txBody>
          <a:bodyPr wrap="square" lIns="0" tIns="0" rIns="0" bIns="0" rtlCol="0" anchor="ctr"/>
          <a:lstStyle/>
          <a:p>
            <a:pPr indent="0" marL="0">
              <a:buNone/>
            </a:pPr>
            <a:r>
              <a:rPr lang="en-US" sz="1600" b="1" dirty="0">
                <a:solidFill>
                  <a:schemeClr val="tx2"/>
                </a:solidFill>
              </a:rPr>
              <a:t>Explicación</a:t>
            </a:r>
            <a:endParaRPr lang="en-US" sz="1600" dirty="0"/>
          </a:p>
        </p:txBody>
      </p:sp>
      <p:sp>
        <p:nvSpPr>
          <p:cNvPr id="11" name="texto"/>
          <p:cNvSpPr txBox="1"/>
          <p:nvPr/>
        </p:nvSpPr>
        <p:spPr>
          <a:xfrm>
            <a:off x="548640" y="3550920"/>
            <a:ext cx="11094415" cy="643128"/>
          </a:xfrm>
          <a:prstGeom prst="rect">
            <a:avLst/>
          </a:prstGeom>
          <a:noFill/>
          <a:ln/>
        </p:spPr>
        <p:txBody>
          <a:bodyPr wrap="square" lIns="254" tIns="254" rIns="254" bIns="254" rtlCol="0" anchor="t"/>
          <a:lstStyle/>
          <a:p>
            <a:pPr indent="0" marL="0">
              <a:buNone/>
            </a:pPr>
            <a:r>
              <a:rPr lang="en-US" sz="1900" b="1" dirty="0">
                <a:solidFill>
                  <a:schemeClr val="tx1"/>
                </a:solidFill>
              </a:rPr>
              <a:t>Por qué son correctas:</a:t>
            </a:r>
            <a:pPr indent="0" marL="0">
              <a:buNone/>
            </a:pPr>
            <a:r>
              <a:rPr lang="en-US" sz="1900" dirty="0">
                <a:solidFill>
                  <a:schemeClr val="tx1"/>
                </a:solidFill>
              </a:rPr>
              <a:t> SOD alta con catalasa baja es un desbalance: cambia una especie reactiva (O₂•⁻) por otra (H₂O₂) que no se elimina; las TBARS confirman daño lipídico.</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969264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Seis ideas que más se repiten en el examen</a:t>
            </a:r>
            <a:endParaRPr lang="en-US" sz="3000" dirty="0"/>
          </a:p>
        </p:txBody>
      </p:sp>
      <p:sp>
        <p:nvSpPr>
          <p:cNvPr id="3" name="tarjeta idea"/>
          <p:cNvSpPr/>
          <p:nvPr/>
        </p:nvSpPr>
        <p:spPr>
          <a:xfrm>
            <a:off x="548640" y="1463040"/>
            <a:ext cx="3454298" cy="2148840"/>
          </a:xfrm>
          <a:prstGeom prst="roundRect">
            <a:avLst>
              <a:gd name="adj" fmla="val 5106"/>
            </a:avLst>
          </a:prstGeom>
          <a:solidFill>
            <a:schemeClr val="bg2"/>
          </a:solidFill>
          <a:ln w="12700">
            <a:solidFill>
              <a:schemeClr val="bg2"/>
            </a:solidFill>
            <a:prstDash val="solid"/>
          </a:ln>
        </p:spPr>
      </p:sp>
      <p:sp>
        <p:nvSpPr>
          <p:cNvPr id="4" name="circulo"/>
          <p:cNvSpPr/>
          <p:nvPr/>
        </p:nvSpPr>
        <p:spPr>
          <a:xfrm>
            <a:off x="822960" y="1737360"/>
            <a:ext cx="457200" cy="457200"/>
          </a:xfrm>
          <a:prstGeom prst="ellipse">
            <a:avLst/>
          </a:prstGeom>
          <a:solidFill>
            <a:schemeClr val="accent1"/>
          </a:solidFill>
          <a:ln w="12700">
            <a:solidFill>
              <a:schemeClr val="accent1"/>
            </a:solidFill>
            <a:prstDash val="solid"/>
          </a:ln>
        </p:spPr>
      </p:sp>
      <p:sp>
        <p:nvSpPr>
          <p:cNvPr id="5" name="letra"/>
          <p:cNvSpPr txBox="1"/>
          <p:nvPr/>
        </p:nvSpPr>
        <p:spPr>
          <a:xfrm>
            <a:off x="822960"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idea titulo"/>
          <p:cNvSpPr txBox="1"/>
          <p:nvPr/>
        </p:nvSpPr>
        <p:spPr>
          <a:xfrm>
            <a:off x="822960" y="2331720"/>
            <a:ext cx="2905658" cy="411480"/>
          </a:xfrm>
          <a:prstGeom prst="rect">
            <a:avLst/>
          </a:prstGeom>
          <a:noFill/>
          <a:ln/>
        </p:spPr>
        <p:txBody>
          <a:bodyPr wrap="square" lIns="0" tIns="0" rIns="0" bIns="0" rtlCol="0" anchor="ctr"/>
          <a:lstStyle/>
          <a:p>
            <a:pPr indent="0" marL="0">
              <a:buNone/>
            </a:pPr>
            <a:r>
              <a:rPr lang="en-US" sz="1800" b="1" dirty="0">
                <a:solidFill>
                  <a:schemeClr val="tx2"/>
                </a:solidFill>
              </a:rPr>
              <a:t>Genotipo ≠ destino</a:t>
            </a:r>
            <a:endParaRPr lang="en-US" sz="1800" dirty="0"/>
          </a:p>
        </p:txBody>
      </p:sp>
      <p:sp>
        <p:nvSpPr>
          <p:cNvPr id="7" name="idea texto"/>
          <p:cNvSpPr txBox="1"/>
          <p:nvPr/>
        </p:nvSpPr>
        <p:spPr>
          <a:xfrm>
            <a:off x="822960" y="2743200"/>
            <a:ext cx="2905658" cy="777240"/>
          </a:xfrm>
          <a:prstGeom prst="rect">
            <a:avLst/>
          </a:prstGeom>
          <a:noFill/>
          <a:ln/>
        </p:spPr>
        <p:txBody>
          <a:bodyPr wrap="square" lIns="0" tIns="0" rIns="0" bIns="0" rtlCol="0" anchor="t"/>
          <a:lstStyle/>
          <a:p>
            <a:pPr indent="0" marL="0">
              <a:buNone/>
            </a:pPr>
            <a:r>
              <a:rPr lang="en-US" sz="1400" dirty="0">
                <a:solidFill>
                  <a:schemeClr val="tx1"/>
                </a:solidFill>
              </a:rPr>
              <a:t>Las variantes comunes cambian probabilidades; la dieta y el ambiente modulan su efecto.</a:t>
            </a:r>
            <a:endParaRPr lang="en-US" sz="1400" dirty="0"/>
          </a:p>
        </p:txBody>
      </p:sp>
      <p:sp>
        <p:nvSpPr>
          <p:cNvPr id="8" name="tarjeta idea"/>
          <p:cNvSpPr/>
          <p:nvPr/>
        </p:nvSpPr>
        <p:spPr>
          <a:xfrm>
            <a:off x="4368698" y="1463040"/>
            <a:ext cx="3454298" cy="2148840"/>
          </a:xfrm>
          <a:prstGeom prst="roundRect">
            <a:avLst>
              <a:gd name="adj" fmla="val 5106"/>
            </a:avLst>
          </a:prstGeom>
          <a:solidFill>
            <a:schemeClr val="bg2"/>
          </a:solidFill>
          <a:ln w="12700">
            <a:solidFill>
              <a:schemeClr val="bg2"/>
            </a:solidFill>
            <a:prstDash val="solid"/>
          </a:ln>
        </p:spPr>
      </p:sp>
      <p:sp>
        <p:nvSpPr>
          <p:cNvPr id="9" name="circulo"/>
          <p:cNvSpPr/>
          <p:nvPr/>
        </p:nvSpPr>
        <p:spPr>
          <a:xfrm>
            <a:off x="4643018" y="1737360"/>
            <a:ext cx="457200" cy="457200"/>
          </a:xfrm>
          <a:prstGeom prst="ellipse">
            <a:avLst/>
          </a:prstGeom>
          <a:solidFill>
            <a:schemeClr val="accent1"/>
          </a:solidFill>
          <a:ln w="12700">
            <a:solidFill>
              <a:schemeClr val="accent1"/>
            </a:solidFill>
            <a:prstDash val="solid"/>
          </a:ln>
        </p:spPr>
      </p:sp>
      <p:sp>
        <p:nvSpPr>
          <p:cNvPr id="10" name="letra"/>
          <p:cNvSpPr txBox="1"/>
          <p:nvPr/>
        </p:nvSpPr>
        <p:spPr>
          <a:xfrm>
            <a:off x="4643018"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idea titulo"/>
          <p:cNvSpPr txBox="1"/>
          <p:nvPr/>
        </p:nvSpPr>
        <p:spPr>
          <a:xfrm>
            <a:off x="4643018" y="2331720"/>
            <a:ext cx="2905658" cy="411480"/>
          </a:xfrm>
          <a:prstGeom prst="rect">
            <a:avLst/>
          </a:prstGeom>
          <a:noFill/>
          <a:ln/>
        </p:spPr>
        <p:txBody>
          <a:bodyPr wrap="square" lIns="0" tIns="0" rIns="0" bIns="0" rtlCol="0" anchor="ctr"/>
          <a:lstStyle/>
          <a:p>
            <a:pPr indent="0" marL="0">
              <a:buNone/>
            </a:pPr>
            <a:r>
              <a:rPr lang="en-US" sz="1800" b="1" dirty="0">
                <a:solidFill>
                  <a:schemeClr val="tx2"/>
                </a:solidFill>
              </a:rPr>
              <a:t>Gen asignado ≠ gen efector</a:t>
            </a:r>
            <a:endParaRPr lang="en-US" sz="1800" dirty="0"/>
          </a:p>
        </p:txBody>
      </p:sp>
      <p:sp>
        <p:nvSpPr>
          <p:cNvPr id="12" name="idea texto"/>
          <p:cNvSpPr txBox="1"/>
          <p:nvPr/>
        </p:nvSpPr>
        <p:spPr>
          <a:xfrm>
            <a:off x="4643018" y="2743200"/>
            <a:ext cx="2905658" cy="777240"/>
          </a:xfrm>
          <a:prstGeom prst="rect">
            <a:avLst/>
          </a:prstGeom>
          <a:noFill/>
          <a:ln/>
        </p:spPr>
        <p:txBody>
          <a:bodyPr wrap="square" lIns="0" tIns="0" rIns="0" bIns="0" rtlCol="0" anchor="t"/>
          <a:lstStyle/>
          <a:p>
            <a:pPr indent="0" marL="0">
              <a:buNone/>
            </a:pPr>
            <a:r>
              <a:rPr lang="en-US" sz="1400" dirty="0">
                <a:solidFill>
                  <a:schemeClr val="tx1"/>
                </a:solidFill>
              </a:rPr>
              <a:t>−13910 está en MCM6 pero regula LCT: lee el mecanismo, no solo la etiqueta.</a:t>
            </a:r>
            <a:endParaRPr lang="en-US" sz="1400" dirty="0"/>
          </a:p>
        </p:txBody>
      </p:sp>
      <p:sp>
        <p:nvSpPr>
          <p:cNvPr id="13" name="tarjeta idea"/>
          <p:cNvSpPr/>
          <p:nvPr/>
        </p:nvSpPr>
        <p:spPr>
          <a:xfrm>
            <a:off x="8188757" y="1463040"/>
            <a:ext cx="3454298" cy="2148840"/>
          </a:xfrm>
          <a:prstGeom prst="roundRect">
            <a:avLst>
              <a:gd name="adj" fmla="val 5106"/>
            </a:avLst>
          </a:prstGeom>
          <a:solidFill>
            <a:schemeClr val="bg2"/>
          </a:solidFill>
          <a:ln w="12700">
            <a:solidFill>
              <a:schemeClr val="bg2"/>
            </a:solidFill>
            <a:prstDash val="solid"/>
          </a:ln>
        </p:spPr>
      </p:sp>
      <p:sp>
        <p:nvSpPr>
          <p:cNvPr id="14" name="circulo"/>
          <p:cNvSpPr/>
          <p:nvPr/>
        </p:nvSpPr>
        <p:spPr>
          <a:xfrm>
            <a:off x="8463077" y="1737360"/>
            <a:ext cx="457200" cy="457200"/>
          </a:xfrm>
          <a:prstGeom prst="ellipse">
            <a:avLst/>
          </a:prstGeom>
          <a:solidFill>
            <a:schemeClr val="accent1"/>
          </a:solidFill>
          <a:ln w="12700">
            <a:solidFill>
              <a:schemeClr val="accent1"/>
            </a:solidFill>
            <a:prstDash val="solid"/>
          </a:ln>
        </p:spPr>
      </p:sp>
      <p:sp>
        <p:nvSpPr>
          <p:cNvPr id="15" name="letra"/>
          <p:cNvSpPr txBox="1"/>
          <p:nvPr/>
        </p:nvSpPr>
        <p:spPr>
          <a:xfrm>
            <a:off x="8463077"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idea titulo"/>
          <p:cNvSpPr txBox="1"/>
          <p:nvPr/>
        </p:nvSpPr>
        <p:spPr>
          <a:xfrm>
            <a:off x="8463077" y="2331720"/>
            <a:ext cx="2905658" cy="411480"/>
          </a:xfrm>
          <a:prstGeom prst="rect">
            <a:avLst/>
          </a:prstGeom>
          <a:noFill/>
          <a:ln/>
        </p:spPr>
        <p:txBody>
          <a:bodyPr wrap="square" lIns="0" tIns="0" rIns="0" bIns="0" rtlCol="0" anchor="ctr"/>
          <a:lstStyle/>
          <a:p>
            <a:pPr indent="0" marL="0">
              <a:buNone/>
            </a:pPr>
            <a:r>
              <a:rPr lang="en-US" sz="1800" b="1" dirty="0">
                <a:solidFill>
                  <a:schemeClr val="tx2"/>
                </a:solidFill>
              </a:rPr>
              <a:t>Asociación ≠ causalidad</a:t>
            </a:r>
            <a:endParaRPr lang="en-US" sz="1800" dirty="0"/>
          </a:p>
        </p:txBody>
      </p:sp>
      <p:sp>
        <p:nvSpPr>
          <p:cNvPr id="17" name="idea texto"/>
          <p:cNvSpPr txBox="1"/>
          <p:nvPr/>
        </p:nvSpPr>
        <p:spPr>
          <a:xfrm>
            <a:off x="8463077" y="2743200"/>
            <a:ext cx="2905658" cy="777240"/>
          </a:xfrm>
          <a:prstGeom prst="rect">
            <a:avLst/>
          </a:prstGeom>
          <a:noFill/>
          <a:ln/>
        </p:spPr>
        <p:txBody>
          <a:bodyPr wrap="square" lIns="0" tIns="0" rIns="0" bIns="0" rtlCol="0" anchor="t"/>
          <a:lstStyle/>
          <a:p>
            <a:pPr indent="0" marL="0">
              <a:buNone/>
            </a:pPr>
            <a:r>
              <a:rPr lang="en-US" sz="1400" dirty="0">
                <a:solidFill>
                  <a:schemeClr val="tx1"/>
                </a:solidFill>
              </a:rPr>
              <a:t>Un p de GWAS diminuto indica certeza estadística, no un efecto grande.</a:t>
            </a:r>
            <a:endParaRPr lang="en-US" sz="1400" dirty="0"/>
          </a:p>
        </p:txBody>
      </p:sp>
      <p:sp>
        <p:nvSpPr>
          <p:cNvPr id="18" name="tarjeta idea"/>
          <p:cNvSpPr/>
          <p:nvPr/>
        </p:nvSpPr>
        <p:spPr>
          <a:xfrm>
            <a:off x="548640" y="3931920"/>
            <a:ext cx="3454298" cy="2148840"/>
          </a:xfrm>
          <a:prstGeom prst="roundRect">
            <a:avLst>
              <a:gd name="adj" fmla="val 5106"/>
            </a:avLst>
          </a:prstGeom>
          <a:solidFill>
            <a:schemeClr val="bg2"/>
          </a:solidFill>
          <a:ln w="12700">
            <a:solidFill>
              <a:schemeClr val="bg2"/>
            </a:solidFill>
            <a:prstDash val="solid"/>
          </a:ln>
        </p:spPr>
      </p:sp>
      <p:sp>
        <p:nvSpPr>
          <p:cNvPr id="19" name="circulo"/>
          <p:cNvSpPr/>
          <p:nvPr/>
        </p:nvSpPr>
        <p:spPr>
          <a:xfrm>
            <a:off x="822960" y="4206240"/>
            <a:ext cx="457200" cy="457200"/>
          </a:xfrm>
          <a:prstGeom prst="ellipse">
            <a:avLst/>
          </a:prstGeom>
          <a:solidFill>
            <a:schemeClr val="accent1"/>
          </a:solidFill>
          <a:ln w="12700">
            <a:solidFill>
              <a:schemeClr val="accent1"/>
            </a:solidFill>
            <a:prstDash val="solid"/>
          </a:ln>
        </p:spPr>
      </p:sp>
      <p:sp>
        <p:nvSpPr>
          <p:cNvPr id="20" name="letra"/>
          <p:cNvSpPr txBox="1"/>
          <p:nvPr/>
        </p:nvSpPr>
        <p:spPr>
          <a:xfrm>
            <a:off x="822960" y="4206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idea titulo"/>
          <p:cNvSpPr txBox="1"/>
          <p:nvPr/>
        </p:nvSpPr>
        <p:spPr>
          <a:xfrm>
            <a:off x="822960" y="4800600"/>
            <a:ext cx="2905658" cy="411480"/>
          </a:xfrm>
          <a:prstGeom prst="rect">
            <a:avLst/>
          </a:prstGeom>
          <a:noFill/>
          <a:ln/>
        </p:spPr>
        <p:txBody>
          <a:bodyPr wrap="square" lIns="0" tIns="0" rIns="0" bIns="0" rtlCol="0" anchor="ctr"/>
          <a:lstStyle/>
          <a:p>
            <a:pPr indent="0" marL="0">
              <a:buNone/>
            </a:pPr>
            <a:r>
              <a:rPr lang="en-US" sz="1800" b="1" dirty="0">
                <a:solidFill>
                  <a:schemeClr val="tx2"/>
                </a:solidFill>
              </a:rPr>
              <a:t>Resta siempre el blanco</a:t>
            </a:r>
            <a:endParaRPr lang="en-US" sz="1800" dirty="0"/>
          </a:p>
        </p:txBody>
      </p:sp>
      <p:sp>
        <p:nvSpPr>
          <p:cNvPr id="22" name="idea texto"/>
          <p:cNvSpPr txBox="1"/>
          <p:nvPr/>
        </p:nvSpPr>
        <p:spPr>
          <a:xfrm>
            <a:off x="822960" y="5212080"/>
            <a:ext cx="2905658" cy="777240"/>
          </a:xfrm>
          <a:prstGeom prst="rect">
            <a:avLst/>
          </a:prstGeom>
          <a:noFill/>
          <a:ln/>
        </p:spPr>
        <p:txBody>
          <a:bodyPr wrap="square" lIns="0" tIns="0" rIns="0" bIns="0" rtlCol="0" anchor="t"/>
          <a:lstStyle/>
          <a:p>
            <a:pPr indent="0" marL="0">
              <a:buNone/>
            </a:pPr>
            <a:r>
              <a:rPr lang="en-US" sz="1400" dirty="0">
                <a:solidFill>
                  <a:schemeClr val="tx1"/>
                </a:solidFill>
              </a:rPr>
              <a:t>Los pigmentos absorben cerca de 517 nm y falsean la inhibición y la IC₅₀.</a:t>
            </a:r>
            <a:endParaRPr lang="en-US" sz="1400" dirty="0"/>
          </a:p>
        </p:txBody>
      </p:sp>
      <p:sp>
        <p:nvSpPr>
          <p:cNvPr id="23" name="tarjeta idea"/>
          <p:cNvSpPr/>
          <p:nvPr/>
        </p:nvSpPr>
        <p:spPr>
          <a:xfrm>
            <a:off x="4368698" y="3931920"/>
            <a:ext cx="3454298" cy="2148840"/>
          </a:xfrm>
          <a:prstGeom prst="roundRect">
            <a:avLst>
              <a:gd name="adj" fmla="val 5106"/>
            </a:avLst>
          </a:prstGeom>
          <a:solidFill>
            <a:schemeClr val="bg2"/>
          </a:solidFill>
          <a:ln w="12700">
            <a:solidFill>
              <a:schemeClr val="bg2"/>
            </a:solidFill>
            <a:prstDash val="solid"/>
          </a:ln>
        </p:spPr>
      </p:sp>
      <p:sp>
        <p:nvSpPr>
          <p:cNvPr id="24" name="circulo"/>
          <p:cNvSpPr/>
          <p:nvPr/>
        </p:nvSpPr>
        <p:spPr>
          <a:xfrm>
            <a:off x="4643018" y="4206240"/>
            <a:ext cx="457200" cy="457200"/>
          </a:xfrm>
          <a:prstGeom prst="ellipse">
            <a:avLst/>
          </a:prstGeom>
          <a:solidFill>
            <a:schemeClr val="accent1"/>
          </a:solidFill>
          <a:ln w="12700">
            <a:solidFill>
              <a:schemeClr val="accent1"/>
            </a:solidFill>
            <a:prstDash val="solid"/>
          </a:ln>
        </p:spPr>
      </p:sp>
      <p:sp>
        <p:nvSpPr>
          <p:cNvPr id="25" name="letra"/>
          <p:cNvSpPr txBox="1"/>
          <p:nvPr/>
        </p:nvSpPr>
        <p:spPr>
          <a:xfrm>
            <a:off x="4643018" y="4206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idea titulo"/>
          <p:cNvSpPr txBox="1"/>
          <p:nvPr/>
        </p:nvSpPr>
        <p:spPr>
          <a:xfrm>
            <a:off x="4643018" y="4800600"/>
            <a:ext cx="2905658" cy="411480"/>
          </a:xfrm>
          <a:prstGeom prst="rect">
            <a:avLst/>
          </a:prstGeom>
          <a:noFill/>
          <a:ln/>
        </p:spPr>
        <p:txBody>
          <a:bodyPr wrap="square" lIns="0" tIns="0" rIns="0" bIns="0" rtlCol="0" anchor="ctr"/>
          <a:lstStyle/>
          <a:p>
            <a:pPr indent="0" marL="0">
              <a:buNone/>
            </a:pPr>
            <a:r>
              <a:rPr lang="en-US" sz="1800" b="1" dirty="0">
                <a:solidFill>
                  <a:schemeClr val="tx2"/>
                </a:solidFill>
              </a:rPr>
              <a:t>Menor IC₅₀ = más potencia</a:t>
            </a:r>
            <a:endParaRPr lang="en-US" sz="1800" dirty="0"/>
          </a:p>
        </p:txBody>
      </p:sp>
      <p:sp>
        <p:nvSpPr>
          <p:cNvPr id="27" name="idea texto"/>
          <p:cNvSpPr txBox="1"/>
          <p:nvPr/>
        </p:nvSpPr>
        <p:spPr>
          <a:xfrm>
            <a:off x="4643018" y="5212080"/>
            <a:ext cx="2905658" cy="777240"/>
          </a:xfrm>
          <a:prstGeom prst="rect">
            <a:avLst/>
          </a:prstGeom>
          <a:noFill/>
          <a:ln/>
        </p:spPr>
        <p:txBody>
          <a:bodyPr wrap="square" lIns="0" tIns="0" rIns="0" bIns="0" rtlCol="0" anchor="t"/>
          <a:lstStyle/>
          <a:p>
            <a:pPr indent="0" marL="0">
              <a:buNone/>
            </a:pPr>
            <a:r>
              <a:rPr lang="en-US" sz="1400" dirty="0">
                <a:solidFill>
                  <a:schemeClr val="tx1"/>
                </a:solidFill>
              </a:rPr>
              <a:t>Es una concentración: cuanto menos extracto se necesita, más activo es.</a:t>
            </a:r>
            <a:endParaRPr lang="en-US" sz="1400" dirty="0"/>
          </a:p>
        </p:txBody>
      </p:sp>
      <p:sp>
        <p:nvSpPr>
          <p:cNvPr id="28" name="tarjeta idea"/>
          <p:cNvSpPr/>
          <p:nvPr/>
        </p:nvSpPr>
        <p:spPr>
          <a:xfrm>
            <a:off x="8188757" y="3931920"/>
            <a:ext cx="3454298" cy="2148840"/>
          </a:xfrm>
          <a:prstGeom prst="roundRect">
            <a:avLst>
              <a:gd name="adj" fmla="val 5106"/>
            </a:avLst>
          </a:prstGeom>
          <a:solidFill>
            <a:schemeClr val="bg2"/>
          </a:solidFill>
          <a:ln w="12700">
            <a:solidFill>
              <a:schemeClr val="bg2"/>
            </a:solidFill>
            <a:prstDash val="solid"/>
          </a:ln>
        </p:spPr>
      </p:sp>
      <p:sp>
        <p:nvSpPr>
          <p:cNvPr id="29" name="circulo"/>
          <p:cNvSpPr/>
          <p:nvPr/>
        </p:nvSpPr>
        <p:spPr>
          <a:xfrm>
            <a:off x="8463077" y="4206240"/>
            <a:ext cx="457200" cy="457200"/>
          </a:xfrm>
          <a:prstGeom prst="ellipse">
            <a:avLst/>
          </a:prstGeom>
          <a:solidFill>
            <a:schemeClr val="accent1"/>
          </a:solidFill>
          <a:ln w="12700">
            <a:solidFill>
              <a:schemeClr val="accent1"/>
            </a:solidFill>
            <a:prstDash val="solid"/>
          </a:ln>
        </p:spPr>
      </p:sp>
      <p:sp>
        <p:nvSpPr>
          <p:cNvPr id="30" name="letra"/>
          <p:cNvSpPr txBox="1"/>
          <p:nvPr/>
        </p:nvSpPr>
        <p:spPr>
          <a:xfrm>
            <a:off x="8463077" y="4206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idea titulo"/>
          <p:cNvSpPr txBox="1"/>
          <p:nvPr/>
        </p:nvSpPr>
        <p:spPr>
          <a:xfrm>
            <a:off x="8463077" y="4800600"/>
            <a:ext cx="2905658" cy="411480"/>
          </a:xfrm>
          <a:prstGeom prst="rect">
            <a:avLst/>
          </a:prstGeom>
          <a:noFill/>
          <a:ln/>
        </p:spPr>
        <p:txBody>
          <a:bodyPr wrap="square" lIns="0" tIns="0" rIns="0" bIns="0" rtlCol="0" anchor="ctr"/>
          <a:lstStyle/>
          <a:p>
            <a:pPr indent="0" marL="0">
              <a:buNone/>
            </a:pPr>
            <a:r>
              <a:rPr lang="en-US" sz="1800" b="1" dirty="0">
                <a:solidFill>
                  <a:schemeClr val="tx2"/>
                </a:solidFill>
              </a:rPr>
              <a:t>Más enzima ≠ más salud</a:t>
            </a:r>
            <a:endParaRPr lang="en-US" sz="1800" dirty="0"/>
          </a:p>
        </p:txBody>
      </p:sp>
      <p:sp>
        <p:nvSpPr>
          <p:cNvPr id="32" name="idea texto"/>
          <p:cNvSpPr txBox="1"/>
          <p:nvPr/>
        </p:nvSpPr>
        <p:spPr>
          <a:xfrm>
            <a:off x="8463077" y="5212080"/>
            <a:ext cx="2905658" cy="777240"/>
          </a:xfrm>
          <a:prstGeom prst="rect">
            <a:avLst/>
          </a:prstGeom>
          <a:noFill/>
          <a:ln/>
        </p:spPr>
        <p:txBody>
          <a:bodyPr wrap="square" lIns="0" tIns="0" rIns="0" bIns="0" rtlCol="0" anchor="t"/>
          <a:lstStyle/>
          <a:p>
            <a:pPr indent="0" marL="0">
              <a:buNone/>
            </a:pPr>
            <a:r>
              <a:rPr lang="en-US" sz="1400" dirty="0">
                <a:solidFill>
                  <a:schemeClr val="tx1"/>
                </a:solidFill>
              </a:rPr>
              <a:t>SOD alta con catalasa baja acumula H₂O₂; integra todos los ensayos.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94</a:t>
            </a:fld>
            <a:endParaRPr lang="en-US"/>
          </a:p>
        </p:txBody>
      </p:sp>
    </p:spTree>
  </p:cSld>
  <p:clrMapOvr>
    <a:masterClrMapping/>
  </p:clrMapOvr>
</p:sld>
</file>

<file path=ppt/theme/theme1.xml><?xml version="1.0" encoding="utf-8"?>
<a:theme xmlns:a="http://schemas.openxmlformats.org/drawingml/2006/main" name="Genoma a la Clinica">
  <a:themeElements>
    <a:clrScheme name="Genoma a la Clinica">
      <a:dk1>
        <a:srgbClr val="1B2B34"/>
      </a:dk1>
      <a:lt1>
        <a:srgbClr val="FFFFFF"/>
      </a:lt1>
      <a:dk2>
        <a:srgbClr val="0B3C49"/>
      </a:dk2>
      <a:lt2>
        <a:srgbClr val="EEF4F3"/>
      </a:lt2>
      <a:accent1>
        <a:srgbClr val="2A9D8F"/>
      </a:accent1>
      <a:accent2>
        <a:srgbClr val="E76F51"/>
      </a:accent2>
      <a:accent3>
        <a:srgbClr val="E9C46A"/>
      </a:accent3>
      <a:accent4>
        <a:srgbClr val="264653"/>
      </a:accent4>
      <a:accent5>
        <a:srgbClr val="8AB17D"/>
      </a:accent5>
      <a:accent6>
        <a:srgbClr val="6C757D"/>
      </a:accent6>
      <a:hlink>
        <a:srgbClr val="2A9D8F"/>
      </a:hlink>
      <a:folHlink>
        <a:srgbClr val="264653"/>
      </a:folHlink>
    </a:clrScheme>
    <a:fontScheme name="Genoma a la Clinic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94</Slides>
  <Notes>94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94</vt:i4>
      </vt:variant>
    </vt:vector>
  </HeadingPairs>
  <TitlesOfParts>
    <vt:vector size="9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Preexamen · Del Genoma Crudo a la Clínica (Nutrición Molecular)</dc:title>
  <dc:subject>PptxGenJS Presentation</dc:subject>
  <dc:creator>Nutrición Molecular</dc:creator>
  <cp:lastModifiedBy>Nutrición Molecular</cp:lastModifiedBy>
  <cp:revision>1</cp:revision>
  <dcterms:created xsi:type="dcterms:W3CDTF">2026-10-28T00:07:12Z</dcterms:created>
  <dcterms:modified xsi:type="dcterms:W3CDTF">2026-10-28T00:07:12Z</dcterms:modified>
</cp:coreProperties>
</file>